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handoutMasterIdLst>
    <p:handoutMasterId r:id="rId42"/>
  </p:handoutMasterIdLst>
  <p:sldIdLst>
    <p:sldId id="272" r:id="rId2"/>
    <p:sldId id="256" r:id="rId3"/>
    <p:sldId id="488" r:id="rId4"/>
    <p:sldId id="489" r:id="rId5"/>
    <p:sldId id="502" r:id="rId6"/>
    <p:sldId id="450" r:id="rId7"/>
    <p:sldId id="554" r:id="rId8"/>
    <p:sldId id="521" r:id="rId9"/>
    <p:sldId id="590" r:id="rId10"/>
    <p:sldId id="589" r:id="rId11"/>
    <p:sldId id="550" r:id="rId12"/>
    <p:sldId id="398" r:id="rId13"/>
    <p:sldId id="490" r:id="rId14"/>
    <p:sldId id="491" r:id="rId15"/>
    <p:sldId id="364" r:id="rId16"/>
    <p:sldId id="587" r:id="rId17"/>
    <p:sldId id="588" r:id="rId18"/>
    <p:sldId id="537" r:id="rId19"/>
    <p:sldId id="536" r:id="rId20"/>
    <p:sldId id="518" r:id="rId21"/>
    <p:sldId id="581" r:id="rId22"/>
    <p:sldId id="582" r:id="rId23"/>
    <p:sldId id="583" r:id="rId24"/>
    <p:sldId id="539" r:id="rId25"/>
    <p:sldId id="591" r:id="rId26"/>
    <p:sldId id="592" r:id="rId27"/>
    <p:sldId id="593" r:id="rId28"/>
    <p:sldId id="623" r:id="rId29"/>
    <p:sldId id="501" r:id="rId30"/>
    <p:sldId id="584" r:id="rId31"/>
    <p:sldId id="585" r:id="rId32"/>
    <p:sldId id="586" r:id="rId33"/>
    <p:sldId id="574" r:id="rId34"/>
    <p:sldId id="575" r:id="rId35"/>
    <p:sldId id="551" r:id="rId36"/>
    <p:sldId id="549" r:id="rId37"/>
    <p:sldId id="362" r:id="rId38"/>
    <p:sldId id="556" r:id="rId39"/>
    <p:sldId id="377" r:id="rId40"/>
  </p:sldIdLst>
  <p:sldSz cx="12192000" cy="6858000"/>
  <p:notesSz cx="6858000" cy="9947275"/>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59" userDrawn="1">
          <p15:clr>
            <a:srgbClr val="A4A3A4"/>
          </p15:clr>
        </p15:guide>
        <p15:guide id="2" pos="37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000000"/>
    <a:srgbClr val="FFFF00"/>
    <a:srgbClr val="33CC33"/>
    <a:srgbClr val="365A9C"/>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4660"/>
  </p:normalViewPr>
  <p:slideViewPr>
    <p:cSldViewPr snapToGrid="0" showGuides="1">
      <p:cViewPr varScale="1">
        <p:scale>
          <a:sx n="87" d="100"/>
          <a:sy n="87" d="100"/>
        </p:scale>
        <p:origin x="-533" y="-86"/>
      </p:cViewPr>
      <p:guideLst>
        <p:guide orient="horz" pos="2159"/>
        <p:guide pos="3796"/>
      </p:guideLst>
    </p:cSldViewPr>
  </p:slideViewPr>
  <p:notesTextViewPr>
    <p:cViewPr>
      <p:scale>
        <a:sx n="1" d="1"/>
        <a:sy n="1" d="1"/>
      </p:scale>
      <p:origin x="0" y="0"/>
    </p:cViewPr>
  </p:notesTextViewPr>
  <p:sorterViewPr>
    <p:cViewPr>
      <p:scale>
        <a:sx n="100" d="100"/>
        <a:sy n="100" d="100"/>
      </p:scale>
      <p:origin x="0" y="3859"/>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364"/>
          </a:xfrm>
          <a:prstGeom prst="rect">
            <a:avLst/>
          </a:prstGeom>
        </p:spPr>
        <p:txBody>
          <a:bodyPr vert="horz" lIns="91440" tIns="45720" rIns="91440" bIns="45720" rtlCol="0"/>
          <a:lstStyle>
            <a:lvl1pPr algn="l">
              <a:defRPr sz="1200"/>
            </a:lvl1pPr>
          </a:lstStyle>
          <a:p>
            <a:r>
              <a:rPr lang="en-IN"/>
              <a:t>A GIS BASED QUANTITATIVE MODEL FOR LANDSLIDE   SUSCEPTIBILITY MAPPING</a:t>
            </a:r>
          </a:p>
        </p:txBody>
      </p:sp>
      <p:sp>
        <p:nvSpPr>
          <p:cNvPr id="3" name="Date Placeholder 2"/>
          <p:cNvSpPr>
            <a:spLocks noGrp="1"/>
          </p:cNvSpPr>
          <p:nvPr>
            <p:ph type="dt" sz="quarter" idx="1"/>
          </p:nvPr>
        </p:nvSpPr>
        <p:spPr>
          <a:xfrm>
            <a:off x="3884613" y="0"/>
            <a:ext cx="2971800" cy="497364"/>
          </a:xfrm>
          <a:prstGeom prst="rect">
            <a:avLst/>
          </a:prstGeom>
        </p:spPr>
        <p:txBody>
          <a:bodyPr vert="horz" lIns="91440" tIns="45720" rIns="91440" bIns="45720" rtlCol="0"/>
          <a:lstStyle>
            <a:lvl1pPr algn="r">
              <a:defRPr sz="1200"/>
            </a:lvl1pPr>
          </a:lstStyle>
          <a:p>
            <a:fld id="{AC078DD4-F197-405B-8628-9A091ABC29AD}" type="datetimeFigureOut">
              <a:rPr lang="en-IN" smtClean="0"/>
              <a:t>07-12-2025</a:t>
            </a:fld>
            <a:endParaRPr lang="en-IN"/>
          </a:p>
        </p:txBody>
      </p:sp>
      <p:sp>
        <p:nvSpPr>
          <p:cNvPr id="4" name="Footer Placeholder 3"/>
          <p:cNvSpPr>
            <a:spLocks noGrp="1"/>
          </p:cNvSpPr>
          <p:nvPr>
            <p:ph type="ftr" sz="quarter" idx="2"/>
          </p:nvPr>
        </p:nvSpPr>
        <p:spPr>
          <a:xfrm>
            <a:off x="0" y="9448185"/>
            <a:ext cx="2971800" cy="497364"/>
          </a:xfrm>
          <a:prstGeom prst="rect">
            <a:avLst/>
          </a:prstGeom>
        </p:spPr>
        <p:txBody>
          <a:bodyPr vert="horz" lIns="91440" tIns="45720" rIns="91440" bIns="45720" rtlCol="0" anchor="b"/>
          <a:lstStyle>
            <a:lvl1pPr algn="l">
              <a:defRPr sz="1200"/>
            </a:lvl1pPr>
          </a:lstStyle>
          <a:p>
            <a:r>
              <a:rPr lang="en-IN"/>
              <a:t>Department of Computer Applications</a:t>
            </a:r>
          </a:p>
        </p:txBody>
      </p:sp>
      <p:sp>
        <p:nvSpPr>
          <p:cNvPr id="5" name="Slide Number Placeholder 4"/>
          <p:cNvSpPr>
            <a:spLocks noGrp="1"/>
          </p:cNvSpPr>
          <p:nvPr>
            <p:ph type="sldNum" sz="quarter" idx="3"/>
          </p:nvPr>
        </p:nvSpPr>
        <p:spPr>
          <a:xfrm>
            <a:off x="3884613" y="9448185"/>
            <a:ext cx="2971800" cy="497364"/>
          </a:xfrm>
          <a:prstGeom prst="rect">
            <a:avLst/>
          </a:prstGeom>
        </p:spPr>
        <p:txBody>
          <a:bodyPr vert="horz" lIns="91440" tIns="45720" rIns="91440" bIns="45720" rtlCol="0" anchor="b"/>
          <a:lstStyle>
            <a:lvl1pPr algn="r">
              <a:defRPr sz="1200"/>
            </a:lvl1pPr>
          </a:lstStyle>
          <a:p>
            <a:fld id="{D7E8EB6A-3A72-4D49-9735-B65FFD477050}" type="slidenum">
              <a:rPr lang="en-IN" smtClean="0"/>
              <a:t>‹#›</a:t>
            </a:fld>
            <a:endParaRPr lang="en-IN"/>
          </a:p>
        </p:txBody>
      </p:sp>
    </p:spTree>
    <p:extLst>
      <p:ext uri="{BB962C8B-B14F-4D97-AF65-F5344CB8AC3E}">
        <p14:creationId xmlns:p14="http://schemas.microsoft.com/office/powerpoint/2010/main" val="50433663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364"/>
          </a:xfrm>
          <a:prstGeom prst="rect">
            <a:avLst/>
          </a:prstGeom>
        </p:spPr>
        <p:txBody>
          <a:bodyPr vert="horz" lIns="91440" tIns="45720" rIns="91440" bIns="45720" rtlCol="0"/>
          <a:lstStyle>
            <a:lvl1pPr algn="l">
              <a:defRPr sz="1200"/>
            </a:lvl1pPr>
          </a:lstStyle>
          <a:p>
            <a:r>
              <a:rPr lang="en-IN"/>
              <a:t>A GIS BASED QUANTITATIVE MODEL FOR LANDSLIDE   SUSCEPTIBILITY MAPPING</a:t>
            </a:r>
          </a:p>
        </p:txBody>
      </p:sp>
      <p:sp>
        <p:nvSpPr>
          <p:cNvPr id="3" name="Date Placeholder 2"/>
          <p:cNvSpPr>
            <a:spLocks noGrp="1"/>
          </p:cNvSpPr>
          <p:nvPr>
            <p:ph type="dt" idx="1"/>
          </p:nvPr>
        </p:nvSpPr>
        <p:spPr>
          <a:xfrm>
            <a:off x="3884613" y="0"/>
            <a:ext cx="2971800" cy="497364"/>
          </a:xfrm>
          <a:prstGeom prst="rect">
            <a:avLst/>
          </a:prstGeom>
        </p:spPr>
        <p:txBody>
          <a:bodyPr vert="horz" lIns="91440" tIns="45720" rIns="91440" bIns="45720" rtlCol="0"/>
          <a:lstStyle>
            <a:lvl1pPr algn="r">
              <a:defRPr sz="1200"/>
            </a:lvl1pPr>
          </a:lstStyle>
          <a:p>
            <a:fld id="{715B4098-876C-4F98-B0E4-0355BF00D526}" type="datetimeFigureOut">
              <a:rPr lang="en-IN" smtClean="0"/>
              <a:t>07-12-2025</a:t>
            </a:fld>
            <a:endParaRPr lang="en-IN"/>
          </a:p>
        </p:txBody>
      </p:sp>
      <p:sp>
        <p:nvSpPr>
          <p:cNvPr id="4" name="Slide Image Placeholder 3"/>
          <p:cNvSpPr>
            <a:spLocks noGrp="1" noRot="1" noChangeAspect="1"/>
          </p:cNvSpPr>
          <p:nvPr>
            <p:ph type="sldImg" idx="2"/>
          </p:nvPr>
        </p:nvSpPr>
        <p:spPr>
          <a:xfrm>
            <a:off x="114300" y="746125"/>
            <a:ext cx="6629400" cy="37306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724956"/>
            <a:ext cx="5486400" cy="447627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8185"/>
            <a:ext cx="2971800" cy="497364"/>
          </a:xfrm>
          <a:prstGeom prst="rect">
            <a:avLst/>
          </a:prstGeom>
        </p:spPr>
        <p:txBody>
          <a:bodyPr vert="horz" lIns="91440" tIns="45720" rIns="91440" bIns="45720" rtlCol="0" anchor="b"/>
          <a:lstStyle>
            <a:lvl1pPr algn="l">
              <a:defRPr sz="1200"/>
            </a:lvl1pPr>
          </a:lstStyle>
          <a:p>
            <a:r>
              <a:rPr lang="en-IN"/>
              <a:t>Department of Computer Applications</a:t>
            </a:r>
          </a:p>
        </p:txBody>
      </p:sp>
      <p:sp>
        <p:nvSpPr>
          <p:cNvPr id="7" name="Slide Number Placeholder 6"/>
          <p:cNvSpPr>
            <a:spLocks noGrp="1"/>
          </p:cNvSpPr>
          <p:nvPr>
            <p:ph type="sldNum" sz="quarter" idx="5"/>
          </p:nvPr>
        </p:nvSpPr>
        <p:spPr>
          <a:xfrm>
            <a:off x="3884613" y="9448185"/>
            <a:ext cx="2971800" cy="497364"/>
          </a:xfrm>
          <a:prstGeom prst="rect">
            <a:avLst/>
          </a:prstGeom>
        </p:spPr>
        <p:txBody>
          <a:bodyPr vert="horz" lIns="91440" tIns="45720" rIns="91440" bIns="45720" rtlCol="0" anchor="b"/>
          <a:lstStyle>
            <a:lvl1pPr algn="r">
              <a:defRPr sz="1200"/>
            </a:lvl1pPr>
          </a:lstStyle>
          <a:p>
            <a:fld id="{9EF18245-C62A-4396-BD86-3344DB07831F}" type="slidenum">
              <a:rPr lang="en-IN" smtClean="0"/>
              <a:t>‹#›</a:t>
            </a:fld>
            <a:endParaRPr lang="en-IN"/>
          </a:p>
        </p:txBody>
      </p:sp>
    </p:spTree>
    <p:extLst>
      <p:ext uri="{BB962C8B-B14F-4D97-AF65-F5344CB8AC3E}">
        <p14:creationId xmlns:p14="http://schemas.microsoft.com/office/powerpoint/2010/main" val="194383145"/>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 y="746125"/>
            <a:ext cx="6629400" cy="3730625"/>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EF18245-C62A-4396-BD86-3344DB07831F}" type="slidenum">
              <a:rPr lang="en-IN" smtClean="0"/>
              <a:t>1</a:t>
            </a:fld>
            <a:endParaRPr lang="en-IN"/>
          </a:p>
        </p:txBody>
      </p:sp>
      <p:sp>
        <p:nvSpPr>
          <p:cNvPr id="5" name="Header Placeholder 4"/>
          <p:cNvSpPr>
            <a:spLocks noGrp="1"/>
          </p:cNvSpPr>
          <p:nvPr>
            <p:ph type="hdr" sz="quarter" idx="11"/>
          </p:nvPr>
        </p:nvSpPr>
        <p:spPr/>
        <p:txBody>
          <a:bodyPr/>
          <a:lstStyle/>
          <a:p>
            <a:r>
              <a:rPr lang="en-IN"/>
              <a:t>A GIS BASED QUANTITATIVE MODEL FOR LANDSLIDE   SUSCEPTIBILITY MAPPING</a:t>
            </a:r>
          </a:p>
        </p:txBody>
      </p:sp>
      <p:sp>
        <p:nvSpPr>
          <p:cNvPr id="6" name="Footer Placeholder 5"/>
          <p:cNvSpPr>
            <a:spLocks noGrp="1"/>
          </p:cNvSpPr>
          <p:nvPr>
            <p:ph type="ftr" sz="quarter" idx="12"/>
          </p:nvPr>
        </p:nvSpPr>
        <p:spPr/>
        <p:txBody>
          <a:bodyPr/>
          <a:lstStyle/>
          <a:p>
            <a:r>
              <a:rPr lang="en-IN"/>
              <a:t>Department of Computer Applications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a:solidFill>
                  <a:schemeClr val="tx1"/>
                </a:solidFill>
                <a:latin typeface="Arial" panose="020B0704020202020204" pitchFamily="34" charset="0"/>
                <a:cs typeface="Arial" panose="020B0704020202020204" pitchFamily="34" charset="0"/>
              </a:defRPr>
            </a:lvl1pPr>
            <a:lvl2pPr marL="742950" indent="-285750" defTabSz="932180">
              <a:defRPr>
                <a:solidFill>
                  <a:schemeClr val="tx1"/>
                </a:solidFill>
                <a:latin typeface="Arial" panose="020B0704020202020204" pitchFamily="34" charset="0"/>
                <a:cs typeface="Arial" panose="020B0704020202020204" pitchFamily="34" charset="0"/>
              </a:defRPr>
            </a:lvl2pPr>
            <a:lvl3pPr marL="1143000" indent="-228600" defTabSz="932180">
              <a:defRPr>
                <a:solidFill>
                  <a:schemeClr val="tx1"/>
                </a:solidFill>
                <a:latin typeface="Arial" panose="020B0704020202020204" pitchFamily="34" charset="0"/>
                <a:cs typeface="Arial" panose="020B0704020202020204" pitchFamily="34" charset="0"/>
              </a:defRPr>
            </a:lvl3pPr>
            <a:lvl4pPr marL="1600200" indent="-228600" defTabSz="932180">
              <a:defRPr>
                <a:solidFill>
                  <a:schemeClr val="tx1"/>
                </a:solidFill>
                <a:latin typeface="Arial" panose="020B0704020202020204" pitchFamily="34" charset="0"/>
                <a:cs typeface="Arial" panose="020B0704020202020204" pitchFamily="34" charset="0"/>
              </a:defRPr>
            </a:lvl4pPr>
            <a:lvl5pPr marL="2057400" indent="-228600" defTabSz="932180">
              <a:defRPr>
                <a:solidFill>
                  <a:schemeClr val="tx1"/>
                </a:solidFill>
                <a:latin typeface="Arial" panose="020B0704020202020204" pitchFamily="34" charset="0"/>
                <a:cs typeface="Arial" panose="020B0704020202020204" pitchFamily="34" charset="0"/>
              </a:defRPr>
            </a:lvl5pPr>
            <a:lvl6pPr marL="25146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6pPr>
            <a:lvl7pPr marL="29718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7pPr>
            <a:lvl8pPr marL="34290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8pPr>
            <a:lvl9pPr marL="38862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9pPr>
          </a:lstStyle>
          <a:p>
            <a:fld id="{14C3E06A-4B03-46BF-B531-BC7FC2155448}" type="slidenum">
              <a:rPr lang="en-US" altLang="en-US"/>
              <a:t>15</a:t>
            </a:fld>
            <a:endParaRPr lang="en-US" altLang="en-US"/>
          </a:p>
        </p:txBody>
      </p:sp>
      <p:sp>
        <p:nvSpPr>
          <p:cNvPr id="11267" name="Rectangle 2"/>
          <p:cNvSpPr>
            <a:spLocks noGrp="1" noRot="1" noChangeAspect="1" noChangeArrowheads="1" noTextEdit="1"/>
          </p:cNvSpPr>
          <p:nvPr>
            <p:ph type="sldImg"/>
          </p:nvPr>
        </p:nvSpPr>
        <p:spPr/>
      </p:sp>
      <p:sp>
        <p:nvSpPr>
          <p:cNvPr id="112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704020202020204"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a:solidFill>
                  <a:schemeClr val="tx1"/>
                </a:solidFill>
                <a:latin typeface="Arial" panose="020B0704020202020204" pitchFamily="34" charset="0"/>
                <a:cs typeface="Arial" panose="020B0704020202020204" pitchFamily="34" charset="0"/>
              </a:defRPr>
            </a:lvl1pPr>
            <a:lvl2pPr marL="742950" indent="-285750" defTabSz="932180">
              <a:defRPr>
                <a:solidFill>
                  <a:schemeClr val="tx1"/>
                </a:solidFill>
                <a:latin typeface="Arial" panose="020B0704020202020204" pitchFamily="34" charset="0"/>
                <a:cs typeface="Arial" panose="020B0704020202020204" pitchFamily="34" charset="0"/>
              </a:defRPr>
            </a:lvl2pPr>
            <a:lvl3pPr marL="1143000" indent="-228600" defTabSz="932180">
              <a:defRPr>
                <a:solidFill>
                  <a:schemeClr val="tx1"/>
                </a:solidFill>
                <a:latin typeface="Arial" panose="020B0704020202020204" pitchFamily="34" charset="0"/>
                <a:cs typeface="Arial" panose="020B0704020202020204" pitchFamily="34" charset="0"/>
              </a:defRPr>
            </a:lvl3pPr>
            <a:lvl4pPr marL="1600200" indent="-228600" defTabSz="932180">
              <a:defRPr>
                <a:solidFill>
                  <a:schemeClr val="tx1"/>
                </a:solidFill>
                <a:latin typeface="Arial" panose="020B0704020202020204" pitchFamily="34" charset="0"/>
                <a:cs typeface="Arial" panose="020B0704020202020204" pitchFamily="34" charset="0"/>
              </a:defRPr>
            </a:lvl4pPr>
            <a:lvl5pPr marL="2057400" indent="-228600" defTabSz="932180">
              <a:defRPr>
                <a:solidFill>
                  <a:schemeClr val="tx1"/>
                </a:solidFill>
                <a:latin typeface="Arial" panose="020B0704020202020204" pitchFamily="34" charset="0"/>
                <a:cs typeface="Arial" panose="020B0704020202020204" pitchFamily="34" charset="0"/>
              </a:defRPr>
            </a:lvl5pPr>
            <a:lvl6pPr marL="25146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6pPr>
            <a:lvl7pPr marL="29718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7pPr>
            <a:lvl8pPr marL="34290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8pPr>
            <a:lvl9pPr marL="3886200" indent="-228600" defTabSz="932180" eaLnBrk="0" fontAlgn="base" hangingPunct="0">
              <a:spcBef>
                <a:spcPct val="0"/>
              </a:spcBef>
              <a:spcAft>
                <a:spcPct val="0"/>
              </a:spcAft>
              <a:defRPr>
                <a:solidFill>
                  <a:schemeClr val="tx1"/>
                </a:solidFill>
                <a:latin typeface="Arial" panose="020B0704020202020204" pitchFamily="34" charset="0"/>
                <a:cs typeface="Arial" panose="020B0704020202020204" pitchFamily="34" charset="0"/>
              </a:defRPr>
            </a:lvl9pPr>
          </a:lstStyle>
          <a:p>
            <a:fld id="{53D18064-D12D-44C1-BFFF-7864F7914B46}" type="slidenum">
              <a:rPr lang="en-US" altLang="en-US"/>
              <a:t>37</a:t>
            </a:fld>
            <a:endParaRPr lang="en-US" altLang="en-US"/>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704020202020204" pitchFamily="34" charset="0"/>
              </a:rPr>
              <a:t>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F2156EE-13C2-4226-AC85-9B762AACD6CD}" type="datetime1">
              <a:rPr lang="en-US" smtClean="0"/>
              <a:t>12/7/2025</a:t>
            </a:fld>
            <a:endParaRPr lang="en-US"/>
          </a:p>
        </p:txBody>
      </p:sp>
      <p:sp>
        <p:nvSpPr>
          <p:cNvPr id="5" name="Footer Placeholder 4"/>
          <p:cNvSpPr>
            <a:spLocks noGrp="1"/>
          </p:cNvSpPr>
          <p:nvPr>
            <p:ph type="ftr" sz="quarter" idx="11"/>
          </p:nvPr>
        </p:nvSpPr>
        <p:spPr/>
        <p:txBody>
          <a:bodyPr/>
          <a:lstStyle/>
          <a:p>
            <a:r>
              <a:rPr lang="en-US"/>
              <a:t>Department of Computer Applications</a:t>
            </a:r>
          </a:p>
        </p:txBody>
      </p:sp>
      <p:sp>
        <p:nvSpPr>
          <p:cNvPr id="6" name="Slide Number Placeholder 5"/>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B8EA30-1ED1-4EA6-97E4-8E1A80DCA4D5}" type="datetime1">
              <a:rPr lang="en-US" smtClean="0"/>
              <a:t>12/7/2025</a:t>
            </a:fld>
            <a:endParaRPr lang="en-US"/>
          </a:p>
        </p:txBody>
      </p:sp>
      <p:sp>
        <p:nvSpPr>
          <p:cNvPr id="5" name="Footer Placeholder 4"/>
          <p:cNvSpPr>
            <a:spLocks noGrp="1"/>
          </p:cNvSpPr>
          <p:nvPr>
            <p:ph type="ftr" sz="quarter" idx="11"/>
          </p:nvPr>
        </p:nvSpPr>
        <p:spPr/>
        <p:txBody>
          <a:bodyPr/>
          <a:lstStyle/>
          <a:p>
            <a:r>
              <a:rPr lang="en-US"/>
              <a:t>Department of Computer Applications</a:t>
            </a:r>
          </a:p>
        </p:txBody>
      </p:sp>
      <p:sp>
        <p:nvSpPr>
          <p:cNvPr id="6" name="Slide Number Placeholder 5"/>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D012BA-5703-4244-A711-3F7C8A640BFF}" type="datetime1">
              <a:rPr lang="en-US" smtClean="0"/>
              <a:t>12/7/2025</a:t>
            </a:fld>
            <a:endParaRPr lang="en-US"/>
          </a:p>
        </p:txBody>
      </p:sp>
      <p:sp>
        <p:nvSpPr>
          <p:cNvPr id="5" name="Footer Placeholder 4"/>
          <p:cNvSpPr>
            <a:spLocks noGrp="1"/>
          </p:cNvSpPr>
          <p:nvPr>
            <p:ph type="ftr" sz="quarter" idx="11"/>
          </p:nvPr>
        </p:nvSpPr>
        <p:spPr/>
        <p:txBody>
          <a:bodyPr/>
          <a:lstStyle/>
          <a:p>
            <a:r>
              <a:rPr lang="en-US"/>
              <a:t>Department of Computer Applications</a:t>
            </a:r>
          </a:p>
        </p:txBody>
      </p:sp>
      <p:sp>
        <p:nvSpPr>
          <p:cNvPr id="6" name="Slide Number Placeholder 5"/>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82D891-9917-48A7-A4F9-602964EE91F0}" type="datetime1">
              <a:rPr lang="en-US" smtClean="0"/>
              <a:t>12/7/2025</a:t>
            </a:fld>
            <a:endParaRPr lang="en-US"/>
          </a:p>
        </p:txBody>
      </p:sp>
      <p:sp>
        <p:nvSpPr>
          <p:cNvPr id="6" name="Footer Placeholder 5"/>
          <p:cNvSpPr>
            <a:spLocks noGrp="1"/>
          </p:cNvSpPr>
          <p:nvPr>
            <p:ph type="ftr" sz="quarter" idx="11"/>
          </p:nvPr>
        </p:nvSpPr>
        <p:spPr/>
        <p:txBody>
          <a:bodyPr/>
          <a:lstStyle/>
          <a:p>
            <a:r>
              <a:rPr lang="en-US"/>
              <a:t>Department of Computer Applications</a:t>
            </a:r>
          </a:p>
        </p:txBody>
      </p:sp>
      <p:sp>
        <p:nvSpPr>
          <p:cNvPr id="7" name="Slide Number Placeholder 6"/>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734B73-CEFC-44AC-8FC7-EC72E24E8CED}" type="datetime1">
              <a:rPr lang="en-US" smtClean="0"/>
              <a:t>12/7/2025</a:t>
            </a:fld>
            <a:endParaRPr lang="en-US"/>
          </a:p>
        </p:txBody>
      </p:sp>
      <p:sp>
        <p:nvSpPr>
          <p:cNvPr id="8" name="Footer Placeholder 7"/>
          <p:cNvSpPr>
            <a:spLocks noGrp="1"/>
          </p:cNvSpPr>
          <p:nvPr>
            <p:ph type="ftr" sz="quarter" idx="11"/>
          </p:nvPr>
        </p:nvSpPr>
        <p:spPr/>
        <p:txBody>
          <a:bodyPr/>
          <a:lstStyle/>
          <a:p>
            <a:r>
              <a:rPr lang="en-US"/>
              <a:t>Department of Computer Applications</a:t>
            </a:r>
          </a:p>
        </p:txBody>
      </p:sp>
      <p:sp>
        <p:nvSpPr>
          <p:cNvPr id="9" name="Slide Number Placeholder 8"/>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A94485-3429-441D-8CAA-4A92471855C4}" type="datetime1">
              <a:rPr lang="en-US" smtClean="0"/>
              <a:t>12/7/2025</a:t>
            </a:fld>
            <a:endParaRPr lang="en-US"/>
          </a:p>
        </p:txBody>
      </p:sp>
      <p:sp>
        <p:nvSpPr>
          <p:cNvPr id="4" name="Footer Placeholder 3"/>
          <p:cNvSpPr>
            <a:spLocks noGrp="1"/>
          </p:cNvSpPr>
          <p:nvPr>
            <p:ph type="ftr" sz="quarter" idx="11"/>
          </p:nvPr>
        </p:nvSpPr>
        <p:spPr/>
        <p:txBody>
          <a:bodyPr/>
          <a:lstStyle/>
          <a:p>
            <a:r>
              <a:rPr lang="en-US"/>
              <a:t>Department of Computer Applications</a:t>
            </a:r>
          </a:p>
        </p:txBody>
      </p:sp>
      <p:sp>
        <p:nvSpPr>
          <p:cNvPr id="5" name="Slide Number Placeholder 4"/>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454876-89BF-4C8D-9F05-CB86B446D48D}" type="datetime1">
              <a:rPr lang="en-US" smtClean="0"/>
              <a:t>12/7/2025</a:t>
            </a:fld>
            <a:endParaRPr lang="en-US"/>
          </a:p>
        </p:txBody>
      </p:sp>
      <p:sp>
        <p:nvSpPr>
          <p:cNvPr id="3" name="Footer Placeholder 2"/>
          <p:cNvSpPr>
            <a:spLocks noGrp="1"/>
          </p:cNvSpPr>
          <p:nvPr>
            <p:ph type="ftr" sz="quarter" idx="11"/>
          </p:nvPr>
        </p:nvSpPr>
        <p:spPr/>
        <p:txBody>
          <a:bodyPr/>
          <a:lstStyle/>
          <a:p>
            <a:r>
              <a:rPr lang="en-US"/>
              <a:t>Department of Computer Applications</a:t>
            </a:r>
          </a:p>
        </p:txBody>
      </p:sp>
      <p:sp>
        <p:nvSpPr>
          <p:cNvPr id="4" name="Slide Number Placeholder 3"/>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5A11D7-3866-402C-82DD-23EBE41FD0D5}" type="datetime1">
              <a:rPr lang="en-US" smtClean="0"/>
              <a:t>12/7/2025</a:t>
            </a:fld>
            <a:endParaRPr lang="en-US"/>
          </a:p>
        </p:txBody>
      </p:sp>
      <p:sp>
        <p:nvSpPr>
          <p:cNvPr id="6" name="Footer Placeholder 5"/>
          <p:cNvSpPr>
            <a:spLocks noGrp="1"/>
          </p:cNvSpPr>
          <p:nvPr>
            <p:ph type="ftr" sz="quarter" idx="11"/>
          </p:nvPr>
        </p:nvSpPr>
        <p:spPr/>
        <p:txBody>
          <a:bodyPr/>
          <a:lstStyle/>
          <a:p>
            <a:r>
              <a:rPr lang="en-US"/>
              <a:t>Department of Computer Applications</a:t>
            </a:r>
          </a:p>
        </p:txBody>
      </p:sp>
      <p:sp>
        <p:nvSpPr>
          <p:cNvPr id="7" name="Slide Number Placeholder 6"/>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00AE2-0199-44F1-B638-7B2349789F0B}" type="datetime1">
              <a:rPr lang="en-US" smtClean="0"/>
              <a:t>12/7/2025</a:t>
            </a:fld>
            <a:endParaRPr lang="en-US"/>
          </a:p>
        </p:txBody>
      </p:sp>
      <p:sp>
        <p:nvSpPr>
          <p:cNvPr id="6" name="Footer Placeholder 5"/>
          <p:cNvSpPr>
            <a:spLocks noGrp="1"/>
          </p:cNvSpPr>
          <p:nvPr>
            <p:ph type="ftr" sz="quarter" idx="11"/>
          </p:nvPr>
        </p:nvSpPr>
        <p:spPr/>
        <p:txBody>
          <a:bodyPr/>
          <a:lstStyle/>
          <a:p>
            <a:r>
              <a:rPr lang="en-US"/>
              <a:t>Department of Computer Applications</a:t>
            </a:r>
          </a:p>
        </p:txBody>
      </p:sp>
      <p:sp>
        <p:nvSpPr>
          <p:cNvPr id="7" name="Slide Number Placeholder 6"/>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8DD0D6-54FB-4009-9643-842A2F45A655}" type="datetime1">
              <a:rPr lang="en-US" smtClean="0"/>
              <a:t>12/7/2025</a:t>
            </a:fld>
            <a:endParaRPr lang="en-US"/>
          </a:p>
        </p:txBody>
      </p:sp>
      <p:sp>
        <p:nvSpPr>
          <p:cNvPr id="5" name="Footer Placeholder 4"/>
          <p:cNvSpPr>
            <a:spLocks noGrp="1"/>
          </p:cNvSpPr>
          <p:nvPr>
            <p:ph type="ftr" sz="quarter" idx="11"/>
          </p:nvPr>
        </p:nvSpPr>
        <p:spPr/>
        <p:txBody>
          <a:bodyPr/>
          <a:lstStyle/>
          <a:p>
            <a:r>
              <a:rPr lang="en-US"/>
              <a:t>Department of Computer Applications</a:t>
            </a:r>
          </a:p>
        </p:txBody>
      </p:sp>
      <p:sp>
        <p:nvSpPr>
          <p:cNvPr id="6" name="Slide Number Placeholder 5"/>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9D3771-7A9F-45C4-B255-6C4B4B885A41}" type="datetime1">
              <a:rPr lang="en-US" smtClean="0"/>
              <a:t>12/7/2025</a:t>
            </a:fld>
            <a:endParaRPr lang="en-US"/>
          </a:p>
        </p:txBody>
      </p:sp>
      <p:sp>
        <p:nvSpPr>
          <p:cNvPr id="5" name="Footer Placeholder 4"/>
          <p:cNvSpPr>
            <a:spLocks noGrp="1"/>
          </p:cNvSpPr>
          <p:nvPr>
            <p:ph type="ftr" sz="quarter" idx="11"/>
          </p:nvPr>
        </p:nvSpPr>
        <p:spPr/>
        <p:txBody>
          <a:bodyPr/>
          <a:lstStyle/>
          <a:p>
            <a:r>
              <a:rPr lang="en-US"/>
              <a:t>Department of Computer Applications</a:t>
            </a:r>
          </a:p>
        </p:txBody>
      </p:sp>
      <p:sp>
        <p:nvSpPr>
          <p:cNvPr id="6" name="Slide Number Placeholder 5"/>
          <p:cNvSpPr>
            <a:spLocks noGrp="1"/>
          </p:cNvSpPr>
          <p:nvPr>
            <p:ph type="sldNum" sz="quarter" idx="12"/>
          </p:nvPr>
        </p:nvSpPr>
        <p:spPr/>
        <p:txBody>
          <a:bodyPr/>
          <a:lstStyle/>
          <a:p>
            <a:fld id="{AE58FF4D-9703-46B8-851C-DA8FCFE4D55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10923B-833B-476E-B4FE-D1F183B1F451}" type="datetime1">
              <a:rPr lang="en-US" smtClean="0"/>
              <a:t>12/7/2025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Department of Computer Applications</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58FF4D-9703-46B8-851C-DA8FCFE4D55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35232" y="158760"/>
            <a:ext cx="10831287" cy="829945"/>
          </a:xfrm>
          <a:prstGeom prst="rect">
            <a:avLst/>
          </a:prstGeom>
        </p:spPr>
        <p:txBody>
          <a:bodyPr wrap="square">
            <a:spAutoFit/>
          </a:bodyPr>
          <a:lstStyle/>
          <a:p>
            <a:pPr algn="ctr">
              <a:lnSpc>
                <a:spcPct val="150000"/>
              </a:lnSpc>
            </a:pPr>
            <a:r>
              <a:rPr lang="en-IN" sz="2000" b="1" dirty="0">
                <a:latin typeface="Times New Roman Bold" panose="02020603050405020304" charset="0"/>
                <a:cs typeface="Times New Roman Bold" panose="02020603050405020304" charset="0"/>
              </a:rPr>
              <a:t>M</a:t>
            </a:r>
            <a:r>
              <a:rPr lang="en-US" altLang="en-IN" sz="2000" b="1" dirty="0">
                <a:latin typeface="Times New Roman Bold" panose="02020603050405020304" charset="0"/>
                <a:cs typeface="Times New Roman Bold" panose="02020603050405020304" charset="0"/>
              </a:rPr>
              <a:t>ajor</a:t>
            </a:r>
            <a:r>
              <a:rPr lang="en-IN" sz="2000" b="1" dirty="0">
                <a:latin typeface="Times New Roman Bold" panose="02020603050405020304" charset="0"/>
                <a:cs typeface="Times New Roman Bold" panose="02020603050405020304" charset="0"/>
              </a:rPr>
              <a:t> Project Presentation on </a:t>
            </a:r>
          </a:p>
          <a:p>
            <a:pPr algn="ctr"/>
            <a:r>
              <a:rPr lang="en-US" b="1" dirty="0">
                <a:latin typeface="Times New Roman Bold" panose="02020603050405020304" charset="0"/>
                <a:cs typeface="Times New Roman Bold" panose="02020603050405020304" charset="0"/>
              </a:rPr>
              <a:t>“</a:t>
            </a:r>
            <a:r>
              <a:rPr lang="en-US" altLang="en-US" b="1" dirty="0">
                <a:latin typeface="Times New Roman Bold" panose="02020603050405020304" charset="0"/>
                <a:cs typeface="Times New Roman Bold" panose="02020603050405020304" charset="0"/>
              </a:rPr>
              <a:t>Landslide Detection using Deep Learning Model</a:t>
            </a:r>
            <a:r>
              <a:rPr lang="en-US" b="1" dirty="0">
                <a:latin typeface="Times New Roman Bold" panose="02020603050405020304" charset="0"/>
                <a:cs typeface="Times New Roman Bold" panose="02020603050405020304" charset="0"/>
              </a:rPr>
              <a:t>”</a:t>
            </a:r>
            <a:endParaRPr lang="en-US" sz="2800" b="1" dirty="0">
              <a:effectLst/>
              <a:latin typeface="Times New Roman Bold" panose="02020603050405020304" charset="0"/>
              <a:ea typeface="Calibri" panose="020F0502020204030204" pitchFamily="34" charset="0"/>
              <a:cs typeface="Times New Roman Bold" panose="02020603050405020304" charset="0"/>
            </a:endParaRPr>
          </a:p>
        </p:txBody>
      </p:sp>
      <p:sp>
        <p:nvSpPr>
          <p:cNvPr id="7" name="Content Placeholder 6"/>
          <p:cNvSpPr>
            <a:spLocks noGrp="1"/>
          </p:cNvSpPr>
          <p:nvPr>
            <p:ph idx="1"/>
          </p:nvPr>
        </p:nvSpPr>
        <p:spPr>
          <a:xfrm>
            <a:off x="82160" y="1702314"/>
            <a:ext cx="11510683" cy="4947972"/>
          </a:xfrm>
        </p:spPr>
        <p:txBody>
          <a:bodyPr>
            <a:normAutofit/>
          </a:bodyPr>
          <a:lstStyle/>
          <a:p>
            <a:pPr marL="109855" indent="0" algn="ctr">
              <a:buNone/>
            </a:pPr>
            <a:r>
              <a:rPr lang="en-US" sz="2000" i="1" dirty="0">
                <a:solidFill>
                  <a:schemeClr val="tx1"/>
                </a:solidFill>
              </a:rPr>
              <a:t> </a:t>
            </a:r>
          </a:p>
          <a:p>
            <a:pPr marL="109855" indent="0" algn="ctr">
              <a:buNone/>
            </a:pPr>
            <a:endParaRPr lang="en-US" sz="2000" b="1" i="1" dirty="0">
              <a:latin typeface="Times New Roman" panose="02020603050405020304" pitchFamily="18" charset="0"/>
              <a:cs typeface="Times New Roman" panose="02020603050405020304" pitchFamily="18" charset="0"/>
            </a:endParaRPr>
          </a:p>
          <a:p>
            <a:pPr marL="109855" indent="0" algn="ctr">
              <a:buNone/>
            </a:pPr>
            <a:r>
              <a:rPr lang="en-IN" sz="2000" b="1" dirty="0" smtClean="0">
                <a:latin typeface="Times New Roman" panose="02020603050405020304" pitchFamily="18" charset="0"/>
                <a:cs typeface="Times New Roman" panose="02020603050405020304" pitchFamily="18" charset="0"/>
              </a:rPr>
              <a:t>  Submitted </a:t>
            </a:r>
            <a:r>
              <a:rPr lang="en-IN" sz="2000" b="1" dirty="0">
                <a:latin typeface="Times New Roman" panose="02020603050405020304" pitchFamily="18" charset="0"/>
                <a:cs typeface="Times New Roman" panose="02020603050405020304" pitchFamily="18" charset="0"/>
              </a:rPr>
              <a:t>by:</a:t>
            </a:r>
          </a:p>
          <a:p>
            <a:pPr marL="0" indent="0" algn="ctr">
              <a:buNone/>
            </a:pPr>
            <a:r>
              <a:rPr lang="en-US" sz="2000" dirty="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Vineet Patel (202200530)</a:t>
            </a:r>
            <a:br>
              <a:rPr lang="en-US" sz="2000" dirty="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Pratham</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Mir Dutraj (202200521)</a:t>
            </a:r>
            <a:br>
              <a:rPr lang="en-US"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dirty="0">
              <a:latin typeface="Times New Roman" panose="02020603050405020304" pitchFamily="18" charset="0"/>
              <a:cs typeface="Times New Roman" panose="02020603050405020304" pitchFamily="18" charset="0"/>
            </a:endParaRPr>
          </a:p>
          <a:p>
            <a:pPr marL="0" indent="0" algn="ctr">
              <a:buNone/>
            </a:pPr>
            <a:r>
              <a:rPr lang="en-US" sz="2000" b="1" dirty="0">
                <a:latin typeface="Times New Roman" panose="02020603050405020304" pitchFamily="18" charset="0"/>
                <a:cs typeface="Times New Roman" panose="02020603050405020304" pitchFamily="18" charset="0"/>
              </a:rPr>
              <a:t>        </a:t>
            </a:r>
            <a:r>
              <a:rPr lang="en-US" sz="2000" b="1" dirty="0" smtClean="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Under the Supervision of</a:t>
            </a:r>
          </a:p>
          <a:p>
            <a:pPr marL="0" indent="0" algn="ctr">
              <a:buNone/>
            </a:pPr>
            <a:endParaRPr lang="en-IN" sz="2000" b="1" dirty="0">
              <a:solidFill>
                <a:schemeClr val="tx1"/>
              </a:solidFill>
            </a:endParaRPr>
          </a:p>
          <a:p>
            <a:pPr marL="0" indent="0" algn="ctr">
              <a:buNone/>
            </a:pPr>
            <a:endParaRPr lang="en-US" dirty="0">
              <a:solidFill>
                <a:schemeClr val="tx1"/>
              </a:solidFill>
            </a:endParaRPr>
          </a:p>
          <a:p>
            <a:pPr marL="0" marR="3175" indent="0" algn="ctr">
              <a:lnSpc>
                <a:spcPct val="144000"/>
              </a:lnSpc>
              <a:spcBef>
                <a:spcPts val="65"/>
              </a:spcBef>
              <a:buNone/>
            </a:pPr>
            <a:r>
              <a:rPr lang="en-US" sz="1700" b="1" spc="-3" dirty="0">
                <a:latin typeface="Times New Roman" panose="02020603050405020304"/>
                <a:cs typeface="Times New Roman" panose="02020603050405020304"/>
                <a:sym typeface="+mn-ea"/>
              </a:rPr>
              <a:t>DEPARTMENT</a:t>
            </a:r>
            <a:r>
              <a:rPr lang="en-US" sz="1700" b="1"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OF</a:t>
            </a:r>
            <a:r>
              <a:rPr lang="en-US" sz="1700" b="1" spc="13" dirty="0">
                <a:latin typeface="Times New Roman" panose="02020603050405020304"/>
                <a:cs typeface="Times New Roman" panose="02020603050405020304"/>
                <a:sym typeface="+mn-ea"/>
              </a:rPr>
              <a:t> </a:t>
            </a:r>
            <a:r>
              <a:rPr lang="en-US" sz="1700" b="1" spc="-3" dirty="0">
                <a:latin typeface="Times New Roman" panose="02020603050405020304"/>
                <a:cs typeface="Times New Roman" panose="02020603050405020304"/>
                <a:sym typeface="+mn-ea"/>
              </a:rPr>
              <a:t>INFORMATION</a:t>
            </a:r>
            <a:r>
              <a:rPr lang="en-US" sz="1700" b="1" spc="7"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TECHNOLOGY </a:t>
            </a:r>
            <a:r>
              <a:rPr lang="en-US" sz="1700" b="1" spc="-223"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SIKKIM</a:t>
            </a:r>
            <a:r>
              <a:rPr lang="en-US" sz="1700" b="1" spc="3" dirty="0">
                <a:latin typeface="Times New Roman" panose="02020603050405020304"/>
                <a:cs typeface="Times New Roman" panose="02020603050405020304"/>
                <a:sym typeface="+mn-ea"/>
              </a:rPr>
              <a:t> </a:t>
            </a:r>
            <a:r>
              <a:rPr lang="en-US" sz="1700" b="1" dirty="0">
                <a:latin typeface="Times New Roman" panose="02020603050405020304"/>
                <a:cs typeface="Times New Roman" panose="02020603050405020304"/>
                <a:sym typeface="+mn-ea"/>
              </a:rPr>
              <a:t>MANIPAL</a:t>
            </a:r>
            <a:r>
              <a:rPr lang="en-US" sz="1700" b="1" spc="-3" dirty="0">
                <a:latin typeface="Times New Roman" panose="02020603050405020304"/>
                <a:cs typeface="Times New Roman" panose="02020603050405020304"/>
                <a:sym typeface="+mn-ea"/>
              </a:rPr>
              <a:t> INSTITUTE</a:t>
            </a:r>
            <a:r>
              <a:rPr lang="en-US" sz="1700" b="1" spc="7"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OF</a:t>
            </a:r>
            <a:r>
              <a:rPr lang="en-US" sz="1700" b="1" spc="-3"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TECHNOLOGY</a:t>
            </a:r>
            <a:endParaRPr lang="en-US" sz="1700" dirty="0">
              <a:latin typeface="Times New Roman" panose="02020603050405020304"/>
              <a:cs typeface="Times New Roman" panose="02020603050405020304"/>
            </a:endParaRPr>
          </a:p>
          <a:p>
            <a:pPr marL="0" indent="0" algn="ctr">
              <a:spcBef>
                <a:spcPts val="480"/>
              </a:spcBef>
              <a:buNone/>
            </a:pPr>
            <a:r>
              <a:rPr lang="en-US" sz="1700" b="1" spc="-3" dirty="0" err="1">
                <a:latin typeface="Times New Roman" panose="02020603050405020304"/>
                <a:cs typeface="Times New Roman" panose="02020603050405020304"/>
                <a:sym typeface="+mn-ea"/>
              </a:rPr>
              <a:t>Majitar</a:t>
            </a:r>
            <a:r>
              <a:rPr lang="en-US" sz="1700" b="1" spc="-3" dirty="0">
                <a:latin typeface="Times New Roman" panose="02020603050405020304"/>
                <a:cs typeface="Times New Roman" panose="02020603050405020304"/>
                <a:sym typeface="+mn-ea"/>
              </a:rPr>
              <a:t>,</a:t>
            </a:r>
            <a:r>
              <a:rPr lang="en-US" sz="1700" b="1" spc="7" dirty="0">
                <a:latin typeface="Times New Roman" panose="02020603050405020304"/>
                <a:cs typeface="Times New Roman" panose="02020603050405020304"/>
                <a:sym typeface="+mn-ea"/>
              </a:rPr>
              <a:t> </a:t>
            </a:r>
            <a:r>
              <a:rPr lang="en-US" sz="1700" b="1" spc="-7" dirty="0">
                <a:latin typeface="Times New Roman" panose="02020603050405020304"/>
                <a:cs typeface="Times New Roman" panose="02020603050405020304"/>
                <a:sym typeface="+mn-ea"/>
              </a:rPr>
              <a:t>Rangpo,</a:t>
            </a:r>
            <a:r>
              <a:rPr lang="en-US" sz="1700" b="1" spc="17" dirty="0">
                <a:latin typeface="Times New Roman" panose="02020603050405020304"/>
                <a:cs typeface="Times New Roman" panose="02020603050405020304"/>
                <a:sym typeface="+mn-ea"/>
              </a:rPr>
              <a:t> </a:t>
            </a:r>
            <a:r>
              <a:rPr lang="en-US" sz="1700" b="1" spc="-3" dirty="0">
                <a:latin typeface="Times New Roman" panose="02020603050405020304"/>
                <a:cs typeface="Times New Roman" panose="02020603050405020304"/>
                <a:sym typeface="+mn-ea"/>
              </a:rPr>
              <a:t>East</a:t>
            </a:r>
            <a:r>
              <a:rPr lang="en-US" sz="1700" b="1" spc="-3" dirty="0">
                <a:solidFill>
                  <a:srgbClr val="485286"/>
                </a:solidFill>
                <a:latin typeface="Times New Roman" panose="02020603050405020304"/>
                <a:cs typeface="Times New Roman" panose="02020603050405020304"/>
                <a:sym typeface="+mn-ea"/>
              </a:rPr>
              <a:t> </a:t>
            </a:r>
            <a:r>
              <a:rPr lang="en-US" sz="1700" b="1" spc="-3" dirty="0">
                <a:latin typeface="Times New Roman" panose="02020603050405020304"/>
                <a:cs typeface="Times New Roman" panose="02020603050405020304"/>
                <a:sym typeface="+mn-ea"/>
              </a:rPr>
              <a:t>Sikkim-737136</a:t>
            </a:r>
            <a:endParaRPr lang="en-US" sz="1700" dirty="0"/>
          </a:p>
          <a:p>
            <a:pPr marL="0" indent="0" algn="ctr">
              <a:buNone/>
            </a:pPr>
            <a:endParaRPr lang="en-US" dirty="0"/>
          </a:p>
        </p:txBody>
      </p:sp>
      <p:cxnSp>
        <p:nvCxnSpPr>
          <p:cNvPr id="13" name="Straight Connector 12"/>
          <p:cNvCxnSpPr/>
          <p:nvPr/>
        </p:nvCxnSpPr>
        <p:spPr>
          <a:xfrm>
            <a:off x="2313941" y="8724901"/>
            <a:ext cx="2847975" cy="9525"/>
          </a:xfrm>
          <a:prstGeom prst="line">
            <a:avLst/>
          </a:prstGeom>
        </p:spPr>
        <p:style>
          <a:lnRef idx="2">
            <a:schemeClr val="dk1"/>
          </a:lnRef>
          <a:fillRef idx="0">
            <a:schemeClr val="dk1"/>
          </a:fillRef>
          <a:effectRef idx="1">
            <a:schemeClr val="dk1"/>
          </a:effectRef>
          <a:fontRef idx="minor">
            <a:schemeClr val="tx1"/>
          </a:fontRef>
        </p:style>
      </p:cxn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4219030" y="1252537"/>
            <a:ext cx="3522408" cy="727595"/>
          </a:xfrm>
          <a:prstGeom prst="rect">
            <a:avLst/>
          </a:prstGeom>
          <a:noFill/>
          <a:ln>
            <a:noFill/>
          </a:ln>
        </p:spPr>
      </p:pic>
      <p:sp>
        <p:nvSpPr>
          <p:cNvPr id="6" name="Slide Number Placeholder 5"/>
          <p:cNvSpPr>
            <a:spLocks noGrp="1"/>
          </p:cNvSpPr>
          <p:nvPr>
            <p:ph type="sldNum" sz="quarter" idx="12"/>
          </p:nvPr>
        </p:nvSpPr>
        <p:spPr/>
        <p:txBody>
          <a:bodyPr/>
          <a:lstStyle/>
          <a:p>
            <a:fld id="{AE58FF4D-9703-46B8-851C-DA8FCFE4D55D}" type="slidenum">
              <a:rPr lang="en-US" smtClean="0"/>
              <a:t>1</a:t>
            </a:fld>
            <a:endParaRPr lang="en-US"/>
          </a:p>
        </p:txBody>
      </p:sp>
      <p:sp>
        <p:nvSpPr>
          <p:cNvPr id="9" name="TextBox 8"/>
          <p:cNvSpPr txBox="1"/>
          <p:nvPr/>
        </p:nvSpPr>
        <p:spPr>
          <a:xfrm>
            <a:off x="4219030" y="4533900"/>
            <a:ext cx="3344545" cy="645160"/>
          </a:xfrm>
          <a:prstGeom prst="rect">
            <a:avLst/>
          </a:prstGeom>
          <a:noFill/>
        </p:spPr>
        <p:txBody>
          <a:bodyPr wrap="square" rtlCol="0">
            <a:spAutoFit/>
          </a:bodyPr>
          <a:lstStyle/>
          <a:p>
            <a:pPr algn="ctr"/>
            <a:r>
              <a:rPr lang="en-US" dirty="0"/>
              <a:t> </a:t>
            </a:r>
            <a:r>
              <a:rPr lang="en-US" dirty="0" err="1" smtClean="0">
                <a:latin typeface="Times New Roman Regular" panose="02020603050405020304" charset="0"/>
                <a:cs typeface="Times New Roman Regular" panose="02020603050405020304" charset="0"/>
              </a:rPr>
              <a:t>Sonam</a:t>
            </a:r>
            <a:r>
              <a:rPr lang="en-US" dirty="0" smtClean="0">
                <a:latin typeface="Times New Roman Regular" panose="02020603050405020304" charset="0"/>
                <a:cs typeface="Times New Roman Regular" panose="02020603050405020304" charset="0"/>
              </a:rPr>
              <a:t> </a:t>
            </a:r>
            <a:r>
              <a:rPr lang="en-US" dirty="0">
                <a:latin typeface="Times New Roman Regular" panose="02020603050405020304" charset="0"/>
                <a:cs typeface="Times New Roman Regular" panose="02020603050405020304" charset="0"/>
              </a:rPr>
              <a:t>Lhamu Bhutia</a:t>
            </a:r>
          </a:p>
          <a:p>
            <a:r>
              <a:rPr lang="en-US" dirty="0">
                <a:latin typeface="Times New Roman Regular" panose="02020603050405020304" charset="0"/>
                <a:cs typeface="Times New Roman Regular" panose="02020603050405020304" charset="0"/>
              </a:rPr>
              <a:t>          </a:t>
            </a:r>
            <a:r>
              <a:rPr lang="en-US" dirty="0" smtClean="0">
                <a:latin typeface="Times New Roman Regular" panose="02020603050405020304" charset="0"/>
                <a:cs typeface="Times New Roman Regular" panose="02020603050405020304" charset="0"/>
              </a:rPr>
              <a:t> Assistant </a:t>
            </a:r>
            <a:r>
              <a:rPr lang="en-US" dirty="0">
                <a:latin typeface="Times New Roman Regular" panose="02020603050405020304" charset="0"/>
                <a:cs typeface="Times New Roman Regular" panose="02020603050405020304" charset="0"/>
              </a:rPr>
              <a:t>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13668" y="-46917"/>
            <a:ext cx="4962860" cy="666974"/>
          </a:xfrm>
        </p:spPr>
        <p:txBody>
          <a:bodyPr>
            <a:noAutofit/>
          </a:bodyPr>
          <a:lstStyle/>
          <a:p>
            <a:r>
              <a:rPr lang="en-US" sz="2800" b="1" dirty="0">
                <a:solidFill>
                  <a:schemeClr val="tx1"/>
                </a:solidFill>
                <a:effectLst>
                  <a:outerShdw blurRad="38100" dist="38100" dir="2700000" algn="tl">
                    <a:srgbClr val="000000">
                      <a:alpha val="43137"/>
                    </a:srgbClr>
                  </a:outerShdw>
                </a:effectLst>
                <a:latin typeface="Times New Roman Bold" panose="02020603050405020304" charset="0"/>
                <a:cs typeface="Times New Roman Bold" panose="02020603050405020304" charset="0"/>
              </a:rPr>
              <a:t>CONTENT</a:t>
            </a:r>
          </a:p>
        </p:txBody>
      </p:sp>
      <p:sp>
        <p:nvSpPr>
          <p:cNvPr id="4" name="Slide Number Placeholder 3"/>
          <p:cNvSpPr>
            <a:spLocks noGrp="1"/>
          </p:cNvSpPr>
          <p:nvPr>
            <p:ph type="sldNum" sz="quarter" idx="12"/>
          </p:nvPr>
        </p:nvSpPr>
        <p:spPr/>
        <p:txBody>
          <a:bodyPr/>
          <a:lstStyle/>
          <a:p>
            <a:fld id="{AE58FF4D-9703-46B8-851C-DA8FCFE4D55D}" type="slidenum">
              <a:rPr lang="en-US" smtClean="0"/>
              <a:t>2</a:t>
            </a:fld>
            <a:endParaRPr lang="en-US"/>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4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ubtitle 4"/>
          <p:cNvSpPr>
            <a:spLocks noGrp="1"/>
          </p:cNvSpPr>
          <p:nvPr>
            <p:ph type="subTitle" idx="1"/>
          </p:nvPr>
        </p:nvSpPr>
        <p:spPr>
          <a:xfrm>
            <a:off x="9588500" y="4415155"/>
            <a:ext cx="774700" cy="1223645"/>
          </a:xfrm>
        </p:spPr>
        <p:txBody>
          <a:bodyPr/>
          <a:lstStyle/>
          <a:p>
            <a:endParaRPr lang="en-US"/>
          </a:p>
        </p:txBody>
      </p:sp>
      <p:graphicFrame>
        <p:nvGraphicFramePr>
          <p:cNvPr id="3" name="Table 2"/>
          <p:cNvGraphicFramePr>
            <a:graphicFrameLocks noGrp="1"/>
          </p:cNvGraphicFramePr>
          <p:nvPr/>
        </p:nvGraphicFramePr>
        <p:xfrm>
          <a:off x="2539322" y="792850"/>
          <a:ext cx="7073601" cy="5698486"/>
        </p:xfrm>
        <a:graphic>
          <a:graphicData uri="http://schemas.openxmlformats.org/drawingml/2006/table">
            <a:tbl>
              <a:tblPr firstRow="1" firstCol="1" bandRow="1">
                <a:tableStyleId>{5C22544A-7EE6-4342-B048-85BDC9FD1C3A}</a:tableStyleId>
              </a:tblPr>
              <a:tblGrid>
                <a:gridCol w="893195"/>
                <a:gridCol w="5147157"/>
                <a:gridCol w="1033249"/>
              </a:tblGrid>
              <a:tr h="374827">
                <a:tc>
                  <a:txBody>
                    <a:bodyPr/>
                    <a:lstStyle/>
                    <a:p>
                      <a:pPr algn="ctr">
                        <a:spcBef>
                          <a:spcPts val="735"/>
                        </a:spcBef>
                        <a:spcAft>
                          <a:spcPts val="0"/>
                        </a:spcAft>
                      </a:pPr>
                      <a:r>
                        <a:rPr lang="en-US" sz="2100" b="0" dirty="0" err="1">
                          <a:effectLst/>
                          <a:latin typeface="Times New Roman Regular" panose="02020603050405020304" charset="0"/>
                          <a:cs typeface="Times New Roman Regular" panose="02020603050405020304" charset="0"/>
                        </a:rPr>
                        <a:t>Sl.no</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Title</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ctr">
                        <a:spcBef>
                          <a:spcPts val="735"/>
                        </a:spcBef>
                        <a:spcAft>
                          <a:spcPts val="0"/>
                        </a:spcAft>
                      </a:pPr>
                      <a:r>
                        <a:rPr lang="en-US" sz="2100" b="0" dirty="0" err="1">
                          <a:effectLst/>
                          <a:latin typeface="Times New Roman Regular" panose="02020603050405020304" charset="0"/>
                          <a:cs typeface="Times New Roman Regular" panose="02020603050405020304" charset="0"/>
                        </a:rPr>
                        <a:t>Pg.no</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1</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b="0" dirty="0" smtClean="0">
                          <a:effectLst/>
                          <a:latin typeface="Times New Roman" panose="02020603050405020304" pitchFamily="18" charset="0"/>
                          <a:ea typeface="Times New Roman" panose="02020603050405020304"/>
                          <a:cs typeface="Times New Roman" panose="02020603050405020304" pitchFamily="18" charset="0"/>
                        </a:rPr>
                        <a:t>Abstract</a:t>
                      </a:r>
                      <a:endParaRPr lang="en-US" sz="2100" b="0" dirty="0">
                        <a:effectLst/>
                        <a:latin typeface="Times New Roman" panose="02020603050405020304" pitchFamily="18" charset="0"/>
                        <a:ea typeface="Times New Roman" panose="02020603050405020304"/>
                        <a:cs typeface="Times New Roman" panose="02020603050405020304" pitchFamily="18" charset="0"/>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3</a:t>
                      </a: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2</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b="0" dirty="0">
                          <a:effectLst/>
                          <a:latin typeface="Times New Roman" panose="02020603050405020304" pitchFamily="18" charset="0"/>
                          <a:ea typeface="Times New Roman" panose="02020603050405020304"/>
                          <a:cs typeface="Times New Roman" panose="02020603050405020304" pitchFamily="18" charset="0"/>
                        </a:rPr>
                        <a:t>Introduction</a:t>
                      </a: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4</a:t>
                      </a: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3</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Literature Survey</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6</a:t>
                      </a: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4</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Summary of Research Gap </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9</a:t>
                      </a: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5</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Problem Definition</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10</a:t>
                      </a:r>
                    </a:p>
                  </a:txBody>
                  <a:tcPr marL="37169" marR="37169" marT="0" marB="0"/>
                </a:tc>
              </a:tr>
              <a:tr h="437706">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6</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Objective</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11</a:t>
                      </a: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7</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Solution Strategy</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smtClean="0">
                          <a:effectLst/>
                          <a:latin typeface="Times New Roman Regular" panose="02020603050405020304" charset="0"/>
                          <a:ea typeface="Times New Roman" panose="02020603050405020304"/>
                          <a:cs typeface="Times New Roman Regular" panose="02020603050405020304" charset="0"/>
                        </a:rPr>
                        <a:t>12</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74827">
                <a:tc>
                  <a:txBody>
                    <a:bodyPr/>
                    <a:lstStyle/>
                    <a:p>
                      <a:pPr algn="ctr">
                        <a:spcBef>
                          <a:spcPts val="735"/>
                        </a:spcBef>
                        <a:spcAft>
                          <a:spcPts val="0"/>
                        </a:spcAft>
                      </a:pPr>
                      <a:r>
                        <a:rPr lang="en-US" sz="2100" b="0">
                          <a:effectLst/>
                          <a:latin typeface="Times New Roman Regular" panose="02020603050405020304" charset="0"/>
                          <a:cs typeface="Times New Roman Regular" panose="02020603050405020304" charset="0"/>
                        </a:rPr>
                        <a:t>8</a:t>
                      </a:r>
                      <a:endParaRPr lang="en-US" sz="2100" b="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Methodology</a:t>
                      </a:r>
                      <a:endParaRPr lang="en-US" sz="2100" b="0" dirty="0">
                        <a:effectLst/>
                        <a:latin typeface="Times New Roman" panose="02020603050405020304" pitchFamily="18" charset="0"/>
                        <a:ea typeface="Times New Roman" panose="02020603050405020304"/>
                        <a:cs typeface="Times New Roman" panose="02020603050405020304" pitchFamily="18" charset="0"/>
                        <a:sym typeface="+mn-ea"/>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 13</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74827">
                <a:tc>
                  <a:txBody>
                    <a:bodyPr/>
                    <a:lstStyle/>
                    <a:p>
                      <a:pPr algn="ctr">
                        <a:spcBef>
                          <a:spcPts val="735"/>
                        </a:spcBef>
                        <a:spcAft>
                          <a:spcPts val="0"/>
                        </a:spcAft>
                      </a:pPr>
                      <a:r>
                        <a:rPr lang="en-US" sz="2100" b="0" dirty="0">
                          <a:effectLst/>
                          <a:latin typeface="Times New Roman" panose="02020603050405020304" pitchFamily="18" charset="0"/>
                          <a:ea typeface="Times New Roman" panose="02020603050405020304"/>
                          <a:cs typeface="Times New Roman" panose="02020603050405020304" pitchFamily="18" charset="0"/>
                        </a:rPr>
                        <a:t>9</a:t>
                      </a:r>
                    </a:p>
                  </a:txBody>
                  <a:tcPr marL="37169" marR="37169" marT="0" marB="0"/>
                </a:tc>
                <a:tc>
                  <a:txBody>
                    <a:bodyPr/>
                    <a:lstStyle/>
                    <a:p>
                      <a:pPr algn="just">
                        <a:spcBef>
                          <a:spcPts val="735"/>
                        </a:spcBef>
                        <a:spcAft>
                          <a:spcPts val="0"/>
                        </a:spcAft>
                      </a:pPr>
                      <a:r>
                        <a:rPr lang="en-US" sz="2100" b="0" dirty="0">
                          <a:effectLst/>
                          <a:latin typeface="Times New Roman" panose="02020603050405020304" pitchFamily="18" charset="0"/>
                          <a:ea typeface="Arial Unicode MS" panose="020B0604020202020204" pitchFamily="34" charset="-128"/>
                          <a:cs typeface="Times New Roman" panose="02020603050405020304" pitchFamily="18" charset="0"/>
                        </a:rPr>
                        <a:t>Design &amp; Devlopment</a:t>
                      </a:r>
                    </a:p>
                  </a:txBody>
                  <a:tcPr marL="37169" marR="37169" marT="0" marB="0"/>
                </a:tc>
                <a:tc>
                  <a:txBody>
                    <a:bodyPr/>
                    <a:lstStyle/>
                    <a:p>
                      <a:pPr algn="ctr">
                        <a:spcBef>
                          <a:spcPts val="735"/>
                        </a:spcBef>
                        <a:spcAft>
                          <a:spcPts val="0"/>
                        </a:spcAft>
                      </a:pPr>
                      <a:r>
                        <a:rPr lang="en-US" sz="2100" b="0" dirty="0" smtClean="0">
                          <a:effectLst/>
                          <a:latin typeface="Times New Roman Regular" panose="02020603050405020304" charset="0"/>
                          <a:ea typeface="Times New Roman" panose="02020603050405020304"/>
                          <a:cs typeface="Times New Roman Regular" panose="02020603050405020304" charset="0"/>
                        </a:rPr>
                        <a:t> 16</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74827">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10</a:t>
                      </a:r>
                    </a:p>
                  </a:txBody>
                  <a:tcPr marL="37169" marR="37169" marT="0" marB="0"/>
                </a:tc>
                <a:tc>
                  <a:txBody>
                    <a:bodyPr/>
                    <a:lstStyle/>
                    <a:p>
                      <a:pPr algn="just">
                        <a:spcBef>
                          <a:spcPts val="735"/>
                        </a:spcBef>
                        <a:spcAft>
                          <a:spcPts val="0"/>
                        </a:spcAft>
                      </a:pPr>
                      <a:r>
                        <a:rPr lang="en-US" sz="2100" b="0" dirty="0">
                          <a:effectLst/>
                          <a:latin typeface="Times New Roman" panose="02020603050405020304" pitchFamily="18" charset="0"/>
                          <a:ea typeface="Times New Roman" panose="02020603050405020304"/>
                          <a:cs typeface="Times New Roman" panose="02020603050405020304" pitchFamily="18" charset="0"/>
                        </a:rPr>
                        <a:t>Result &amp; Outcome</a:t>
                      </a: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20</a:t>
                      </a:r>
                    </a:p>
                  </a:txBody>
                  <a:tcPr marL="37169" marR="37169" marT="0" marB="0"/>
                </a:tc>
              </a:tr>
              <a:tr h="374827">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11</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b="0" dirty="0">
                          <a:effectLst/>
                          <a:latin typeface="Times New Roman" panose="02020603050405020304" pitchFamily="18" charset="0"/>
                          <a:ea typeface="Times New Roman" panose="02020603050405020304"/>
                          <a:cs typeface="Times New Roman" panose="02020603050405020304" pitchFamily="18" charset="0"/>
                        </a:rPr>
                        <a:t>Limitation &amp; Future Scope</a:t>
                      </a: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ea typeface="Times New Roman" panose="02020603050405020304"/>
                          <a:cs typeface="Times New Roman Regular" panose="02020603050405020304" charset="0"/>
                        </a:rPr>
                        <a:t>24</a:t>
                      </a:r>
                    </a:p>
                  </a:txBody>
                  <a:tcPr marL="37169" marR="37169" marT="0" marB="0"/>
                </a:tc>
              </a:tr>
              <a:tr h="374827">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12</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Gant Chart</a:t>
                      </a:r>
                      <a:endParaRPr lang="en-US" sz="2100" b="0" dirty="0">
                        <a:effectLst/>
                        <a:latin typeface="Times New Roman" panose="02020603050405020304" pitchFamily="18" charset="0"/>
                        <a:ea typeface="Times New Roman" panose="02020603050405020304"/>
                        <a:cs typeface="Times New Roman" panose="02020603050405020304" pitchFamily="18" charset="0"/>
                      </a:endParaRPr>
                    </a:p>
                  </a:txBody>
                  <a:tcPr marL="37169" marR="37169" marT="0" marB="0"/>
                </a:tc>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 </a:t>
                      </a:r>
                      <a:r>
                        <a:rPr lang="en-US" sz="2100" b="0" dirty="0" smtClean="0">
                          <a:effectLst/>
                          <a:latin typeface="Times New Roman Regular" panose="02020603050405020304" charset="0"/>
                          <a:cs typeface="Times New Roman Regular" panose="02020603050405020304" charset="0"/>
                        </a:rPr>
                        <a:t>25</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74827">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13</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dirty="0">
                          <a:effectLst/>
                          <a:latin typeface="Times New Roman" panose="02020603050405020304" pitchFamily="18" charset="0"/>
                          <a:cs typeface="Times New Roman" panose="02020603050405020304" pitchFamily="18" charset="0"/>
                          <a:sym typeface="+mn-ea"/>
                        </a:rPr>
                        <a:t>Reference</a:t>
                      </a:r>
                      <a:endParaRPr lang="en-US" sz="2100" b="0" dirty="0">
                        <a:effectLst/>
                        <a:latin typeface="Times New Roman" panose="02020603050405020304" pitchFamily="18" charset="0"/>
                        <a:ea typeface="Times New Roman" panose="02020603050405020304"/>
                        <a:cs typeface="Times New Roman" panose="02020603050405020304" pitchFamily="18" charset="0"/>
                      </a:endParaRPr>
                    </a:p>
                  </a:txBody>
                  <a:tcPr marL="37169" marR="37169" marT="0" marB="0"/>
                </a:tc>
                <a:tc>
                  <a:txBody>
                    <a:bodyPr/>
                    <a:lstStyle/>
                    <a:p>
                      <a:pPr algn="ctr">
                        <a:spcBef>
                          <a:spcPts val="735"/>
                        </a:spcBef>
                        <a:spcAft>
                          <a:spcPts val="0"/>
                        </a:spcAft>
                      </a:pPr>
                      <a:r>
                        <a:rPr lang="en-US" sz="2100" b="0" dirty="0" smtClean="0">
                          <a:effectLst/>
                          <a:latin typeface="Times New Roman Regular" panose="02020603050405020304" charset="0"/>
                          <a:cs typeface="Times New Roman Regular" panose="02020603050405020304" charset="0"/>
                        </a:rPr>
                        <a:t>26</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r h="388029">
                <a:tc>
                  <a:txBody>
                    <a:bodyPr/>
                    <a:lstStyle/>
                    <a:p>
                      <a:pPr algn="ctr">
                        <a:spcBef>
                          <a:spcPts val="735"/>
                        </a:spcBef>
                        <a:spcAft>
                          <a:spcPts val="0"/>
                        </a:spcAft>
                      </a:pPr>
                      <a:r>
                        <a:rPr lang="en-US" sz="2100" b="0" dirty="0">
                          <a:effectLst/>
                          <a:latin typeface="Times New Roman Regular" panose="02020603050405020304" charset="0"/>
                          <a:cs typeface="Times New Roman Regular" panose="02020603050405020304" charset="0"/>
                        </a:rPr>
                        <a:t>14</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c>
                  <a:txBody>
                    <a:bodyPr/>
                    <a:lstStyle/>
                    <a:p>
                      <a:pPr algn="just">
                        <a:spcBef>
                          <a:spcPts val="735"/>
                        </a:spcBef>
                        <a:spcAft>
                          <a:spcPts val="0"/>
                        </a:spcAft>
                      </a:pPr>
                      <a:r>
                        <a:rPr lang="en-US" sz="2100" b="0" dirty="0">
                          <a:effectLst/>
                          <a:latin typeface="Times New Roman" panose="02020603050405020304" pitchFamily="18" charset="0"/>
                          <a:ea typeface="Times New Roman" panose="02020603050405020304"/>
                          <a:cs typeface="Times New Roman" panose="02020603050405020304" pitchFamily="18" charset="0"/>
                        </a:rPr>
                        <a:t>Acknowledgements</a:t>
                      </a:r>
                    </a:p>
                  </a:txBody>
                  <a:tcPr marL="37169" marR="37169" marT="0" marB="0"/>
                </a:tc>
                <a:tc>
                  <a:txBody>
                    <a:bodyPr/>
                    <a:lstStyle/>
                    <a:p>
                      <a:pPr algn="ctr">
                        <a:spcBef>
                          <a:spcPts val="735"/>
                        </a:spcBef>
                        <a:spcAft>
                          <a:spcPts val="0"/>
                        </a:spcAft>
                      </a:pPr>
                      <a:r>
                        <a:rPr lang="en-US" sz="2100" b="0" dirty="0" smtClean="0">
                          <a:effectLst/>
                          <a:latin typeface="Times New Roman Regular" panose="02020603050405020304" charset="0"/>
                          <a:cs typeface="Times New Roman Regular" panose="02020603050405020304" charset="0"/>
                        </a:rPr>
                        <a:t>27</a:t>
                      </a:r>
                      <a:endParaRPr lang="en-US" sz="2100" b="0" dirty="0">
                        <a:effectLst/>
                        <a:latin typeface="Times New Roman Regular" panose="02020603050405020304" charset="0"/>
                        <a:ea typeface="Times New Roman" panose="02020603050405020304"/>
                        <a:cs typeface="Times New Roman Regular" panose="02020603050405020304" charset="0"/>
                      </a:endParaRPr>
                    </a:p>
                  </a:txBody>
                  <a:tcPr marL="37169" marR="37169" marT="0" marB="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1330"/>
            <a:ext cx="10972800" cy="609600"/>
          </a:xfrm>
        </p:spPr>
        <p:txBody>
          <a:bodyPr>
            <a:normAutofit/>
          </a:bodyPr>
          <a:lstStyle/>
          <a:p>
            <a:r>
              <a:rPr lang="en-US" sz="2800" b="1" dirty="0">
                <a:latin typeface="Times New Roman Bold" panose="02020603050405020304" charset="0"/>
                <a:cs typeface="Times New Roman Bold" panose="02020603050405020304" charset="0"/>
              </a:rPr>
              <a:t>ABSTRACT</a:t>
            </a:r>
          </a:p>
        </p:txBody>
      </p:sp>
      <p:sp>
        <p:nvSpPr>
          <p:cNvPr id="3" name="Content Placeholder 2"/>
          <p:cNvSpPr>
            <a:spLocks noGrp="1"/>
          </p:cNvSpPr>
          <p:nvPr>
            <p:ph idx="1"/>
          </p:nvPr>
        </p:nvSpPr>
        <p:spPr>
          <a:xfrm>
            <a:off x="609600" y="1600203"/>
            <a:ext cx="10972800" cy="4525963"/>
          </a:xfrm>
        </p:spPr>
        <p:txBody>
          <a:bodyPr>
            <a:noAutofit/>
          </a:bodyPr>
          <a:lstStyle/>
          <a:p>
            <a:pPr algn="just"/>
            <a:r>
              <a:rPr lang="en-US" altLang="en-US" sz="2100" dirty="0">
                <a:latin typeface="Times New Roman" panose="02020603050405020304" pitchFamily="18" charset="0"/>
                <a:cs typeface="Times New Roman" panose="02020603050405020304" pitchFamily="18" charset="0"/>
              </a:rPr>
              <a:t>Natural hazard that can seriously harm people, property, and infrastructure is landslides.  In order to lower risks and assist disaster management teams, early detection is crucial.  In this research, we used deep learning to create a landslide detection and segmentation model.  The model employs an Attention U-Net design, which helps the network concentrate on crucial landslide locations while lowering background noise, and is trained on the Bijie Landslide Dataset.</a:t>
            </a:r>
          </a:p>
          <a:p>
            <a:pPr algn="just"/>
            <a:endParaRPr lang="en-US" altLang="en-US" sz="2100" dirty="0">
              <a:latin typeface="Times New Roman" panose="02020603050405020304" pitchFamily="18" charset="0"/>
              <a:cs typeface="Times New Roman" panose="02020603050405020304" pitchFamily="18" charset="0"/>
            </a:endParaRPr>
          </a:p>
          <a:p>
            <a:pPr algn="just"/>
            <a:r>
              <a:rPr lang="en-US" altLang="en-US" sz="2100" dirty="0">
                <a:latin typeface="Times New Roman" panose="02020603050405020304" pitchFamily="18" charset="0"/>
                <a:cs typeface="Times New Roman" panose="02020603050405020304" pitchFamily="18" charset="0"/>
              </a:rPr>
              <a:t> To test the performance of the model, numerous measures were utilized, including Pixel Accuracy, Precision, Recall, F1-Score, and Dice Coefficient.  The model is optimized using a combination of Binary Cross-Entropy (BCE) and Dice Loss to accommodate the dataset’s class imbalance.The outcomes demonstrate that the model has dependable segmentation performance and can accurately anticipate landslide masks.</a:t>
            </a:r>
          </a:p>
        </p:txBody>
      </p:sp>
      <p:sp>
        <p:nvSpPr>
          <p:cNvPr id="4" name="Slide Number Placeholder 3"/>
          <p:cNvSpPr>
            <a:spLocks noGrp="1"/>
          </p:cNvSpPr>
          <p:nvPr>
            <p:ph type="sldNum" sz="quarter" idx="12"/>
          </p:nvPr>
        </p:nvSpPr>
        <p:spPr/>
        <p:txBody>
          <a:bodyPr/>
          <a:lstStyle/>
          <a:p>
            <a:fld id="{AE58FF4D-9703-46B8-851C-DA8FCFE4D55D}" type="slidenum">
              <a:rPr lang="en-US" smtClean="0"/>
              <a:t>3</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560" y="185"/>
            <a:ext cx="10972800" cy="609600"/>
          </a:xfrm>
        </p:spPr>
        <p:txBody>
          <a:bodyPr>
            <a:normAutofit/>
          </a:bodyPr>
          <a:lstStyle/>
          <a:p>
            <a:r>
              <a:rPr lang="en-US" sz="2800" b="1" dirty="0">
                <a:latin typeface="Times New Roman Bold" panose="02020603050405020304" charset="0"/>
                <a:cs typeface="Times New Roman Bold" panose="02020603050405020304" charset="0"/>
              </a:rPr>
              <a:t>INTRODUCTION</a:t>
            </a:r>
          </a:p>
        </p:txBody>
      </p:sp>
      <p:sp>
        <p:nvSpPr>
          <p:cNvPr id="3" name="Content Placeholder 2"/>
          <p:cNvSpPr>
            <a:spLocks noGrp="1"/>
          </p:cNvSpPr>
          <p:nvPr>
            <p:ph idx="1"/>
          </p:nvPr>
        </p:nvSpPr>
        <p:spPr>
          <a:xfrm>
            <a:off x="609600" y="1225550"/>
            <a:ext cx="10972800" cy="5130800"/>
          </a:xfrm>
        </p:spPr>
        <p:txBody>
          <a:bodyPr>
            <a:noAutofit/>
          </a:bodyPr>
          <a:lstStyle/>
          <a:p>
            <a:pPr algn="just"/>
            <a:r>
              <a:rPr lang="en-US" altLang="en-US" sz="2100" dirty="0">
                <a:latin typeface="Times New Roman" panose="02020603050405020304" pitchFamily="18" charset="0"/>
                <a:cs typeface="Times New Roman" panose="02020603050405020304" pitchFamily="18" charset="0"/>
              </a:rPr>
              <a:t>Landslides are dangerous movements of earth and rock that can damage property, obstruct highways, and put human lives at risk, which makes early diagnosis vitally crucial.  Conventional detection techniques rely on manually analyzing satellite or ground photos, which is laborious, slow, and unsuitable for big or difficult-to-reach locations.</a:t>
            </a:r>
          </a:p>
          <a:p>
            <a:pPr algn="just"/>
            <a:endParaRPr lang="en-US" altLang="en-US" sz="2100" dirty="0">
              <a:latin typeface="Times New Roman" panose="02020603050405020304" pitchFamily="18" charset="0"/>
              <a:cs typeface="Times New Roman" panose="02020603050405020304" pitchFamily="18" charset="0"/>
            </a:endParaRPr>
          </a:p>
          <a:p>
            <a:pPr algn="just"/>
            <a:r>
              <a:rPr lang="en-US" altLang="en-US" sz="2100" dirty="0">
                <a:latin typeface="Times New Roman" panose="02020603050405020304" pitchFamily="18" charset="0"/>
                <a:cs typeface="Times New Roman" panose="02020603050405020304" pitchFamily="18" charset="0"/>
              </a:rPr>
              <a:t> To solve this challenge, our project uses a deep learning strategy based on the Attention U-Net model to automatically locate and highlight landslide-affected locations in photos.  The precise location of the landslide is displayed in a crisp segmentation mask produced by the model.  Metrics including Precision, Recall, F1-Score, Dice Score, and Pixel Accuracy are used to assess its performance.</a:t>
            </a:r>
          </a:p>
          <a:p>
            <a:pPr algn="just"/>
            <a:endParaRPr lang="en-US" altLang="en-US" sz="2100" dirty="0">
              <a:latin typeface="Times New Roman" panose="02020603050405020304" pitchFamily="18" charset="0"/>
              <a:cs typeface="Times New Roman" panose="02020603050405020304" pitchFamily="18" charset="0"/>
            </a:endParaRPr>
          </a:p>
          <a:p>
            <a:pPr algn="just"/>
            <a:r>
              <a:rPr lang="en-US" altLang="en-US" sz="2100" dirty="0">
                <a:latin typeface="Times New Roman" panose="02020603050405020304" pitchFamily="18" charset="0"/>
                <a:cs typeface="Times New Roman" panose="02020603050405020304" pitchFamily="18" charset="0"/>
              </a:rPr>
              <a:t>Overall, this technology provides a faster, more accurate, and more efficient option for landslide identification, helping in risk assessment and supporting disaster management teams.</a:t>
            </a:r>
          </a:p>
        </p:txBody>
      </p:sp>
      <p:sp>
        <p:nvSpPr>
          <p:cNvPr id="4" name="Slide Number Placeholder 3"/>
          <p:cNvSpPr>
            <a:spLocks noGrp="1"/>
          </p:cNvSpPr>
          <p:nvPr>
            <p:ph type="sldNum" sz="quarter" idx="12"/>
          </p:nvPr>
        </p:nvSpPr>
        <p:spPr/>
        <p:txBody>
          <a:bodyPr/>
          <a:lstStyle/>
          <a:p>
            <a:fld id="{AE58FF4D-9703-46B8-851C-DA8FCFE4D55D}" type="slidenum">
              <a:rPr lang="en-US" smtClean="0"/>
              <a:t>4</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5"/>
            <a:ext cx="10972800" cy="609600"/>
          </a:xfrm>
        </p:spPr>
        <p:txBody>
          <a:bodyPr>
            <a:normAutofit/>
          </a:bodyPr>
          <a:lstStyle/>
          <a:p>
            <a:r>
              <a:rPr lang="en-US" sz="2800" b="1" dirty="0">
                <a:latin typeface="Times New Roman Bold" panose="02020603050405020304" charset="0"/>
                <a:cs typeface="Times New Roman Bold" panose="02020603050405020304" charset="0"/>
                <a:sym typeface="+mn-ea"/>
              </a:rPr>
              <a:t>TYPES</a:t>
            </a:r>
            <a:r>
              <a:rPr lang="en-US" sz="2800" b="1" dirty="0">
                <a:effectLst>
                  <a:outerShdw blurRad="38100" dist="38100" dir="2700000" algn="tl">
                    <a:srgbClr val="000000">
                      <a:alpha val="43137"/>
                    </a:srgbClr>
                  </a:outerShdw>
                </a:effectLst>
                <a:latin typeface="Times New Roman Bold" panose="02020603050405020304" charset="0"/>
                <a:cs typeface="Times New Roman Bold" panose="02020603050405020304" charset="0"/>
                <a:sym typeface="+mn-ea"/>
              </a:rPr>
              <a:t> </a:t>
            </a:r>
            <a:r>
              <a:rPr lang="en-US" sz="2800" b="1" dirty="0">
                <a:latin typeface="Times New Roman Bold" panose="02020603050405020304" charset="0"/>
                <a:cs typeface="Times New Roman Bold" panose="02020603050405020304" charset="0"/>
                <a:sym typeface="+mn-ea"/>
              </a:rPr>
              <a:t>OF LANDSLIDE</a:t>
            </a:r>
            <a:endParaRPr lang="en-US" sz="2800" dirty="0"/>
          </a:p>
        </p:txBody>
      </p:sp>
      <p:sp>
        <p:nvSpPr>
          <p:cNvPr id="3" name="Content Placeholder 2"/>
          <p:cNvSpPr>
            <a:spLocks noGrp="1"/>
          </p:cNvSpPr>
          <p:nvPr>
            <p:ph idx="1"/>
          </p:nvPr>
        </p:nvSpPr>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fld id="{AE58FF4D-9703-46B8-851C-DA8FCFE4D55D}" type="slidenum">
              <a:rPr lang="en-US" smtClean="0"/>
              <a:t>5</a:t>
            </a:fld>
            <a:endParaRPr lang="en-US"/>
          </a:p>
        </p:txBody>
      </p:sp>
      <p:pic>
        <p:nvPicPr>
          <p:cNvPr id="5" name="Image 5"/>
          <p:cNvPicPr/>
          <p:nvPr/>
        </p:nvPicPr>
        <p:blipFill>
          <a:blip r:embed="rId2" cstate="print"/>
          <a:stretch>
            <a:fillRect/>
          </a:stretch>
        </p:blipFill>
        <p:spPr>
          <a:xfrm>
            <a:off x="609600" y="1153160"/>
            <a:ext cx="1935480" cy="1504315"/>
          </a:xfrm>
          <a:prstGeom prst="rect">
            <a:avLst/>
          </a:prstGeom>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 6"/>
          <p:cNvPicPr/>
          <p:nvPr/>
        </p:nvPicPr>
        <p:blipFill>
          <a:blip r:embed="rId4" cstate="print"/>
          <a:stretch>
            <a:fillRect/>
          </a:stretch>
        </p:blipFill>
        <p:spPr>
          <a:xfrm>
            <a:off x="6802120" y="1153160"/>
            <a:ext cx="1935480" cy="1375410"/>
          </a:xfrm>
          <a:prstGeom prst="rect">
            <a:avLst/>
          </a:prstGeom>
        </p:spPr>
      </p:pic>
      <p:sp>
        <p:nvSpPr>
          <p:cNvPr id="10" name="Text Box 9"/>
          <p:cNvSpPr txBox="1"/>
          <p:nvPr/>
        </p:nvSpPr>
        <p:spPr>
          <a:xfrm>
            <a:off x="609600" y="2762885"/>
            <a:ext cx="10972800" cy="975360"/>
          </a:xfrm>
          <a:prstGeom prst="rect">
            <a:avLst/>
          </a:prstGeom>
          <a:noFill/>
        </p:spPr>
        <p:txBody>
          <a:bodyPr wrap="square" rtlCol="0">
            <a:noAutofit/>
          </a:bodyPr>
          <a:lstStyle/>
          <a:p>
            <a:pPr marL="285750" indent="-285750">
              <a:buFont typeface="Arial" panose="020B0704020202020204" pitchFamily="34" charset="0"/>
              <a:buChar char="•"/>
            </a:pPr>
            <a:r>
              <a:rPr lang="en-US" altLang="en-US" sz="2000" b="1" dirty="0">
                <a:latin typeface="Times New Roman Bold" panose="02020603050405020304" charset="0"/>
                <a:cs typeface="Times New Roman Bold" panose="02020603050405020304" charset="0"/>
              </a:rPr>
              <a:t>Topple: </a:t>
            </a:r>
            <a:r>
              <a:rPr lang="en-US" altLang="en-US" sz="2000" dirty="0">
                <a:latin typeface="Times New Roman" panose="02020603050405020304" pitchFamily="18" charset="0"/>
                <a:cs typeface="Times New Roman" panose="02020603050405020304" pitchFamily="18" charset="0"/>
              </a:rPr>
              <a:t>Sudden free fall of rock/soil from steep slopes or </a:t>
            </a:r>
            <a:r>
              <a:rPr lang="en-US" altLang="en-US" sz="2000" dirty="0" err="1" smtClean="0">
                <a:latin typeface="Times New Roman" panose="02020603050405020304" pitchFamily="18" charset="0"/>
                <a:cs typeface="Times New Roman" panose="02020603050405020304" pitchFamily="18" charset="0"/>
              </a:rPr>
              <a:t>cliffs.Very</a:t>
            </a: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fast &amp; destructive; accumulates as talus at slope base.</a:t>
            </a:r>
          </a:p>
        </p:txBody>
      </p:sp>
      <p:sp>
        <p:nvSpPr>
          <p:cNvPr id="12" name="Text Box 11"/>
          <p:cNvSpPr txBox="1"/>
          <p:nvPr/>
        </p:nvSpPr>
        <p:spPr>
          <a:xfrm>
            <a:off x="609600" y="3853180"/>
            <a:ext cx="10444480" cy="1102995"/>
          </a:xfrm>
          <a:prstGeom prst="rect">
            <a:avLst/>
          </a:prstGeom>
          <a:noFill/>
        </p:spPr>
        <p:txBody>
          <a:bodyPr wrap="square" rtlCol="0">
            <a:noAutofit/>
          </a:bodyPr>
          <a:lstStyle/>
          <a:p>
            <a:pPr marL="285750" indent="-285750">
              <a:buFont typeface="Arial" panose="020B0704020202020204" pitchFamily="34" charset="0"/>
              <a:buChar char="•"/>
            </a:pPr>
            <a:r>
              <a:rPr lang="en-US" altLang="en-US" sz="2000" b="1" dirty="0">
                <a:latin typeface="Times New Roman Bold" panose="02020603050405020304" charset="0"/>
                <a:cs typeface="Times New Roman Bold" panose="02020603050405020304" charset="0"/>
              </a:rPr>
              <a:t>Slide: </a:t>
            </a:r>
            <a:r>
              <a:rPr lang="en-US" altLang="en-US" sz="2000" dirty="0">
                <a:latin typeface="Times New Roman" panose="02020603050405020304" pitchFamily="18" charset="0"/>
                <a:cs typeface="Times New Roman" panose="02020603050405020304" pitchFamily="18" charset="0"/>
              </a:rPr>
              <a:t>Forward tilting/rotation of rock or soil </a:t>
            </a:r>
            <a:r>
              <a:rPr lang="en-US" altLang="en-US" sz="2000" dirty="0" err="1" smtClean="0">
                <a:latin typeface="Times New Roman" panose="02020603050405020304" pitchFamily="18" charset="0"/>
                <a:cs typeface="Times New Roman" panose="02020603050405020304" pitchFamily="18" charset="0"/>
              </a:rPr>
              <a:t>blocks.Often</a:t>
            </a: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caused by undercutting, water seepage, or overhangs.</a:t>
            </a:r>
          </a:p>
        </p:txBody>
      </p:sp>
      <p:pic>
        <p:nvPicPr>
          <p:cNvPr id="9" name="Image 8"/>
          <p:cNvPicPr/>
          <p:nvPr/>
        </p:nvPicPr>
        <p:blipFill>
          <a:blip r:embed="rId5" cstate="print"/>
          <a:stretch>
            <a:fillRect/>
          </a:stretch>
        </p:blipFill>
        <p:spPr>
          <a:xfrm>
            <a:off x="9646920" y="1153160"/>
            <a:ext cx="1935480" cy="1432560"/>
          </a:xfrm>
          <a:prstGeom prst="rect">
            <a:avLst/>
          </a:prstGeom>
        </p:spPr>
      </p:pic>
      <p:sp>
        <p:nvSpPr>
          <p:cNvPr id="8" name="Text Box 7"/>
          <p:cNvSpPr txBox="1"/>
          <p:nvPr/>
        </p:nvSpPr>
        <p:spPr>
          <a:xfrm>
            <a:off x="609600" y="4876800"/>
            <a:ext cx="10972800" cy="707886"/>
          </a:xfrm>
          <a:prstGeom prst="rect">
            <a:avLst/>
          </a:prstGeom>
          <a:noFill/>
        </p:spPr>
        <p:txBody>
          <a:bodyPr wrap="square" rtlCol="0">
            <a:spAutoFit/>
          </a:bodyPr>
          <a:lstStyle/>
          <a:p>
            <a:pPr marL="285750" indent="-285750">
              <a:buFont typeface="Arial" panose="020B0704020202020204" pitchFamily="34" charset="0"/>
              <a:buChar char="•"/>
            </a:pPr>
            <a:r>
              <a:rPr lang="en-US" altLang="en-US" sz="2000" b="1" dirty="0">
                <a:latin typeface="Times New Roman Bold" panose="02020603050405020304" charset="0"/>
                <a:cs typeface="Times New Roman Bold" panose="02020603050405020304" charset="0"/>
              </a:rPr>
              <a:t>Lateral Spread: </a:t>
            </a:r>
            <a:r>
              <a:rPr lang="en-US" altLang="en-US" sz="2000" dirty="0">
                <a:latin typeface="Times New Roman" panose="02020603050405020304" pitchFamily="18" charset="0"/>
                <a:cs typeface="Times New Roman" panose="02020603050405020304" pitchFamily="18" charset="0"/>
              </a:rPr>
              <a:t>Horizontal movement of ground over </a:t>
            </a:r>
            <a:r>
              <a:rPr lang="en-US" altLang="en-US" sz="2000" dirty="0" smtClean="0">
                <a:latin typeface="Times New Roman" panose="02020603050405020304" pitchFamily="18" charset="0"/>
                <a:cs typeface="Times New Roman" panose="02020603050405020304" pitchFamily="18" charset="0"/>
              </a:rPr>
              <a:t>weak/liquefied </a:t>
            </a:r>
            <a:r>
              <a:rPr lang="en-US" altLang="en-US" sz="2000" dirty="0" err="1" smtClean="0">
                <a:latin typeface="Times New Roman" panose="02020603050405020304" pitchFamily="18" charset="0"/>
                <a:cs typeface="Times New Roman" panose="02020603050405020304" pitchFamily="18" charset="0"/>
              </a:rPr>
              <a:t>layers.Damages</a:t>
            </a: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infrastructure in flat, waterlogged terrains.</a:t>
            </a:r>
          </a:p>
        </p:txBody>
      </p:sp>
      <p:pic>
        <p:nvPicPr>
          <p:cNvPr id="11" name="Image 7"/>
          <p:cNvPicPr/>
          <p:nvPr/>
        </p:nvPicPr>
        <p:blipFill>
          <a:blip r:embed="rId6" cstate="print"/>
          <a:stretch>
            <a:fillRect/>
          </a:stretch>
        </p:blipFill>
        <p:spPr>
          <a:xfrm>
            <a:off x="3667125" y="1153160"/>
            <a:ext cx="1880235" cy="1459865"/>
          </a:xfrm>
          <a:prstGeom prst="rect">
            <a:avLst/>
          </a:prstGeom>
        </p:spPr>
      </p:pic>
      <p:sp>
        <p:nvSpPr>
          <p:cNvPr id="13" name="Text Box 12"/>
          <p:cNvSpPr txBox="1"/>
          <p:nvPr/>
        </p:nvSpPr>
        <p:spPr>
          <a:xfrm>
            <a:off x="609600" y="5891530"/>
            <a:ext cx="10972800" cy="794385"/>
          </a:xfrm>
          <a:prstGeom prst="rect">
            <a:avLst/>
          </a:prstGeom>
          <a:noFill/>
        </p:spPr>
        <p:txBody>
          <a:bodyPr wrap="square" rtlCol="0">
            <a:noAutofit/>
          </a:bodyPr>
          <a:lstStyle/>
          <a:p>
            <a:pPr marL="285750" indent="-285750">
              <a:buFont typeface="Arial" panose="020B0704020202020204" pitchFamily="34" charset="0"/>
              <a:buChar char="•"/>
            </a:pPr>
            <a:r>
              <a:rPr lang="en-US" altLang="en-US" sz="2000" b="1" dirty="0">
                <a:latin typeface="Times New Roman Bold" panose="02020603050405020304" charset="0"/>
                <a:cs typeface="Times New Roman Bold" panose="02020603050405020304" charset="0"/>
              </a:rPr>
              <a:t>Fall: </a:t>
            </a:r>
            <a:r>
              <a:rPr lang="en-US" altLang="en-US" sz="2000" dirty="0">
                <a:latin typeface="Times New Roman" panose="02020603050405020304" pitchFamily="18" charset="0"/>
                <a:cs typeface="Times New Roman" panose="02020603050405020304" pitchFamily="18" charset="0"/>
              </a:rPr>
              <a:t>Downslope movement along curved or planar slip </a:t>
            </a:r>
            <a:r>
              <a:rPr lang="en-US" altLang="en-US" sz="2000" dirty="0" err="1" smtClean="0">
                <a:latin typeface="Times New Roman" panose="02020603050405020304" pitchFamily="18" charset="0"/>
                <a:cs typeface="Times New Roman" panose="02020603050405020304" pitchFamily="18" charset="0"/>
              </a:rPr>
              <a:t>surfaces.Triggered</a:t>
            </a:r>
            <a:r>
              <a:rPr lang="en-US" altLang="en-US" sz="2000" dirty="0" smtClean="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by rainfall, earthquakes, or human activity.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50" y="38100"/>
            <a:ext cx="10972800" cy="525145"/>
          </a:xfrm>
        </p:spPr>
        <p:txBody>
          <a:bodyPr>
            <a:noAutofit/>
          </a:bodyPr>
          <a:lstStyle/>
          <a:p>
            <a:r>
              <a:rPr lang="en-US" sz="2800" b="1" dirty="0">
                <a:latin typeface="Times New Roman Bold" panose="02020603050405020304" charset="0"/>
                <a:cs typeface="Times New Roman Bold" panose="02020603050405020304" charset="0"/>
              </a:rPr>
              <a:t>LITERATURE</a:t>
            </a:r>
            <a:r>
              <a:rPr lang="en-US" sz="2800" b="1" dirty="0">
                <a:effectLst>
                  <a:outerShdw blurRad="38100" dist="38100" dir="2700000" algn="tl">
                    <a:srgbClr val="000000">
                      <a:alpha val="43137"/>
                    </a:srgbClr>
                  </a:outerShdw>
                </a:effectLst>
                <a:latin typeface="Times New Roman Bold" panose="02020603050405020304" charset="0"/>
                <a:cs typeface="Times New Roman Bold" panose="02020603050405020304" charset="0"/>
              </a:rPr>
              <a:t> </a:t>
            </a:r>
            <a:r>
              <a:rPr lang="en-US" sz="2800" b="1" dirty="0">
                <a:latin typeface="Times New Roman Bold" panose="02020603050405020304" charset="0"/>
                <a:cs typeface="Times New Roman Bold" panose="02020603050405020304" charset="0"/>
              </a:rPr>
              <a:t>REVIEW</a:t>
            </a:r>
          </a:p>
        </p:txBody>
      </p:sp>
      <p:sp>
        <p:nvSpPr>
          <p:cNvPr id="4" name="Slide Number Placeholder 3"/>
          <p:cNvSpPr>
            <a:spLocks noGrp="1"/>
          </p:cNvSpPr>
          <p:nvPr>
            <p:ph type="sldNum" sz="quarter" idx="12"/>
          </p:nvPr>
        </p:nvSpPr>
        <p:spPr/>
        <p:txBody>
          <a:bodyPr/>
          <a:lstStyle/>
          <a:p>
            <a:fld id="{AE58FF4D-9703-46B8-851C-DA8FCFE4D55D}" type="slidenum">
              <a:rPr lang="en-US" smtClean="0"/>
              <a:t>6</a:t>
            </a:fld>
            <a:endParaRPr lang="en-US"/>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p:cNvGraphicFramePr/>
          <p:nvPr/>
        </p:nvGraphicFramePr>
        <p:xfrm>
          <a:off x="730250" y="1084580"/>
          <a:ext cx="10972800" cy="5104765"/>
        </p:xfrm>
        <a:graphic>
          <a:graphicData uri="http://schemas.openxmlformats.org/drawingml/2006/table">
            <a:tbl>
              <a:tblPr/>
              <a:tblGrid>
                <a:gridCol w="2194560"/>
                <a:gridCol w="2194560"/>
                <a:gridCol w="2194560"/>
                <a:gridCol w="2194560"/>
                <a:gridCol w="2194560"/>
              </a:tblGrid>
              <a:tr h="739140">
                <a:tc>
                  <a:txBody>
                    <a:bodyPr/>
                    <a:lstStyle/>
                    <a:p>
                      <a:pPr marL="0" indent="0" algn="ctr">
                        <a:spcBef>
                          <a:spcPct val="0"/>
                        </a:spcBef>
                        <a:spcAft>
                          <a:spcPct val="0"/>
                        </a:spcAft>
                      </a:pPr>
                      <a:r>
                        <a:rPr sz="1600" b="1" dirty="0">
                          <a:latin typeface="Times New Roman" panose="02020603050405020304" pitchFamily="18" charset="0"/>
                          <a:ea typeface="Times New Roman" panose="02020603050405020304"/>
                          <a:cs typeface="Times New Roman" panose="02020603050405020304" pitchFamily="18" charset="0"/>
                        </a:rPr>
                        <a:t>Author Name , Journal Name , </a:t>
                      </a:r>
                      <a:r>
                        <a:rPr sz="1600" b="1" dirty="0" err="1">
                          <a:latin typeface="Times New Roman" panose="02020603050405020304" pitchFamily="18" charset="0"/>
                          <a:ea typeface="Times New Roman" panose="02020603050405020304"/>
                          <a:cs typeface="Times New Roman" panose="02020603050405020304" pitchFamily="18" charset="0"/>
                        </a:rPr>
                        <a:t>Vol</a:t>
                      </a:r>
                      <a:r>
                        <a:rPr sz="1600" b="1" dirty="0">
                          <a:latin typeface="Times New Roman" panose="02020603050405020304" pitchFamily="18" charset="0"/>
                          <a:ea typeface="Times New Roman" panose="02020603050405020304"/>
                          <a:cs typeface="Times New Roman" panose="02020603050405020304" pitchFamily="18" charset="0"/>
                        </a:rPr>
                        <a:t> Page , Year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Title of the Paper</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Inference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Relevance with the present work / Motivation.</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sz="1600" b="1" dirty="0">
                          <a:latin typeface="Times New Roman" panose="02020603050405020304" pitchFamily="18" charset="0"/>
                          <a:ea typeface="Times New Roman" panose="02020603050405020304"/>
                          <a:cs typeface="Times New Roman" panose="02020603050405020304" pitchFamily="18" charset="0"/>
                        </a:rPr>
                        <a:t>Research Gap</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365625">
                <a:tc>
                  <a:txBody>
                    <a:bodyPr/>
                    <a:lstStyle/>
                    <a:p>
                      <a:pPr marL="0" indent="0" algn="just">
                        <a:spcBef>
                          <a:spcPct val="0"/>
                        </a:spcBef>
                        <a:spcAft>
                          <a:spcPct val="0"/>
                        </a:spcAft>
                      </a:pPr>
                      <a:r>
                        <a:rPr sz="1600" b="1" dirty="0">
                          <a:latin typeface="Times New Roman" panose="02020603050405020304" pitchFamily="18" charset="0"/>
                          <a:ea typeface="Times New Roman" panose="02020603050405020304"/>
                          <a:cs typeface="Times New Roman" panose="02020603050405020304" pitchFamily="18" charset="0"/>
                        </a:rPr>
                        <a:t>[1] </a:t>
                      </a:r>
                      <a:r>
                        <a:rPr sz="1600" b="0" dirty="0">
                          <a:latin typeface="Times New Roman" panose="02020603050405020304" pitchFamily="18" charset="0"/>
                          <a:ea typeface="Times New Roman" panose="02020603050405020304"/>
                          <a:cs typeface="Times New Roman" panose="02020603050405020304" pitchFamily="18" charset="0"/>
                        </a:rPr>
                        <a:t>S. R. </a:t>
                      </a:r>
                      <a:r>
                        <a:rPr sz="1600" b="0" dirty="0" err="1">
                          <a:latin typeface="Times New Roman" panose="02020603050405020304" pitchFamily="18" charset="0"/>
                          <a:ea typeface="Times New Roman" panose="02020603050405020304"/>
                          <a:cs typeface="Times New Roman" panose="02020603050405020304" pitchFamily="18" charset="0"/>
                        </a:rPr>
                        <a:t>Meena</a:t>
                      </a:r>
                      <a:r>
                        <a:rPr sz="1600" b="0" dirty="0">
                          <a:latin typeface="Times New Roman" panose="02020603050405020304" pitchFamily="18" charset="0"/>
                          <a:ea typeface="Times New Roman" panose="02020603050405020304"/>
                          <a:cs typeface="Times New Roman" panose="02020603050405020304" pitchFamily="18" charset="0"/>
                        </a:rPr>
                        <a:t> et al., Landslides, Vol. 19, 1209–1229 (2022)</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Landslides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Used ML models and U-Net for landslide detection in the Himalayas.  U-Net performed best with ~76% MCC.  Adding DEM/topographic data helped differentiate terrain features.</a:t>
                      </a:r>
                    </a:p>
                    <a:p>
                      <a:pPr marL="0"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Shows how U-Net–based image segmentation can detect natural hazards from satellite images.</a:t>
                      </a:r>
                      <a:br>
                        <a:rPr sz="1600" b="0">
                          <a:latin typeface="Times New Roman" panose="02020603050405020304" pitchFamily="18" charset="0"/>
                          <a:ea typeface="Times New Roman" panose="02020603050405020304"/>
                          <a:cs typeface="Times New Roman" panose="02020603050405020304" pitchFamily="18" charset="0"/>
                        </a:rPr>
                      </a:br>
                      <a:r>
                        <a:rPr sz="1600" b="0">
                          <a:latin typeface="Times New Roman" panose="02020603050405020304" pitchFamily="18" charset="0"/>
                          <a:ea typeface="Times New Roman" panose="02020603050405020304"/>
                          <a:cs typeface="Times New Roman" panose="02020603050405020304" pitchFamily="18" charset="0"/>
                        </a:rPr>
                        <a:t/>
                      </a:r>
                      <a:br>
                        <a:rPr sz="1600" b="0">
                          <a:latin typeface="Times New Roman" panose="02020603050405020304" pitchFamily="18" charset="0"/>
                          <a:ea typeface="Times New Roman" panose="02020603050405020304"/>
                          <a:cs typeface="Times New Roman" panose="02020603050405020304" pitchFamily="18" charset="0"/>
                        </a:rPr>
                      </a:br>
                      <a:r>
                        <a:rPr sz="1600" b="0">
                          <a:latin typeface="Times New Roman" panose="02020603050405020304" pitchFamily="18" charset="0"/>
                          <a:ea typeface="Times New Roman" panose="02020603050405020304"/>
                          <a:cs typeface="Times New Roman" panose="02020603050405020304" pitchFamily="18" charset="0"/>
                        </a:rPr>
                        <a:t>Useful because your work also uses CNN/U-Net and image-based classification.</a:t>
                      </a:r>
                    </a:p>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Demonstrates remote-sensing applications similar to environmental/agri-vision tasks.</a:t>
                      </a:r>
                    </a:p>
                    <a:p>
                      <a:pPr marL="0"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Small dataset; limited generalization.</a:t>
                      </a:r>
                    </a:p>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DEM fusion didn’t always improve results → need better multimodal fusion.</a:t>
                      </a:r>
                    </a:p>
                    <a:p>
                      <a:pPr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U-Net still early in landslide domain; needs large, diverse datasets.</a:t>
                      </a:r>
                    </a:p>
                    <a:p>
                      <a:pPr algn="just">
                        <a:spcBef>
                          <a:spcPts val="500"/>
                        </a:spcBef>
                        <a:spcAft>
                          <a:spcPts val="500"/>
                        </a:spcAft>
                      </a:pPr>
                      <a:endParaRPr sz="1600" b="0">
                        <a:latin typeface="Times New Roman" panose="02020603050405020304" pitchFamily="18" charset="0"/>
                        <a:ea typeface="Times New Roman" panose="02020603050405020304"/>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97790"/>
            <a:ext cx="10972800" cy="549910"/>
          </a:xfrm>
        </p:spPr>
        <p:txBody>
          <a:bodyPr/>
          <a:lstStyle/>
          <a:p>
            <a:r>
              <a:rPr lang="en-US" sz="2800" b="1" dirty="0">
                <a:effectLst/>
                <a:latin typeface="Times New Roman Bold" panose="02020603050405020304" charset="0"/>
                <a:cs typeface="Times New Roman Bold" panose="02020603050405020304" charset="0"/>
                <a:sym typeface="+mn-ea"/>
              </a:rPr>
              <a:t>LITERATURE REVIEW</a:t>
            </a:r>
            <a:endParaRPr lang="en-US" sz="2800"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AE58FF4D-9703-46B8-851C-DA8FCFE4D55D}" type="slidenum">
              <a:rPr lang="en-US" smtClean="0"/>
              <a:t>7</a:t>
            </a:fld>
            <a:endParaRPr lang="en-US"/>
          </a:p>
        </p:txBody>
      </p:sp>
      <p:graphicFrame>
        <p:nvGraphicFramePr>
          <p:cNvPr id="5" name="Table 4"/>
          <p:cNvGraphicFramePr/>
          <p:nvPr/>
        </p:nvGraphicFramePr>
        <p:xfrm>
          <a:off x="606425" y="993775"/>
          <a:ext cx="11172825" cy="5150485"/>
        </p:xfrm>
        <a:graphic>
          <a:graphicData uri="http://schemas.openxmlformats.org/drawingml/2006/table">
            <a:tbl>
              <a:tblPr/>
              <a:tblGrid>
                <a:gridCol w="2234565"/>
                <a:gridCol w="2234565"/>
                <a:gridCol w="2234565"/>
                <a:gridCol w="2234565"/>
                <a:gridCol w="2234565"/>
              </a:tblGrid>
              <a:tr h="685800">
                <a:tc>
                  <a:txBody>
                    <a:bodyPr/>
                    <a:lstStyle/>
                    <a:p>
                      <a:pPr marL="85725" indent="0" algn="ctr">
                        <a:spcBef>
                          <a:spcPct val="0"/>
                        </a:spcBef>
                        <a:spcAft>
                          <a:spcPct val="0"/>
                        </a:spcAft>
                      </a:pPr>
                      <a:r>
                        <a:rPr sz="1600" b="1" dirty="0">
                          <a:latin typeface="Times New Roman" panose="02020603050405020304" pitchFamily="18" charset="0"/>
                          <a:ea typeface="Times New Roman" panose="02020603050405020304"/>
                          <a:cs typeface="Times New Roman" panose="02020603050405020304" pitchFamily="18" charset="0"/>
                        </a:rPr>
                        <a:t>Author Name , Journal Name , </a:t>
                      </a:r>
                      <a:r>
                        <a:rPr sz="1600" b="1" dirty="0" err="1">
                          <a:latin typeface="Times New Roman" panose="02020603050405020304" pitchFamily="18" charset="0"/>
                          <a:ea typeface="Times New Roman" panose="02020603050405020304"/>
                          <a:cs typeface="Times New Roman" panose="02020603050405020304" pitchFamily="18" charset="0"/>
                        </a:rPr>
                        <a:t>Vol</a:t>
                      </a:r>
                      <a:r>
                        <a:rPr sz="1600" b="1" dirty="0">
                          <a:latin typeface="Times New Roman" panose="02020603050405020304" pitchFamily="18" charset="0"/>
                          <a:ea typeface="Times New Roman" panose="02020603050405020304"/>
                          <a:cs typeface="Times New Roman" panose="02020603050405020304" pitchFamily="18" charset="0"/>
                        </a:rPr>
                        <a:t> Page , Year :</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Title of the Paper</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Inference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sz="1600" b="1">
                          <a:latin typeface="Times New Roman" panose="02020603050405020304" pitchFamily="18" charset="0"/>
                          <a:ea typeface="Times New Roman" panose="02020603050405020304"/>
                          <a:cs typeface="Times New Roman" panose="02020603050405020304" pitchFamily="18" charset="0"/>
                        </a:rPr>
                        <a:t>Relevance with the present work / Motivation.</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ctr">
                        <a:spcBef>
                          <a:spcPct val="0"/>
                        </a:spcBef>
                        <a:spcAft>
                          <a:spcPct val="0"/>
                        </a:spcAft>
                      </a:pPr>
                      <a:r>
                        <a:rPr sz="1600" b="1" dirty="0">
                          <a:latin typeface="Times New Roman" panose="02020603050405020304" pitchFamily="18" charset="0"/>
                          <a:ea typeface="Times New Roman" panose="02020603050405020304"/>
                          <a:cs typeface="Times New Roman" panose="02020603050405020304" pitchFamily="18" charset="0"/>
                        </a:rPr>
                        <a:t>Research Gap</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418965">
                <a:tc>
                  <a:txBody>
                    <a:bodyPr/>
                    <a:lstStyle/>
                    <a:p>
                      <a:pPr marL="85725" indent="0" algn="just">
                        <a:spcBef>
                          <a:spcPts val="500"/>
                        </a:spcBef>
                        <a:spcAft>
                          <a:spcPts val="500"/>
                        </a:spcAft>
                      </a:pPr>
                      <a:r>
                        <a:rPr sz="1600" b="1" dirty="0">
                          <a:latin typeface="Times New Roman" panose="02020603050405020304" pitchFamily="18" charset="0"/>
                          <a:ea typeface="Times New Roman" panose="02020603050405020304"/>
                          <a:cs typeface="Times New Roman" panose="02020603050405020304" pitchFamily="18" charset="0"/>
                        </a:rPr>
                        <a:t>[2] </a:t>
                      </a:r>
                      <a:r>
                        <a:rPr sz="1600" b="0" dirty="0">
                          <a:latin typeface="Times New Roman" panose="02020603050405020304" pitchFamily="18" charset="0"/>
                          <a:ea typeface="Times New Roman" panose="02020603050405020304"/>
                          <a:cs typeface="Times New Roman" panose="02020603050405020304" pitchFamily="18" charset="0"/>
                        </a:rPr>
                        <a:t>C. Fang </a:t>
                      </a:r>
                      <a:r>
                        <a:rPr sz="1600" b="0" i="1" dirty="0">
                          <a:latin typeface="Times New Roman" panose="02020603050405020304" pitchFamily="18" charset="0"/>
                          <a:ea typeface="Times New Roman" panose="02020603050405020304"/>
                          <a:cs typeface="Times New Roman" panose="02020603050405020304" pitchFamily="18" charset="0"/>
                        </a:rPr>
                        <a:t>et al.</a:t>
                      </a:r>
                      <a:r>
                        <a:rPr sz="1600" b="0" dirty="0">
                          <a:latin typeface="Times New Roman" panose="02020603050405020304" pitchFamily="18" charset="0"/>
                          <a:ea typeface="Times New Roman" panose="02020603050405020304"/>
                          <a:cs typeface="Times New Roman" panose="02020603050405020304" pitchFamily="18" charset="0"/>
                        </a:rPr>
                        <a:t>, ,”</a:t>
                      </a:r>
                      <a:r>
                        <a:rPr sz="1600" b="0" i="1" dirty="0">
                          <a:latin typeface="Times New Roman" panose="02020603050405020304" pitchFamily="18" charset="0"/>
                          <a:ea typeface="Times New Roman" panose="02020603050405020304"/>
                          <a:cs typeface="Times New Roman" panose="02020603050405020304" pitchFamily="18" charset="0"/>
                        </a:rPr>
                        <a:t>Remote Sensing</a:t>
                      </a:r>
                      <a:r>
                        <a:rPr sz="1600" b="0" dirty="0">
                          <a:latin typeface="Times New Roman" panose="02020603050405020304" pitchFamily="18" charset="0"/>
                          <a:ea typeface="Times New Roman" panose="02020603050405020304"/>
                          <a:cs typeface="Times New Roman" panose="02020603050405020304" pitchFamily="18" charset="0"/>
                        </a:rPr>
                        <a:t>, vol. 14, 2022</a:t>
                      </a:r>
                    </a:p>
                    <a:p>
                      <a:pPr marL="85725" indent="0" algn="just">
                        <a:spcBef>
                          <a:spcPct val="0"/>
                        </a:spcBef>
                        <a:spcAft>
                          <a:spcPct val="0"/>
                        </a:spcAft>
                      </a:pPr>
                      <a:r>
                        <a:rPr sz="1600" b="0" dirty="0">
                          <a:latin typeface="Times New Roman" panose="02020603050405020304" pitchFamily="18" charset="0"/>
                          <a:ea typeface="Times New Roman" panose="02020603050405020304"/>
                          <a:cs typeface="Times New Roman" panose="02020603050405020304" pitchFamily="18" charset="0"/>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“Landslide detection using remote sensing techniques.”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Used LiDAR-derived terrain maps + a lightweight U-Net variant (LAU-Net).</a:t>
                      </a:r>
                    </a:p>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Accurately mapped ~1,900 historical landslides.</a:t>
                      </a:r>
                    </a:p>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Achieved high IoU (~82%) and F1 (~87%).</a:t>
                      </a:r>
                    </a:p>
                    <a:p>
                      <a:pPr marL="85725"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Shows how topography + deep learning improves detection.</a:t>
                      </a:r>
                    </a:p>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Demonstrates use of segmentation models beyond optical images (important for future remote-sensing projects).</a:t>
                      </a:r>
                    </a:p>
                    <a:p>
                      <a:pPr marL="85725" indent="0" algn="just">
                        <a:spcBef>
                          <a:spcPts val="500"/>
                        </a:spcBef>
                        <a:spcAft>
                          <a:spcPts val="500"/>
                        </a:spcAft>
                      </a:pPr>
                      <a:r>
                        <a:rPr sz="1600" b="0">
                          <a:latin typeface="Times New Roman" panose="02020603050405020304" pitchFamily="18" charset="0"/>
                          <a:ea typeface="Times New Roman" panose="02020603050405020304"/>
                          <a:cs typeface="Times New Roman" panose="02020603050405020304" pitchFamily="18" charset="0"/>
                        </a:rPr>
                        <a:t> Good reference if integrating DEM/LiDAR in your work.</a:t>
                      </a:r>
                    </a:p>
                    <a:p>
                      <a:pPr marL="85725" indent="0" algn="just">
                        <a:spcBef>
                          <a:spcPct val="0"/>
                        </a:spcBef>
                        <a:spcAft>
                          <a:spcPct val="0"/>
                        </a:spcAft>
                      </a:pPr>
                      <a:r>
                        <a:rPr sz="1600" b="0">
                          <a:latin typeface="Times New Roman" panose="02020603050405020304" pitchFamily="18" charset="0"/>
                          <a:ea typeface="Times New Roman" panose="02020603050405020304"/>
                          <a:cs typeface="Times New Roman" panose="02020603050405020304" pitchFamily="18" charset="0"/>
                        </a:rPr>
                        <a:t> </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85725" indent="0" algn="just">
                        <a:spcBef>
                          <a:spcPts val="500"/>
                        </a:spcBef>
                        <a:spcAft>
                          <a:spcPts val="500"/>
                        </a:spcAft>
                      </a:pPr>
                      <a:r>
                        <a:rPr sz="1600" b="0" dirty="0">
                          <a:latin typeface="Times New Roman" panose="02020603050405020304" pitchFamily="18" charset="0"/>
                          <a:ea typeface="Times New Roman" panose="02020603050405020304"/>
                          <a:cs typeface="Times New Roman" panose="02020603050405020304" pitchFamily="18" charset="0"/>
                        </a:rPr>
                        <a:t>Requires high-resolution </a:t>
                      </a:r>
                      <a:r>
                        <a:rPr sz="1600" b="0" dirty="0" err="1">
                          <a:latin typeface="Times New Roman" panose="02020603050405020304" pitchFamily="18" charset="0"/>
                          <a:ea typeface="Times New Roman" panose="02020603050405020304"/>
                          <a:cs typeface="Times New Roman" panose="02020603050405020304" pitchFamily="18" charset="0"/>
                        </a:rPr>
                        <a:t>LiDAR</a:t>
                      </a:r>
                      <a:r>
                        <a:rPr sz="1600" b="0" dirty="0">
                          <a:latin typeface="Times New Roman" panose="02020603050405020304" pitchFamily="18" charset="0"/>
                          <a:ea typeface="Times New Roman" panose="02020603050405020304"/>
                          <a:cs typeface="Times New Roman" panose="02020603050405020304" pitchFamily="18" charset="0"/>
                        </a:rPr>
                        <a:t> → not available everywhere.</a:t>
                      </a:r>
                    </a:p>
                    <a:p>
                      <a:pPr marL="85725" indent="0" algn="just">
                        <a:spcBef>
                          <a:spcPts val="500"/>
                        </a:spcBef>
                        <a:spcAft>
                          <a:spcPts val="500"/>
                        </a:spcAft>
                      </a:pPr>
                      <a:r>
                        <a:rPr sz="1600" b="0" dirty="0">
                          <a:latin typeface="Times New Roman" panose="02020603050405020304" pitchFamily="18" charset="0"/>
                          <a:ea typeface="Times New Roman" panose="02020603050405020304"/>
                          <a:cs typeface="Times New Roman" panose="02020603050405020304" pitchFamily="18" charset="0"/>
                        </a:rPr>
                        <a:t>Model may not generalize to new terrains without retraining.</a:t>
                      </a:r>
                    </a:p>
                    <a:p>
                      <a:pPr marL="85725" indent="0" algn="just">
                        <a:spcBef>
                          <a:spcPts val="500"/>
                        </a:spcBef>
                        <a:spcAft>
                          <a:spcPts val="500"/>
                        </a:spcAft>
                      </a:pPr>
                      <a:r>
                        <a:rPr sz="1600" b="0" dirty="0">
                          <a:latin typeface="Times New Roman" panose="02020603050405020304" pitchFamily="18" charset="0"/>
                          <a:ea typeface="Times New Roman" panose="02020603050405020304"/>
                          <a:cs typeface="Times New Roman" panose="02020603050405020304" pitchFamily="18" charset="0"/>
                        </a:rPr>
                        <a:t>Focuses only on historical landslides, not real-time detection.</a:t>
                      </a:r>
                    </a:p>
                    <a:p>
                      <a:pPr marL="85725" indent="0" algn="just">
                        <a:spcBef>
                          <a:spcPts val="500"/>
                        </a:spcBef>
                        <a:spcAft>
                          <a:spcPts val="500"/>
                        </a:spcAft>
                      </a:pPr>
                      <a:endParaRPr sz="1600" b="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5815" y="-105156"/>
            <a:ext cx="10852785" cy="754380"/>
          </a:xfrm>
        </p:spPr>
        <p:txBody>
          <a:bodyPr>
            <a:normAutofit/>
          </a:bodyPr>
          <a:lstStyle/>
          <a:p>
            <a:r>
              <a:rPr lang="en-US" sz="2800" b="1" dirty="0">
                <a:effectLst/>
                <a:latin typeface="Times New Roman Bold" panose="02020603050405020304" charset="0"/>
                <a:cs typeface="Times New Roman Bold" panose="02020603050405020304" charset="0"/>
                <a:sym typeface="+mn-ea"/>
              </a:rPr>
              <a:t>LITERATURE REVIEW</a:t>
            </a:r>
            <a:endParaRPr lang="en-IN" sz="2800" dirty="0">
              <a:effectLst/>
            </a:endParaRPr>
          </a:p>
        </p:txBody>
      </p:sp>
      <p:sp>
        <p:nvSpPr>
          <p:cNvPr id="3" name="Content Placeholder 2"/>
          <p:cNvSpPr>
            <a:spLocks noGrp="1"/>
          </p:cNvSpPr>
          <p:nvPr>
            <p:ph idx="1"/>
          </p:nvPr>
        </p:nvSpPr>
        <p:spPr/>
        <p:txBody>
          <a:bodyPr/>
          <a:lstStyle/>
          <a:p>
            <a:endParaRPr lang="en-IN" dirty="0"/>
          </a:p>
        </p:txBody>
      </p:sp>
      <p:sp>
        <p:nvSpPr>
          <p:cNvPr id="4" name="Slide Number Placeholder 3"/>
          <p:cNvSpPr>
            <a:spLocks noGrp="1"/>
          </p:cNvSpPr>
          <p:nvPr>
            <p:ph type="sldNum" sz="quarter" idx="12"/>
          </p:nvPr>
        </p:nvSpPr>
        <p:spPr/>
        <p:txBody>
          <a:bodyPr/>
          <a:lstStyle/>
          <a:p>
            <a:fld id="{AE58FF4D-9703-46B8-851C-DA8FCFE4D55D}" type="slidenum">
              <a:rPr lang="en-US" smtClean="0"/>
              <a:t>8</a:t>
            </a:fld>
            <a:endParaRPr lang="en-US"/>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Table 5"/>
          <p:cNvGraphicFramePr/>
          <p:nvPr/>
        </p:nvGraphicFramePr>
        <p:xfrm>
          <a:off x="716280" y="882650"/>
          <a:ext cx="10622280" cy="5565140"/>
        </p:xfrm>
        <a:graphic>
          <a:graphicData uri="http://schemas.openxmlformats.org/drawingml/2006/table">
            <a:tbl>
              <a:tblPr firstRow="1" bandRow="1">
                <a:tableStyleId>{5940675A-B579-460E-94D1-54222C63F5DA}</a:tableStyleId>
              </a:tblPr>
              <a:tblGrid>
                <a:gridCol w="2901950"/>
                <a:gridCol w="1816100"/>
                <a:gridCol w="2290445"/>
                <a:gridCol w="1897380"/>
                <a:gridCol w="1716405"/>
              </a:tblGrid>
              <a:tr h="975360">
                <a:tc>
                  <a:txBody>
                    <a:bodyPr/>
                    <a:lstStyle/>
                    <a:p>
                      <a:pPr indent="0" algn="ctr">
                        <a:buNone/>
                      </a:pPr>
                      <a:r>
                        <a:rPr sz="1600" b="1" dirty="0">
                          <a:latin typeface="Times New Roman" panose="02020603050405020304" pitchFamily="18" charset="0"/>
                          <a:ea typeface="Times New Roman" panose="02020603050405020304"/>
                          <a:cs typeface="Times New Roman" panose="02020603050405020304" pitchFamily="18" charset="0"/>
                          <a:sym typeface="+mn-ea"/>
                        </a:rPr>
                        <a:t>Author Name , Journal Name , </a:t>
                      </a:r>
                      <a:r>
                        <a:rPr sz="1600" b="1" dirty="0" err="1">
                          <a:latin typeface="Times New Roman" panose="02020603050405020304" pitchFamily="18" charset="0"/>
                          <a:ea typeface="Times New Roman" panose="02020603050405020304"/>
                          <a:cs typeface="Times New Roman" panose="02020603050405020304" pitchFamily="18" charset="0"/>
                          <a:sym typeface="+mn-ea"/>
                        </a:rPr>
                        <a:t>Vol</a:t>
                      </a:r>
                      <a:r>
                        <a:rPr sz="1600" b="1" dirty="0">
                          <a:latin typeface="Times New Roman" panose="02020603050405020304" pitchFamily="18" charset="0"/>
                          <a:ea typeface="Times New Roman" panose="02020603050405020304"/>
                          <a:cs typeface="Times New Roman" panose="02020603050405020304" pitchFamily="18" charset="0"/>
                          <a:sym typeface="+mn-ea"/>
                        </a:rPr>
                        <a:t> Page , Year :</a:t>
                      </a:r>
                      <a:endParaRPr sz="1600" b="1" dirty="0">
                        <a:latin typeface="Times New Roman" panose="02020603050405020304" pitchFamily="18" charset="0"/>
                        <a:ea typeface="Times New Roman" panose="02020603050405020304"/>
                        <a:cs typeface="Times New Roman" panose="02020603050405020304" pitchFamily="18" charset="0"/>
                      </a:endParaRPr>
                    </a:p>
                    <a:p>
                      <a:pPr indent="0" algn="ctr">
                        <a:buNone/>
                      </a:pPr>
                      <a:endParaRPr lang="en-US" sz="1600" b="1"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sz="1600" b="1" dirty="0">
                          <a:latin typeface="Times New Roman" panose="02020603050405020304" pitchFamily="18" charset="0"/>
                          <a:ea typeface="Times New Roman" panose="02020603050405020304"/>
                          <a:cs typeface="Times New Roman" panose="02020603050405020304" pitchFamily="18" charset="0"/>
                          <a:sym typeface="+mn-ea"/>
                        </a:rPr>
                        <a:t>Title of the Paper</a:t>
                      </a:r>
                      <a:endParaRPr sz="1600" b="1" dirty="0">
                        <a:latin typeface="Times New Roman" panose="02020603050405020304" pitchFamily="18" charset="0"/>
                        <a:ea typeface="Times New Roman" panose="02020603050405020304"/>
                        <a:cs typeface="Times New Roman" panose="02020603050405020304" pitchFamily="18" charset="0"/>
                      </a:endParaRPr>
                    </a:p>
                    <a:p>
                      <a:pPr indent="0" algn="ctr">
                        <a:buNone/>
                      </a:pPr>
                      <a:endParaRPr lang="en-US" sz="1600" b="1"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sz="1600" b="1" dirty="0">
                          <a:latin typeface="Times New Roman" panose="02020603050405020304" pitchFamily="18" charset="0"/>
                          <a:ea typeface="Times New Roman" panose="02020603050405020304"/>
                          <a:cs typeface="Times New Roman" panose="02020603050405020304" pitchFamily="18" charset="0"/>
                          <a:sym typeface="+mn-ea"/>
                        </a:rPr>
                        <a:t>Inference</a:t>
                      </a:r>
                      <a:endParaRPr sz="1600" b="1" dirty="0">
                        <a:latin typeface="Times New Roman" panose="02020603050405020304" pitchFamily="18" charset="0"/>
                        <a:ea typeface="Times New Roman" panose="02020603050405020304"/>
                        <a:cs typeface="Times New Roman" panose="02020603050405020304" pitchFamily="18" charset="0"/>
                      </a:endParaRPr>
                    </a:p>
                    <a:p>
                      <a:pPr indent="0" algn="ctr">
                        <a:buNone/>
                      </a:pPr>
                      <a:endParaRPr lang="en-US" sz="1600" b="1"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sz="1600" b="1" dirty="0">
                          <a:latin typeface="Times New Roman" panose="02020603050405020304" pitchFamily="18" charset="0"/>
                          <a:ea typeface="Times New Roman" panose="02020603050405020304"/>
                          <a:cs typeface="Times New Roman" panose="02020603050405020304" pitchFamily="18" charset="0"/>
                          <a:sym typeface="+mn-ea"/>
                        </a:rPr>
                        <a:t>Relevance with the present work / Motivation.</a:t>
                      </a:r>
                      <a:endParaRPr sz="1600" b="1" dirty="0">
                        <a:latin typeface="Times New Roman" panose="02020603050405020304" pitchFamily="18" charset="0"/>
                        <a:ea typeface="Times New Roman" panose="02020603050405020304"/>
                        <a:cs typeface="Times New Roman" panose="02020603050405020304" pitchFamily="18" charset="0"/>
                      </a:endParaRPr>
                    </a:p>
                    <a:p>
                      <a:pPr indent="0" algn="ctr">
                        <a:buNone/>
                      </a:pPr>
                      <a:endParaRPr lang="en-US" sz="1600" b="1"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sz="1600" b="1" dirty="0">
                          <a:latin typeface="Times New Roman" panose="02020603050405020304" pitchFamily="18" charset="0"/>
                          <a:ea typeface="Times New Roman" panose="02020603050405020304"/>
                          <a:cs typeface="Times New Roman" panose="02020603050405020304" pitchFamily="18" charset="0"/>
                          <a:sym typeface="+mn-ea"/>
                        </a:rPr>
                        <a:t>Research Gap</a:t>
                      </a:r>
                      <a:endParaRPr sz="1600" b="1" dirty="0">
                        <a:latin typeface="Times New Roman" panose="02020603050405020304" pitchFamily="18" charset="0"/>
                        <a:ea typeface="Times New Roman" panose="02020603050405020304"/>
                        <a:cs typeface="Times New Roman" panose="02020603050405020304" pitchFamily="18" charset="0"/>
                      </a:endParaRPr>
                    </a:p>
                    <a:p>
                      <a:pPr indent="0" algn="ctr">
                        <a:buNone/>
                      </a:pPr>
                      <a:endParaRPr lang="en-US" sz="1600" b="1"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89780">
                <a:tc>
                  <a:txBody>
                    <a:bodyPr/>
                    <a:lstStyle/>
                    <a:p>
                      <a:pPr algn="just"/>
                      <a:r>
                        <a:rPr sz="1600" b="1" dirty="0">
                          <a:latin typeface="Times New Roman Bold" panose="02020603050405020304"/>
                          <a:ea typeface="Times New Roman" panose="02020603050405020304"/>
                          <a:sym typeface="+mn-ea"/>
                        </a:rPr>
                        <a:t>[3]</a:t>
                      </a:r>
                      <a:r>
                        <a:rPr sz="1600" dirty="0">
                          <a:latin typeface="Times New Roman" panose="02020603050405020304"/>
                          <a:ea typeface="Times New Roman" panose="02020603050405020304"/>
                          <a:sym typeface="+mn-ea"/>
                        </a:rPr>
                        <a:t> L. P. </a:t>
                      </a:r>
                      <a:r>
                        <a:rPr sz="1600" dirty="0" err="1">
                          <a:latin typeface="Times New Roman" panose="02020603050405020304"/>
                          <a:ea typeface="Times New Roman" panose="02020603050405020304"/>
                          <a:sym typeface="+mn-ea"/>
                        </a:rPr>
                        <a:t>Soares</a:t>
                      </a:r>
                      <a:r>
                        <a:rPr sz="1600" dirty="0">
                          <a:latin typeface="Times New Roman" panose="02020603050405020304"/>
                          <a:ea typeface="Times New Roman" panose="02020603050405020304"/>
                          <a:sym typeface="+mn-ea"/>
                        </a:rPr>
                        <a:t>, H. C. Dias, and C. H. </a:t>
                      </a:r>
                      <a:r>
                        <a:rPr sz="1600" dirty="0" err="1">
                          <a:latin typeface="Times New Roman" panose="02020603050405020304"/>
                          <a:ea typeface="Times New Roman" panose="02020603050405020304"/>
                          <a:sym typeface="+mn-ea"/>
                        </a:rPr>
                        <a:t>Grohmann</a:t>
                      </a:r>
                      <a:r>
                        <a:rPr sz="1600" dirty="0">
                          <a:latin typeface="Times New Roman" panose="02020603050405020304"/>
                          <a:ea typeface="Times New Roman" panose="02020603050405020304"/>
                          <a:sym typeface="+mn-ea"/>
                        </a:rPr>
                        <a:t>, 2024, </a:t>
                      </a:r>
                      <a:endParaRPr sz="1600" i="0" dirty="0">
                        <a:latin typeface="Times New Roman" panose="02020603050405020304"/>
                        <a:ea typeface="Times New Roman" panose="02020603050405020304"/>
                      </a:endParaRPr>
                    </a:p>
                    <a:p>
                      <a:pPr algn="just"/>
                      <a:endParaRPr lang="en-US" altLang="en-US" sz="1600" b="0" dirty="0">
                        <a:latin typeface="Times New Roman Regular" panose="02020603050405020304" charset="0"/>
                        <a:ea typeface="Times New Roman" panose="02020603050405020304"/>
                        <a:cs typeface="Times New Roman Regular" panose="020206030504050203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85725" indent="0" algn="just">
                        <a:spcBef>
                          <a:spcPct val="0"/>
                        </a:spcBef>
                        <a:spcAft>
                          <a:spcPct val="0"/>
                        </a:spcAft>
                      </a:pPr>
                      <a:r>
                        <a:rPr sz="1600" dirty="0">
                          <a:latin typeface="Times New Roman" panose="02020603050405020304"/>
                          <a:ea typeface="Times New Roman" panose="02020603050405020304"/>
                          <a:sym typeface="+mn-ea"/>
                        </a:rPr>
                        <a:t>Deep-learning-based landslide mapping,” “Multimedia Tools and Applications”,</a:t>
                      </a:r>
                      <a:endParaRPr sz="1600" i="0" dirty="0">
                        <a:latin typeface="Times New Roman" panose="02020603050405020304"/>
                        <a:ea typeface="Times New Roman" panose="02020603050405020304"/>
                      </a:endParaRPr>
                    </a:p>
                    <a:p>
                      <a:pPr marL="85725" indent="0" algn="just">
                        <a:spcBef>
                          <a:spcPct val="0"/>
                        </a:spcBef>
                        <a:spcAft>
                          <a:spcPct val="0"/>
                        </a:spcAft>
                      </a:pPr>
                      <a:endParaRPr lang="en-US" altLang="en-US" sz="1600" b="0" dirty="0">
                        <a:solidFill>
                          <a:srgbClr val="000000"/>
                        </a:solidFill>
                        <a:latin typeface="Times New Roman" panose="02020603050405020304"/>
                        <a:ea typeface="Times New Roman" panose="02020603050405020304"/>
                        <a:cs typeface="Times New Roman Regular" panose="020206030504050203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85725" indent="0" algn="just">
                        <a:spcBef>
                          <a:spcPts val="500"/>
                        </a:spcBef>
                        <a:spcAft>
                          <a:spcPts val="500"/>
                        </a:spcAft>
                      </a:pPr>
                      <a:r>
                        <a:rPr sz="1600">
                          <a:latin typeface="Times New Roman" panose="02020603050405020304"/>
                          <a:ea typeface="Times New Roman" panose="02020603050405020304"/>
                          <a:sym typeface="+mn-ea"/>
                        </a:rPr>
                        <a:t>Reviews deep-learning techniques (classification, detection, segmentation) used for landslide analysis.</a:t>
                      </a:r>
                      <a:br>
                        <a:rPr sz="1600">
                          <a:latin typeface="Times New Roman" panose="02020603050405020304"/>
                          <a:ea typeface="Times New Roman" panose="02020603050405020304"/>
                          <a:sym typeface="+mn-ea"/>
                        </a:rPr>
                      </a:br>
                      <a:endParaRPr sz="1600" i="0">
                        <a:latin typeface="Times New Roman" panose="02020603050405020304"/>
                        <a:ea typeface="Times New Roman" panose="02020603050405020304"/>
                      </a:endParaRPr>
                    </a:p>
                    <a:p>
                      <a:pPr marL="85725" indent="0" algn="just">
                        <a:spcBef>
                          <a:spcPts val="500"/>
                        </a:spcBef>
                        <a:spcAft>
                          <a:spcPts val="500"/>
                        </a:spcAft>
                      </a:pPr>
                      <a:r>
                        <a:rPr sz="1600">
                          <a:latin typeface="Times New Roman" panose="02020603050405020304"/>
                          <a:ea typeface="Times New Roman" panose="02020603050405020304"/>
                          <a:sym typeface="+mn-ea"/>
                        </a:rPr>
                        <a:t>Highlights that DL outperforms traditional methods.</a:t>
                      </a:r>
                      <a:br>
                        <a:rPr sz="1600">
                          <a:latin typeface="Times New Roman" panose="02020603050405020304"/>
                          <a:ea typeface="Times New Roman" panose="02020603050405020304"/>
                          <a:sym typeface="+mn-ea"/>
                        </a:rPr>
                      </a:br>
                      <a:r>
                        <a:rPr sz="1600">
                          <a:latin typeface="Times New Roman" panose="02020603050405020304"/>
                          <a:ea typeface="Times New Roman" panose="02020603050405020304"/>
                          <a:sym typeface="+mn-ea"/>
                        </a:rPr>
                        <a:t/>
                      </a:r>
                      <a:br>
                        <a:rPr sz="1600">
                          <a:latin typeface="Times New Roman" panose="02020603050405020304"/>
                          <a:ea typeface="Times New Roman" panose="02020603050405020304"/>
                          <a:sym typeface="+mn-ea"/>
                        </a:rPr>
                      </a:br>
                      <a:r>
                        <a:rPr sz="1600">
                          <a:latin typeface="Times New Roman" panose="02020603050405020304"/>
                          <a:ea typeface="Times New Roman" panose="02020603050405020304"/>
                          <a:sym typeface="+mn-ea"/>
                        </a:rPr>
                        <a:t>  Discusses frameworks, progress, and challenges in geospatial landslide research.</a:t>
                      </a:r>
                      <a:endParaRPr sz="1600" i="0">
                        <a:latin typeface="Times New Roman" panose="02020603050405020304"/>
                        <a:ea typeface="Times New Roman" panose="02020603050405020304"/>
                      </a:endParaRPr>
                    </a:p>
                    <a:p>
                      <a:pPr marL="85725" indent="0" algn="just">
                        <a:spcBef>
                          <a:spcPct val="0"/>
                        </a:spcBef>
                        <a:spcAft>
                          <a:spcPct val="0"/>
                        </a:spcAft>
                      </a:pPr>
                      <a:r>
                        <a:rPr sz="1600">
                          <a:latin typeface="Times New Roman" panose="02020603050405020304"/>
                          <a:ea typeface="Times New Roman" panose="02020603050405020304"/>
                          <a:sym typeface="+mn-ea"/>
                        </a:rPr>
                        <a:t> </a:t>
                      </a:r>
                      <a:endParaRPr lang="en-US" altLang="en-US" sz="1600" b="0" dirty="0">
                        <a:latin typeface="Times New Roman" panose="02020603050405020304"/>
                        <a:ea typeface="Times New Roman" panose="02020603050405020304"/>
                        <a:cs typeface="Times New Roman Regular" panose="020206030504050203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85725" indent="0" algn="just">
                        <a:spcBef>
                          <a:spcPts val="500"/>
                        </a:spcBef>
                        <a:spcAft>
                          <a:spcPts val="500"/>
                        </a:spcAft>
                      </a:pPr>
                      <a:r>
                        <a:rPr sz="1600">
                          <a:latin typeface="Times New Roman" panose="02020603050405020304"/>
                          <a:ea typeface="Times New Roman" panose="02020603050405020304"/>
                          <a:sym typeface="+mn-ea"/>
                        </a:rPr>
                        <a:t> Gives strong background for DL + remote sensing tasks.</a:t>
                      </a:r>
                      <a:endParaRPr sz="1600" i="0">
                        <a:latin typeface="Times New Roman" panose="02020603050405020304"/>
                        <a:ea typeface="Times New Roman" panose="02020603050405020304"/>
                      </a:endParaRPr>
                    </a:p>
                    <a:p>
                      <a:pPr marL="85725" indent="0" algn="just">
                        <a:spcBef>
                          <a:spcPts val="500"/>
                        </a:spcBef>
                        <a:spcAft>
                          <a:spcPts val="500"/>
                        </a:spcAft>
                      </a:pPr>
                      <a:r>
                        <a:rPr sz="1600">
                          <a:latin typeface="Times New Roman" panose="02020603050405020304"/>
                          <a:ea typeface="Times New Roman" panose="02020603050405020304"/>
                          <a:sym typeface="+mn-ea"/>
                        </a:rPr>
                        <a:t>  Helps position your work within modern DL applications.</a:t>
                      </a:r>
                      <a:endParaRPr sz="1600" i="0">
                        <a:latin typeface="Times New Roman" panose="02020603050405020304"/>
                        <a:ea typeface="Times New Roman" panose="02020603050405020304"/>
                      </a:endParaRPr>
                    </a:p>
                    <a:p>
                      <a:pPr marL="85725" indent="0" algn="just">
                        <a:spcBef>
                          <a:spcPts val="500"/>
                        </a:spcBef>
                        <a:spcAft>
                          <a:spcPts val="500"/>
                        </a:spcAft>
                      </a:pPr>
                      <a:r>
                        <a:rPr sz="1600">
                          <a:latin typeface="Times New Roman" panose="02020603050405020304"/>
                          <a:ea typeface="Times New Roman" panose="02020603050405020304"/>
                          <a:sym typeface="+mn-ea"/>
                        </a:rPr>
                        <a:t>  Useful for citing overall progress and importance of DL-based segmentation (like your U-Net experience).</a:t>
                      </a:r>
                      <a:endParaRPr lang="en-US" altLang="en-US" sz="1600" b="0" dirty="0">
                        <a:latin typeface="Times New Roman" panose="02020603050405020304"/>
                        <a:ea typeface="Times New Roman" panose="02020603050405020304"/>
                        <a:cs typeface="Times New Roman Regular" panose="020206030504050203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85725" indent="0" algn="just">
                        <a:spcBef>
                          <a:spcPts val="500"/>
                        </a:spcBef>
                        <a:spcAft>
                          <a:spcPts val="500"/>
                        </a:spcAft>
                      </a:pPr>
                      <a:r>
                        <a:rPr sz="1600" dirty="0">
                          <a:latin typeface="Times New Roman" panose="02020603050405020304"/>
                          <a:ea typeface="Times New Roman" panose="02020603050405020304"/>
                          <a:sym typeface="+mn-ea"/>
                        </a:rPr>
                        <a:t>  Lack of standardized datasets across regions.</a:t>
                      </a:r>
                      <a:endParaRPr sz="1600" i="0" dirty="0">
                        <a:latin typeface="Times New Roman" panose="02020603050405020304"/>
                        <a:ea typeface="Times New Roman" panose="02020603050405020304"/>
                      </a:endParaRPr>
                    </a:p>
                    <a:p>
                      <a:pPr marL="85725" indent="0" algn="just">
                        <a:spcBef>
                          <a:spcPts val="500"/>
                        </a:spcBef>
                        <a:spcAft>
                          <a:spcPts val="500"/>
                        </a:spcAft>
                      </a:pPr>
                      <a:r>
                        <a:rPr sz="1600" dirty="0">
                          <a:latin typeface="Times New Roman" panose="02020603050405020304"/>
                          <a:ea typeface="Times New Roman" panose="02020603050405020304"/>
                          <a:sym typeface="+mn-ea"/>
                        </a:rPr>
                        <a:t>  Deep models struggle with cross-regional generalization.</a:t>
                      </a:r>
                      <a:endParaRPr sz="1600" i="0" dirty="0">
                        <a:latin typeface="Times New Roman" panose="02020603050405020304"/>
                        <a:ea typeface="Times New Roman" panose="02020603050405020304"/>
                      </a:endParaRPr>
                    </a:p>
                    <a:p>
                      <a:pPr marL="85725" indent="0" algn="just">
                        <a:spcBef>
                          <a:spcPts val="500"/>
                        </a:spcBef>
                        <a:spcAft>
                          <a:spcPts val="500"/>
                        </a:spcAft>
                      </a:pPr>
                      <a:r>
                        <a:rPr sz="1600" dirty="0">
                          <a:latin typeface="Times New Roman" panose="02020603050405020304"/>
                          <a:ea typeface="Times New Roman" panose="02020603050405020304"/>
                          <a:sym typeface="+mn-ea"/>
                        </a:rPr>
                        <a:t>  Need better multi-sensor data fusion (optical + DEM + SAR).</a:t>
                      </a:r>
                      <a:endParaRPr sz="1600" i="0" dirty="0">
                        <a:latin typeface="Times New Roman" panose="02020603050405020304"/>
                        <a:ea typeface="Times New Roman" panose="02020603050405020304"/>
                      </a:endParaRPr>
                    </a:p>
                    <a:p>
                      <a:pPr marL="85725" indent="0" algn="just">
                        <a:spcBef>
                          <a:spcPts val="500"/>
                        </a:spcBef>
                        <a:spcAft>
                          <a:spcPts val="500"/>
                        </a:spcAft>
                      </a:pPr>
                      <a:r>
                        <a:rPr sz="1600" dirty="0">
                          <a:latin typeface="Times New Roman" panose="02020603050405020304"/>
                          <a:ea typeface="Times New Roman" panose="02020603050405020304"/>
                          <a:sym typeface="+mn-ea"/>
                        </a:rPr>
                        <a:t>  Real-time monitoring using DL still limited.</a:t>
                      </a:r>
                      <a:endParaRPr sz="1600" i="0" dirty="0">
                        <a:latin typeface="Times New Roman" panose="02020603050405020304"/>
                        <a:ea typeface="Times New Roman" panose="02020603050405020304"/>
                      </a:endParaRPr>
                    </a:p>
                    <a:p>
                      <a:pPr marL="85725" indent="0" algn="just">
                        <a:spcBef>
                          <a:spcPct val="0"/>
                        </a:spcBef>
                        <a:spcAft>
                          <a:spcPct val="0"/>
                        </a:spcAft>
                      </a:pPr>
                      <a:endParaRPr sz="1600" i="0" dirty="0">
                        <a:latin typeface="Times New Roman" panose="02020603050405020304"/>
                        <a:ea typeface="Times New Roman" panose="02020603050405020304"/>
                      </a:endParaRPr>
                    </a:p>
                    <a:p>
                      <a:pPr marL="85725" indent="0" algn="just">
                        <a:buNone/>
                      </a:pPr>
                      <a:endParaRPr lang="en-US" altLang="en-US" sz="1600" b="0" dirty="0">
                        <a:latin typeface="Times New Roman" panose="02020603050405020304"/>
                        <a:ea typeface="Times New Roman" panose="02020603050405020304"/>
                        <a:cs typeface="Times New Roman Regular" panose="020206030504050203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440" y="-228600"/>
            <a:ext cx="10972800" cy="1143000"/>
          </a:xfrm>
        </p:spPr>
        <p:txBody>
          <a:bodyPr>
            <a:normAutofit/>
          </a:bodyPr>
          <a:lstStyle/>
          <a:p>
            <a:r>
              <a:rPr lang="en-US" sz="2800" b="1" dirty="0">
                <a:latin typeface="Times New Roman Bold" panose="02020603050405020304" charset="0"/>
                <a:cs typeface="Times New Roman Bold" panose="02020603050405020304" charset="0"/>
                <a:sym typeface="+mn-ea"/>
              </a:rPr>
              <a:t>LITERATURE REVIEW</a:t>
            </a:r>
            <a:endParaRPr lang="en-IN" sz="2800" dirty="0"/>
          </a:p>
        </p:txBody>
      </p:sp>
      <p:graphicFrame>
        <p:nvGraphicFramePr>
          <p:cNvPr id="6" name="Content Placeholder 5"/>
          <p:cNvGraphicFramePr>
            <a:graphicFrameLocks noGrp="1"/>
          </p:cNvGraphicFramePr>
          <p:nvPr>
            <p:ph idx="1"/>
          </p:nvPr>
        </p:nvGraphicFramePr>
        <p:xfrm>
          <a:off x="749808" y="881980"/>
          <a:ext cx="10808208" cy="5561492"/>
        </p:xfrm>
        <a:graphic>
          <a:graphicData uri="http://schemas.openxmlformats.org/drawingml/2006/table">
            <a:tbl>
              <a:tblPr firstRow="1" firstCol="1" bandRow="1"/>
              <a:tblGrid>
                <a:gridCol w="2121876"/>
                <a:gridCol w="2118669"/>
                <a:gridCol w="2158221"/>
                <a:gridCol w="2268323"/>
                <a:gridCol w="2141119"/>
              </a:tblGrid>
              <a:tr h="1076029">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Author Name , Journal Name , </a:t>
                      </a:r>
                      <a:r>
                        <a:rPr lang="en-US" sz="1600" b="1" dirty="0" err="1">
                          <a:effectLst/>
                          <a:latin typeface="Times New Roman" panose="02020603050405020304" pitchFamily="18" charset="0"/>
                          <a:ea typeface="Times New Roman" panose="02020603050405020304"/>
                          <a:cs typeface="Times New Roman" panose="02020603050405020304" pitchFamily="18" charset="0"/>
                        </a:rPr>
                        <a:t>Vol</a:t>
                      </a:r>
                      <a:r>
                        <a:rPr lang="en-US" sz="1600" b="1" dirty="0">
                          <a:effectLst/>
                          <a:latin typeface="Times New Roman" panose="02020603050405020304" pitchFamily="18" charset="0"/>
                          <a:ea typeface="Times New Roman" panose="02020603050405020304"/>
                          <a:cs typeface="Times New Roman" panose="02020603050405020304" pitchFamily="18" charset="0"/>
                        </a:rPr>
                        <a:t> Page , Year :</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Title of the Paper</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Inference</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Relevance with the present work / Motivation.</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Research Gap</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85463">
                <a:tc>
                  <a:txBody>
                    <a:bodyPr/>
                    <a:lstStyle/>
                    <a:p>
                      <a:pPr algn="just"/>
                      <a:r>
                        <a:rPr lang="en-IN" sz="1600" b="1" dirty="0">
                          <a:effectLst/>
                          <a:latin typeface="Times New Roman" panose="02020603050405020304"/>
                          <a:ea typeface="Times New Roman" panose="02020603050405020304"/>
                        </a:rPr>
                        <a:t>[4]</a:t>
                      </a:r>
                      <a:r>
                        <a:rPr lang="en-IN" sz="1600" dirty="0" err="1">
                          <a:effectLst/>
                          <a:latin typeface="Times New Roman" panose="02020603050405020304"/>
                          <a:ea typeface="Times New Roman" panose="02020603050405020304"/>
                        </a:rPr>
                        <a:t>Omid</a:t>
                      </a:r>
                      <a:r>
                        <a:rPr lang="en-IN" sz="1600" dirty="0">
                          <a:effectLst/>
                          <a:latin typeface="Times New Roman" panose="02020603050405020304"/>
                          <a:ea typeface="Times New Roman" panose="02020603050405020304"/>
                        </a:rPr>
                        <a:t>     </a:t>
                      </a:r>
                      <a:r>
                        <a:rPr lang="en-IN" sz="1600" dirty="0" err="1">
                          <a:effectLst/>
                          <a:latin typeface="Times New Roman" panose="02020603050405020304"/>
                          <a:ea typeface="Times New Roman" panose="02020603050405020304"/>
                        </a:rPr>
                        <a:t>Ghorbanzadeh</a:t>
                      </a:r>
                      <a:r>
                        <a:rPr lang="en-IN" sz="1600" dirty="0">
                          <a:effectLst/>
                          <a:latin typeface="Times New Roman" panose="02020603050405020304"/>
                          <a:ea typeface="Times New Roman" panose="02020603050405020304"/>
                        </a:rPr>
                        <a:t> et al.  </a:t>
                      </a:r>
                      <a:r>
                        <a:rPr lang="en-IN" sz="1600" b="1" dirty="0">
                          <a:effectLst/>
                          <a:latin typeface="Times New Roman" panose="02020603050405020304"/>
                          <a:ea typeface="Times New Roman" panose="02020603050405020304"/>
                        </a:rPr>
                        <a:t>, </a:t>
                      </a:r>
                      <a:r>
                        <a:rPr lang="en-IN" sz="1600" i="1" dirty="0">
                          <a:effectLst/>
                          <a:latin typeface="Times New Roman" panose="02020603050405020304"/>
                          <a:ea typeface="Times New Roman" panose="02020603050405020304"/>
                        </a:rPr>
                        <a:t>Remote Sensing</a:t>
                      </a:r>
                      <a:r>
                        <a:rPr lang="en-IN" sz="1600" dirty="0">
                          <a:effectLst/>
                          <a:latin typeface="Times New Roman" panose="02020603050405020304"/>
                          <a:ea typeface="Times New Roman" panose="02020603050405020304"/>
                        </a:rPr>
                        <a:t>  </a:t>
                      </a:r>
                      <a:r>
                        <a:rPr lang="en-IN" sz="1600" b="1" dirty="0">
                          <a:effectLst/>
                          <a:latin typeface="Times New Roman" panose="02020603050405020304"/>
                          <a:ea typeface="Times New Roman" panose="02020603050405020304"/>
                        </a:rPr>
                        <a:t>, </a:t>
                      </a:r>
                      <a:r>
                        <a:rPr lang="en-IN" sz="1600" dirty="0">
                          <a:effectLst/>
                          <a:latin typeface="Times New Roman" panose="02020603050405020304"/>
                          <a:ea typeface="Times New Roman" panose="02020603050405020304"/>
                        </a:rPr>
                        <a:t>Vol. 11, Article 196 , 2019</a:t>
                      </a:r>
                    </a:p>
                    <a:p>
                      <a:pPr algn="just">
                        <a:spcAft>
                          <a:spcPts val="0"/>
                        </a:spcAft>
                      </a:pPr>
                      <a:r>
                        <a:rPr lang="en-US" sz="1600" b="1" dirty="0">
                          <a:effectLst/>
                          <a:latin typeface="Times New Roman Regular" panose="02020603050405020304"/>
                          <a:ea typeface="Times New Roman" panose="02020603050405020304"/>
                        </a:rPr>
                        <a:t> </a:t>
                      </a:r>
                      <a:endParaRPr lang="en-IN" sz="1600" dirty="0">
                        <a:effectLst/>
                        <a:latin typeface="Times New Roman" panose="02020603050405020304"/>
                        <a:ea typeface="Times New Roman" panose="02020603050405020304"/>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dirty="0">
                          <a:effectLst/>
                          <a:latin typeface="Times New Roman" panose="02020603050405020304"/>
                          <a:ea typeface="Times New Roman" panose="02020603050405020304"/>
                        </a:rPr>
                        <a:t>Evaluation of Different Machine Learning Methods and Deep-Learning CNNs for Landslide Detection</a:t>
                      </a:r>
                      <a:endParaRPr lang="en-IN" sz="1600" dirty="0">
                        <a:effectLst/>
                        <a:latin typeface="Times New Roman" panose="02020603050405020304"/>
                        <a:ea typeface="Times New Roman" panose="02020603050405020304"/>
                      </a:endParaRPr>
                    </a:p>
                    <a:p>
                      <a:pPr algn="just">
                        <a:spcAft>
                          <a:spcPts val="0"/>
                        </a:spcAft>
                      </a:pPr>
                      <a:r>
                        <a:rPr lang="en-US" sz="1600" dirty="0">
                          <a:effectLst/>
                          <a:latin typeface="Times New Roman Regular" panose="02020603050405020304"/>
                          <a:ea typeface="Times New Roman" panose="02020603050405020304"/>
                        </a:rPr>
                        <a:t> </a:t>
                      </a:r>
                      <a:endParaRPr lang="en-IN" sz="1600" dirty="0">
                        <a:effectLst/>
                        <a:latin typeface="Times New Roman" panose="02020603050405020304"/>
                        <a:ea typeface="Times New Roman" panose="02020603050405020304"/>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a:effectLst/>
                          <a:latin typeface="Times New Roman" panose="02020603050405020304"/>
                          <a:ea typeface="Times New Roman" panose="02020603050405020304"/>
                        </a:rPr>
                        <a:t>CNNs can detect landslides well, but </a:t>
                      </a:r>
                      <a:r>
                        <a:rPr lang="en-US" sz="1600" b="0">
                          <a:effectLst/>
                          <a:latin typeface="Times New Roman" panose="02020603050405020304"/>
                          <a:ea typeface="Times New Roman" panose="02020603050405020304"/>
                        </a:rPr>
                        <a:t>do not always outperform</a:t>
                      </a:r>
                      <a:r>
                        <a:rPr lang="en-US" sz="1600">
                          <a:effectLst/>
                          <a:latin typeface="Times New Roman" panose="02020603050405020304"/>
                          <a:ea typeface="Times New Roman" panose="02020603050405020304"/>
                        </a:rPr>
                        <a:t> traditional ML.</a:t>
                      </a:r>
                      <a:br>
                        <a:rPr lang="en-US" sz="1600">
                          <a:effectLst/>
                          <a:latin typeface="Times New Roman" panose="02020603050405020304"/>
                          <a:ea typeface="Times New Roman" panose="02020603050405020304"/>
                        </a:rPr>
                      </a:br>
                      <a:r>
                        <a:rPr lang="en-US" sz="1600">
                          <a:effectLst/>
                          <a:latin typeface="Times New Roman" panose="02020603050405020304"/>
                          <a:ea typeface="Times New Roman" panose="02020603050405020304"/>
                        </a:rPr>
                        <a:t/>
                      </a:r>
                      <a:br>
                        <a:rPr lang="en-US" sz="1600">
                          <a:effectLst/>
                          <a:latin typeface="Times New Roman" panose="02020603050405020304"/>
                          <a:ea typeface="Times New Roman" panose="02020603050405020304"/>
                        </a:rPr>
                      </a:br>
                      <a:r>
                        <a:rPr lang="en-US" sz="1600">
                          <a:effectLst/>
                          <a:latin typeface="Times New Roman" panose="02020603050405020304"/>
                          <a:ea typeface="Times New Roman" panose="02020603050405020304"/>
                        </a:rPr>
                        <a:t>Best accuracy was </a:t>
                      </a:r>
                      <a:r>
                        <a:rPr lang="en-US" sz="1600" b="0">
                          <a:effectLst/>
                          <a:latin typeface="Times New Roman" panose="02020603050405020304"/>
                          <a:ea typeface="Times New Roman" panose="02020603050405020304"/>
                        </a:rPr>
                        <a:t>CNN with 16×16 window</a:t>
                      </a:r>
                      <a:r>
                        <a:rPr lang="en-US" sz="1600">
                          <a:effectLst/>
                          <a:latin typeface="Times New Roman" panose="02020603050405020304"/>
                          <a:ea typeface="Times New Roman" panose="02020603050405020304"/>
                        </a:rPr>
                        <a:t> using </a:t>
                      </a:r>
                      <a:r>
                        <a:rPr lang="en-US" sz="1600" b="0">
                          <a:effectLst/>
                          <a:latin typeface="Times New Roman" panose="02020603050405020304"/>
                          <a:ea typeface="Times New Roman" panose="02020603050405020304"/>
                        </a:rPr>
                        <a:t>only spectral data</a:t>
                      </a:r>
                      <a:r>
                        <a:rPr lang="en-US" sz="1600">
                          <a:effectLst/>
                          <a:latin typeface="Times New Roman" panose="02020603050405020304"/>
                          <a:ea typeface="Times New Roman" panose="02020603050405020304"/>
                        </a:rPr>
                        <a:t> (mIOU = 78.26%).</a:t>
                      </a:r>
                      <a:br>
                        <a:rPr lang="en-US" sz="1600">
                          <a:effectLst/>
                          <a:latin typeface="Times New Roman" panose="02020603050405020304"/>
                          <a:ea typeface="Times New Roman" panose="02020603050405020304"/>
                        </a:rPr>
                      </a:br>
                      <a:r>
                        <a:rPr lang="en-US" sz="1600">
                          <a:effectLst/>
                          <a:latin typeface="Times New Roman" panose="02020603050405020304"/>
                          <a:ea typeface="Times New Roman" panose="02020603050405020304"/>
                        </a:rPr>
                        <a:t/>
                      </a:r>
                      <a:br>
                        <a:rPr lang="en-US" sz="1600">
                          <a:effectLst/>
                          <a:latin typeface="Times New Roman" panose="02020603050405020304"/>
                          <a:ea typeface="Times New Roman" panose="02020603050405020304"/>
                        </a:rPr>
                      </a:br>
                      <a:r>
                        <a:rPr lang="en-US" sz="1600">
                          <a:effectLst/>
                          <a:latin typeface="Times New Roman" panose="02020603050405020304"/>
                          <a:ea typeface="Times New Roman" panose="02020603050405020304"/>
                        </a:rPr>
                        <a:t>Topographic layers (slope, aspect) </a:t>
                      </a:r>
                      <a:r>
                        <a:rPr lang="en-US" sz="1600" b="0">
                          <a:effectLst/>
                          <a:latin typeface="Times New Roman" panose="02020603050405020304"/>
                          <a:ea typeface="Times New Roman" panose="02020603050405020304"/>
                        </a:rPr>
                        <a:t>did not improve</a:t>
                      </a:r>
                      <a:r>
                        <a:rPr lang="en-US" sz="1600" b="1">
                          <a:effectLst/>
                          <a:latin typeface="Times New Roman" panose="02020603050405020304"/>
                          <a:ea typeface="Times New Roman" panose="02020603050405020304"/>
                        </a:rPr>
                        <a:t> </a:t>
                      </a:r>
                      <a:r>
                        <a:rPr lang="en-US" sz="1600">
                          <a:effectLst/>
                          <a:latin typeface="Times New Roman" panose="02020603050405020304"/>
                          <a:ea typeface="Times New Roman" panose="02020603050405020304"/>
                        </a:rPr>
                        <a:t>results.</a:t>
                      </a:r>
                      <a:endParaRPr lang="en-IN" sz="1600">
                        <a:effectLst/>
                        <a:latin typeface="Times New Roman" panose="02020603050405020304"/>
                        <a:ea typeface="Times New Roman" panose="02020603050405020304"/>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IN" sz="1600">
                          <a:effectLst/>
                          <a:latin typeface="Times New Roman" panose="02020603050405020304"/>
                          <a:ea typeface="Times New Roman" panose="02020603050405020304"/>
                        </a:rPr>
                        <a:t>Supports </a:t>
                      </a:r>
                      <a:r>
                        <a:rPr lang="en-IN" sz="1600" b="1">
                          <a:effectLst/>
                          <a:latin typeface="Times New Roman" panose="02020603050405020304"/>
                          <a:ea typeface="Times New Roman" panose="02020603050405020304"/>
                        </a:rPr>
                        <a:t>deep learning</a:t>
                      </a:r>
                      <a:r>
                        <a:rPr lang="en-IN" sz="1600">
                          <a:effectLst/>
                          <a:latin typeface="Times New Roman" panose="02020603050405020304"/>
                          <a:ea typeface="Times New Roman" panose="02020603050405020304"/>
                        </a:rPr>
                        <a:t> for landslide detection (same as your U-Net).</a:t>
                      </a:r>
                      <a:br>
                        <a:rPr lang="en-IN" sz="1600">
                          <a:effectLst/>
                          <a:latin typeface="Times New Roman" panose="02020603050405020304"/>
                          <a:ea typeface="Times New Roman" panose="02020603050405020304"/>
                        </a:rPr>
                      </a:br>
                      <a:r>
                        <a:rPr lang="en-IN" sz="1600">
                          <a:effectLst/>
                          <a:latin typeface="Times New Roman" panose="02020603050405020304"/>
                          <a:ea typeface="Times New Roman" panose="02020603050405020304"/>
                        </a:rPr>
                        <a:t/>
                      </a:r>
                      <a:br>
                        <a:rPr lang="en-IN" sz="1600">
                          <a:effectLst/>
                          <a:latin typeface="Times New Roman" panose="02020603050405020304"/>
                          <a:ea typeface="Times New Roman" panose="02020603050405020304"/>
                        </a:rPr>
                      </a:br>
                      <a:r>
                        <a:rPr lang="en-IN" sz="1600">
                          <a:effectLst/>
                          <a:latin typeface="Times New Roman" panose="02020603050405020304"/>
                          <a:ea typeface="Times New Roman" panose="02020603050405020304"/>
                        </a:rPr>
                        <a:t>Shows </a:t>
                      </a:r>
                      <a:r>
                        <a:rPr lang="en-IN" sz="1600" b="1">
                          <a:effectLst/>
                          <a:latin typeface="Times New Roman" panose="02020603050405020304"/>
                          <a:ea typeface="Times New Roman" panose="02020603050405020304"/>
                        </a:rPr>
                        <a:t>quality training data</a:t>
                      </a:r>
                      <a:r>
                        <a:rPr lang="en-IN" sz="1600">
                          <a:effectLst/>
                          <a:latin typeface="Times New Roman" panose="02020603050405020304"/>
                          <a:ea typeface="Times New Roman" panose="02020603050405020304"/>
                        </a:rPr>
                        <a:t> is crucial.</a:t>
                      </a:r>
                    </a:p>
                    <a:p>
                      <a:pPr algn="l"/>
                      <a:r>
                        <a:rPr lang="en-IN" sz="1600">
                          <a:effectLst/>
                          <a:latin typeface="Times New Roman" panose="02020603050405020304"/>
                          <a:ea typeface="Times New Roman" panose="02020603050405020304"/>
                        </a:rPr>
                        <a:t>Confirms </a:t>
                      </a:r>
                      <a:r>
                        <a:rPr lang="en-IN" sz="1600" b="1">
                          <a:effectLst/>
                          <a:latin typeface="Times New Roman" panose="02020603050405020304"/>
                          <a:ea typeface="Times New Roman" panose="02020603050405020304"/>
                        </a:rPr>
                        <a:t>spectral data alone works strongly</a:t>
                      </a:r>
                      <a:r>
                        <a:rPr lang="en-IN" sz="1600">
                          <a:effectLst/>
                          <a:latin typeface="Times New Roman" panose="02020603050405020304"/>
                          <a:ea typeface="Times New Roman" panose="02020603050405020304"/>
                        </a:rPr>
                        <a:t>.</a:t>
                      </a:r>
                    </a:p>
                    <a:p>
                      <a:pPr algn="l"/>
                      <a:r>
                        <a:rPr lang="en-IN" sz="1600">
                          <a:effectLst/>
                          <a:latin typeface="Times New Roman" panose="02020603050405020304"/>
                          <a:ea typeface="Times New Roman" panose="02020603050405020304"/>
                        </a:rPr>
                        <a:t> Highlights need for </a:t>
                      </a:r>
                      <a:r>
                        <a:rPr lang="en-IN" sz="1600" b="1">
                          <a:effectLst/>
                          <a:latin typeface="Times New Roman" panose="02020603050405020304"/>
                          <a:ea typeface="Times New Roman" panose="02020603050405020304"/>
                        </a:rPr>
                        <a:t>better architectures</a:t>
                      </a:r>
                      <a:r>
                        <a:rPr lang="en-IN" sz="1600">
                          <a:effectLst/>
                          <a:latin typeface="Times New Roman" panose="02020603050405020304"/>
                          <a:ea typeface="Times New Roman" panose="02020603050405020304"/>
                        </a:rPr>
                        <a:t>, which motivates your U-Net/Attention U-Net approach.</a:t>
                      </a:r>
                    </a:p>
                    <a:p>
                      <a:pPr algn="just">
                        <a:spcAft>
                          <a:spcPts val="0"/>
                        </a:spcAft>
                      </a:pPr>
                      <a:r>
                        <a:rPr lang="en-US" sz="1600" b="1">
                          <a:effectLst/>
                          <a:latin typeface="Times New Roman Regular" panose="02020603050405020304"/>
                          <a:ea typeface="Times New Roman" panose="02020603050405020304"/>
                        </a:rPr>
                        <a:t> </a:t>
                      </a:r>
                      <a:endParaRPr lang="en-IN" sz="1600">
                        <a:effectLst/>
                        <a:latin typeface="Times New Roman" panose="02020603050405020304"/>
                        <a:ea typeface="Times New Roman" panose="02020603050405020304"/>
                      </a:endParaRPr>
                    </a:p>
                    <a:p>
                      <a:pPr algn="just">
                        <a:spcAft>
                          <a:spcPts val="0"/>
                        </a:spcAft>
                      </a:pPr>
                      <a:r>
                        <a:rPr lang="en-US" sz="1600">
                          <a:effectLst/>
                          <a:latin typeface="Times New Roman Regular" panose="02020603050405020304"/>
                          <a:ea typeface="Times New Roman" panose="02020603050405020304"/>
                        </a:rPr>
                        <a:t> </a:t>
                      </a:r>
                      <a:endParaRPr lang="en-IN" sz="1600">
                        <a:effectLst/>
                        <a:latin typeface="Times New Roman" panose="02020603050405020304"/>
                        <a:ea typeface="Times New Roman" panose="02020603050405020304"/>
                      </a:endParaRPr>
                    </a:p>
                    <a:p>
                      <a:pPr algn="ctr">
                        <a:spcAft>
                          <a:spcPts val="0"/>
                        </a:spcAft>
                      </a:pPr>
                      <a:r>
                        <a:rPr lang="en-US" sz="1600">
                          <a:effectLst/>
                          <a:latin typeface="Times New Roman Regular" panose="02020603050405020304"/>
                          <a:ea typeface="Times New Roman" panose="02020603050405020304"/>
                        </a:rPr>
                        <a:t> </a:t>
                      </a:r>
                      <a:endParaRPr lang="en-IN" sz="1600">
                        <a:effectLst/>
                        <a:latin typeface="Times New Roman" panose="02020603050405020304"/>
                        <a:ea typeface="Times New Roman" panose="02020603050405020304"/>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IN" sz="1600" dirty="0">
                          <a:effectLst/>
                          <a:latin typeface="Times New Roman" panose="02020603050405020304"/>
                          <a:ea typeface="Times New Roman" panose="02020603050405020304"/>
                        </a:rPr>
                        <a:t>  CNN design not standardized; performance varies a lot.</a:t>
                      </a:r>
                    </a:p>
                    <a:p>
                      <a:pPr algn="l"/>
                      <a:r>
                        <a:rPr lang="en-IN" sz="1600" dirty="0">
                          <a:effectLst/>
                          <a:latin typeface="Times New Roman" panose="02020603050405020304"/>
                          <a:ea typeface="Times New Roman" panose="02020603050405020304"/>
                        </a:rPr>
                        <a:t>  Not enough </a:t>
                      </a:r>
                      <a:r>
                        <a:rPr lang="en-IN" sz="1600" dirty="0" err="1">
                          <a:effectLst/>
                          <a:latin typeface="Times New Roman" panose="02020603050405020304"/>
                          <a:ea typeface="Times New Roman" panose="02020603050405020304"/>
                        </a:rPr>
                        <a:t>labeled</a:t>
                      </a:r>
                      <a:r>
                        <a:rPr lang="en-IN" sz="1600" dirty="0">
                          <a:effectLst/>
                          <a:latin typeface="Times New Roman" panose="02020603050405020304"/>
                          <a:ea typeface="Times New Roman" panose="02020603050405020304"/>
                        </a:rPr>
                        <a:t> landslide datasets for strong training.</a:t>
                      </a:r>
                    </a:p>
                    <a:p>
                      <a:pPr algn="l"/>
                      <a:r>
                        <a:rPr lang="en-IN" sz="1600" dirty="0">
                          <a:effectLst/>
                          <a:latin typeface="Times New Roman" panose="02020603050405020304"/>
                          <a:ea typeface="Times New Roman" panose="02020603050405020304"/>
                        </a:rPr>
                        <a:t>  Impact of DEM/topographic features unclear.</a:t>
                      </a:r>
                    </a:p>
                    <a:p>
                      <a:pPr algn="l"/>
                      <a:r>
                        <a:rPr lang="en-IN" sz="1600" dirty="0">
                          <a:effectLst/>
                          <a:latin typeface="Times New Roman" panose="02020603050405020304"/>
                          <a:ea typeface="Times New Roman" panose="02020603050405020304"/>
                        </a:rPr>
                        <a:t>  Patch-based CNN struggles with irregular landslide shapes → motivates using </a:t>
                      </a:r>
                      <a:r>
                        <a:rPr lang="en-IN" sz="1600" b="1" dirty="0">
                          <a:effectLst/>
                          <a:latin typeface="Times New Roman" panose="02020603050405020304"/>
                          <a:ea typeface="Times New Roman" panose="02020603050405020304"/>
                        </a:rPr>
                        <a:t>U-Net</a:t>
                      </a:r>
                      <a:r>
                        <a:rPr lang="en-IN" sz="1600" dirty="0">
                          <a:effectLst/>
                          <a:latin typeface="Times New Roman" panose="02020603050405020304"/>
                          <a:ea typeface="Times New Roman" panose="02020603050405020304"/>
                        </a:rPr>
                        <a:t>.</a:t>
                      </a:r>
                    </a:p>
                    <a:p>
                      <a:pPr algn="just">
                        <a:spcAft>
                          <a:spcPts val="0"/>
                        </a:spcAft>
                      </a:pPr>
                      <a:r>
                        <a:rPr lang="en-US" sz="1600" b="1" dirty="0">
                          <a:effectLst/>
                          <a:latin typeface="Times New Roman Regular" panose="02020603050405020304"/>
                          <a:ea typeface="Times New Roman" panose="02020603050405020304"/>
                        </a:rPr>
                        <a:t> </a:t>
                      </a:r>
                      <a:endParaRPr lang="en-IN" sz="1600" dirty="0">
                        <a:effectLst/>
                        <a:latin typeface="Times New Roman" panose="02020603050405020304"/>
                        <a:ea typeface="Times New Roman" panose="02020603050405020304"/>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Slide Number Placeholder 3"/>
          <p:cNvSpPr>
            <a:spLocks noGrp="1"/>
          </p:cNvSpPr>
          <p:nvPr>
            <p:ph type="sldNum" sz="quarter" idx="12"/>
          </p:nvPr>
        </p:nvSpPr>
        <p:spPr/>
        <p:txBody>
          <a:bodyPr/>
          <a:lstStyle/>
          <a:p>
            <a:fld id="{AE58FF4D-9703-46B8-851C-DA8FCFE4D55D}" type="slidenum">
              <a:rPr lang="en-US" smtClean="0"/>
              <a:t>9</a:t>
            </a:fld>
            <a:endParaRPr lang="en-US"/>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328" y="-228600"/>
            <a:ext cx="10972800" cy="1143000"/>
          </a:xfrm>
        </p:spPr>
        <p:txBody>
          <a:bodyPr/>
          <a:lstStyle/>
          <a:p>
            <a:r>
              <a:rPr lang="en-US" sz="2800" b="1" dirty="0">
                <a:solidFill>
                  <a:prstClr val="black"/>
                </a:solidFill>
                <a:latin typeface="Times New Roman Bold" panose="02020603050405020304" charset="0"/>
                <a:cs typeface="Times New Roman Bold" panose="02020603050405020304" charset="0"/>
                <a:sym typeface="+mn-ea"/>
              </a:rPr>
              <a:t>LITERATURE REVIEW</a:t>
            </a:r>
            <a:endParaRPr lang="en-IN" dirty="0"/>
          </a:p>
        </p:txBody>
      </p:sp>
      <p:graphicFrame>
        <p:nvGraphicFramePr>
          <p:cNvPr id="5" name="Content Placeholder 4"/>
          <p:cNvGraphicFramePr>
            <a:graphicFrameLocks noGrp="1"/>
          </p:cNvGraphicFramePr>
          <p:nvPr>
            <p:ph idx="1"/>
          </p:nvPr>
        </p:nvGraphicFramePr>
        <p:xfrm>
          <a:off x="1127644" y="896112"/>
          <a:ext cx="10448660" cy="5394960"/>
        </p:xfrm>
        <a:graphic>
          <a:graphicData uri="http://schemas.openxmlformats.org/drawingml/2006/table">
            <a:tbl>
              <a:tblPr firstRow="1" firstCol="1" bandRow="1"/>
              <a:tblGrid>
                <a:gridCol w="2051290"/>
                <a:gridCol w="2048190"/>
                <a:gridCol w="2086426"/>
                <a:gridCol w="2192863"/>
                <a:gridCol w="2069891"/>
              </a:tblGrid>
              <a:tr h="985008">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Author Name , Journal Name , </a:t>
                      </a:r>
                      <a:r>
                        <a:rPr lang="en-US" sz="1600" b="1" dirty="0" err="1">
                          <a:effectLst/>
                          <a:latin typeface="Times New Roman" panose="02020603050405020304" pitchFamily="18" charset="0"/>
                          <a:ea typeface="Times New Roman" panose="02020603050405020304"/>
                          <a:cs typeface="Times New Roman" panose="02020603050405020304" pitchFamily="18" charset="0"/>
                        </a:rPr>
                        <a:t>Vol</a:t>
                      </a:r>
                      <a:r>
                        <a:rPr lang="en-US" sz="1600" b="1" dirty="0">
                          <a:effectLst/>
                          <a:latin typeface="Times New Roman" panose="02020603050405020304" pitchFamily="18" charset="0"/>
                          <a:ea typeface="Times New Roman" panose="02020603050405020304"/>
                          <a:cs typeface="Times New Roman" panose="02020603050405020304" pitchFamily="18" charset="0"/>
                        </a:rPr>
                        <a:t> Page , Year :</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a:effectLst/>
                          <a:latin typeface="Times New Roman" panose="02020603050405020304" pitchFamily="18" charset="0"/>
                          <a:ea typeface="Times New Roman" panose="02020603050405020304"/>
                          <a:cs typeface="Times New Roman" panose="02020603050405020304" pitchFamily="18" charset="0"/>
                        </a:rPr>
                        <a:t>Title of the Paper</a:t>
                      </a:r>
                      <a:endParaRPr lang="en-IN" sz="160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a:effectLst/>
                          <a:latin typeface="Times New Roman" panose="02020603050405020304" pitchFamily="18" charset="0"/>
                          <a:ea typeface="Times New Roman" panose="02020603050405020304"/>
                          <a:cs typeface="Times New Roman" panose="02020603050405020304" pitchFamily="18" charset="0"/>
                        </a:rPr>
                        <a:t>Inference</a:t>
                      </a:r>
                      <a:endParaRPr lang="en-IN" sz="160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a:effectLst/>
                          <a:latin typeface="Times New Roman" panose="02020603050405020304" pitchFamily="18" charset="0"/>
                          <a:ea typeface="Times New Roman" panose="02020603050405020304"/>
                          <a:cs typeface="Times New Roman" panose="02020603050405020304" pitchFamily="18" charset="0"/>
                        </a:rPr>
                        <a:t>Relevance with the present work / Motivation.</a:t>
                      </a:r>
                      <a:endParaRPr lang="en-IN" sz="160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Research Gap</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9952">
                <a:tc>
                  <a:txBody>
                    <a:bodyPr/>
                    <a:lstStyle/>
                    <a:p>
                      <a:pPr algn="l"/>
                      <a:r>
                        <a:rPr lang="en-IN" sz="1600" b="1" dirty="0">
                          <a:effectLst/>
                          <a:latin typeface="Times New Roman" panose="02020603050405020304" pitchFamily="18" charset="0"/>
                          <a:ea typeface="Times New Roman" panose="02020603050405020304"/>
                          <a:cs typeface="Times New Roman" panose="02020603050405020304" pitchFamily="18" charset="0"/>
                        </a:rPr>
                        <a:t>[5]</a:t>
                      </a:r>
                      <a:r>
                        <a:rPr lang="en-IN" sz="1600" dirty="0" err="1">
                          <a:effectLst/>
                          <a:latin typeface="Times New Roman" panose="02020603050405020304" pitchFamily="18" charset="0"/>
                          <a:ea typeface="Times New Roman" panose="02020603050405020304"/>
                          <a:cs typeface="Times New Roman" panose="02020603050405020304" pitchFamily="18" charset="0"/>
                        </a:rPr>
                        <a:t>Guangchen</a:t>
                      </a:r>
                      <a:r>
                        <a:rPr lang="en-IN" sz="1600" dirty="0">
                          <a:effectLst/>
                          <a:latin typeface="Times New Roman" panose="02020603050405020304" pitchFamily="18" charset="0"/>
                          <a:ea typeface="Times New Roman" panose="02020603050405020304"/>
                          <a:cs typeface="Times New Roman" panose="02020603050405020304" pitchFamily="18" charset="0"/>
                        </a:rPr>
                        <a:t> Li, </a:t>
                      </a:r>
                      <a:r>
                        <a:rPr lang="en-IN" sz="1600" dirty="0" err="1">
                          <a:effectLst/>
                          <a:latin typeface="Times New Roman" panose="02020603050405020304" pitchFamily="18" charset="0"/>
                          <a:ea typeface="Times New Roman" panose="02020603050405020304"/>
                          <a:cs typeface="Times New Roman" panose="02020603050405020304" pitchFamily="18" charset="0"/>
                        </a:rPr>
                        <a:t>Kefeng</a:t>
                      </a:r>
                      <a:r>
                        <a:rPr lang="en-IN" sz="1600" dirty="0">
                          <a:effectLst/>
                          <a:latin typeface="Times New Roman" panose="02020603050405020304" pitchFamily="18" charset="0"/>
                          <a:ea typeface="Times New Roman" panose="02020603050405020304"/>
                          <a:cs typeface="Times New Roman" panose="02020603050405020304" pitchFamily="18" charset="0"/>
                        </a:rPr>
                        <a:t> Li, </a:t>
                      </a:r>
                      <a:r>
                        <a:rPr lang="en-IN" sz="1600" dirty="0" err="1">
                          <a:effectLst/>
                          <a:latin typeface="Times New Roman" panose="02020603050405020304" pitchFamily="18" charset="0"/>
                          <a:ea typeface="Times New Roman" panose="02020603050405020304"/>
                          <a:cs typeface="Times New Roman" panose="02020603050405020304" pitchFamily="18" charset="0"/>
                        </a:rPr>
                        <a:t>Guangyuan</a:t>
                      </a:r>
                      <a:r>
                        <a:rPr lang="en-IN" sz="1600" dirty="0">
                          <a:effectLst/>
                          <a:latin typeface="Times New Roman" panose="02020603050405020304" pitchFamily="18" charset="0"/>
                          <a:ea typeface="Times New Roman" panose="02020603050405020304"/>
                          <a:cs typeface="Times New Roman" panose="02020603050405020304" pitchFamily="18" charset="0"/>
                        </a:rPr>
                        <a:t> Zhang*, </a:t>
                      </a:r>
                      <a:r>
                        <a:rPr lang="en-IN" sz="1600" dirty="0" err="1">
                          <a:effectLst/>
                          <a:latin typeface="Times New Roman" panose="02020603050405020304" pitchFamily="18" charset="0"/>
                          <a:ea typeface="Times New Roman" panose="02020603050405020304"/>
                          <a:cs typeface="Times New Roman" panose="02020603050405020304" pitchFamily="18" charset="0"/>
                        </a:rPr>
                        <a:t>Ke</a:t>
                      </a:r>
                      <a:r>
                        <a:rPr lang="en-IN" sz="1600" dirty="0">
                          <a:effectLst/>
                          <a:latin typeface="Times New Roman" panose="02020603050405020304" pitchFamily="18" charset="0"/>
                          <a:ea typeface="Times New Roman" panose="02020603050405020304"/>
                          <a:cs typeface="Times New Roman" panose="02020603050405020304" pitchFamily="18" charset="0"/>
                        </a:rPr>
                        <a:t> Pan, </a:t>
                      </a:r>
                      <a:r>
                        <a:rPr lang="en-IN" sz="1600" dirty="0" err="1">
                          <a:effectLst/>
                          <a:latin typeface="Times New Roman" panose="02020603050405020304" pitchFamily="18" charset="0"/>
                          <a:ea typeface="Times New Roman" panose="02020603050405020304"/>
                          <a:cs typeface="Times New Roman" panose="02020603050405020304" pitchFamily="18" charset="0"/>
                        </a:rPr>
                        <a:t>Yuxuan</a:t>
                      </a:r>
                      <a:r>
                        <a:rPr lang="en-IN" sz="1600" dirty="0">
                          <a:effectLst/>
                          <a:latin typeface="Times New Roman" panose="02020603050405020304" pitchFamily="18" charset="0"/>
                          <a:ea typeface="Times New Roman" panose="02020603050405020304"/>
                          <a:cs typeface="Times New Roman" panose="02020603050405020304" pitchFamily="18" charset="0"/>
                        </a:rPr>
                        <a:t> Ding, </a:t>
                      </a:r>
                      <a:r>
                        <a:rPr lang="en-IN" sz="1600" dirty="0" err="1">
                          <a:effectLst/>
                          <a:latin typeface="Times New Roman" panose="02020603050405020304" pitchFamily="18" charset="0"/>
                          <a:ea typeface="Times New Roman" panose="02020603050405020304"/>
                          <a:cs typeface="Times New Roman" panose="02020603050405020304" pitchFamily="18" charset="0"/>
                        </a:rPr>
                        <a:t>Zhenfei</a:t>
                      </a:r>
                      <a:r>
                        <a:rPr lang="en-IN" sz="1600" dirty="0">
                          <a:effectLst/>
                          <a:latin typeface="Times New Roman" panose="02020603050405020304" pitchFamily="18" charset="0"/>
                          <a:ea typeface="Times New Roman" panose="02020603050405020304"/>
                          <a:cs typeface="Times New Roman" panose="02020603050405020304" pitchFamily="18" charset="0"/>
                        </a:rPr>
                        <a:t> Wang, Chen Fu, </a:t>
                      </a:r>
                      <a:r>
                        <a:rPr lang="en-IN" sz="1600" dirty="0" err="1">
                          <a:effectLst/>
                          <a:latin typeface="Times New Roman" panose="02020603050405020304" pitchFamily="18" charset="0"/>
                          <a:ea typeface="Times New Roman" panose="02020603050405020304"/>
                          <a:cs typeface="Times New Roman" panose="02020603050405020304" pitchFamily="18" charset="0"/>
                        </a:rPr>
                        <a:t>Zhenfang</a:t>
                      </a:r>
                      <a:r>
                        <a:rPr lang="en-IN" sz="1600" dirty="0">
                          <a:effectLst/>
                          <a:latin typeface="Times New Roman" panose="02020603050405020304" pitchFamily="18" charset="0"/>
                          <a:ea typeface="Times New Roman" panose="02020603050405020304"/>
                          <a:cs typeface="Times New Roman" panose="02020603050405020304" pitchFamily="18" charset="0"/>
                        </a:rPr>
                        <a:t> Zhu</a:t>
                      </a:r>
                    </a:p>
                    <a:p>
                      <a:pPr algn="just"/>
                      <a:r>
                        <a:rPr lang="en-IN" sz="1600" i="1" dirty="0">
                          <a:effectLst/>
                          <a:latin typeface="Times New Roman" panose="02020603050405020304" pitchFamily="18" charset="0"/>
                          <a:ea typeface="Times New Roman" panose="02020603050405020304"/>
                          <a:cs typeface="Times New Roman" panose="02020603050405020304" pitchFamily="18" charset="0"/>
                        </a:rPr>
                        <a:t>Scientific Reports</a:t>
                      </a:r>
                      <a:r>
                        <a:rPr lang="en-IN" sz="1600" dirty="0">
                          <a:effectLst/>
                          <a:latin typeface="Times New Roman" panose="02020603050405020304" pitchFamily="18" charset="0"/>
                          <a:ea typeface="Times New Roman" panose="02020603050405020304"/>
                          <a:cs typeface="Times New Roman" panose="02020603050405020304" pitchFamily="18" charset="0"/>
                        </a:rPr>
                        <a:t> (Nature)</a:t>
                      </a:r>
                    </a:p>
                    <a:p>
                      <a:pPr algn="just"/>
                      <a:r>
                        <a:rPr lang="en-IN" sz="1600" dirty="0">
                          <a:effectLst/>
                          <a:latin typeface="Times New Roman" panose="02020603050405020304" pitchFamily="18" charset="0"/>
                          <a:ea typeface="Times New Roman" panose="02020603050405020304"/>
                          <a:cs typeface="Times New Roman" panose="02020603050405020304" pitchFamily="18" charset="0"/>
                        </a:rPr>
                        <a:t>Vol. 15, Year 2025</a:t>
                      </a:r>
                      <a:br>
                        <a:rPr lang="en-IN" sz="1600" dirty="0">
                          <a:effectLst/>
                          <a:latin typeface="Times New Roman" panose="02020603050405020304" pitchFamily="18" charset="0"/>
                          <a:ea typeface="Times New Roman" panose="02020603050405020304"/>
                          <a:cs typeface="Times New Roman" panose="02020603050405020304" pitchFamily="18" charset="0"/>
                        </a:rPr>
                      </a:br>
                      <a:r>
                        <a:rPr lang="en-IN" sz="1600" dirty="0">
                          <a:effectLst/>
                          <a:latin typeface="Times New Roman" panose="02020603050405020304" pitchFamily="18" charset="0"/>
                          <a:ea typeface="Times New Roman" panose="02020603050405020304"/>
                          <a:cs typeface="Times New Roman" panose="02020603050405020304" pitchFamily="18" charset="0"/>
                        </a:rPr>
                        <a:t/>
                      </a:r>
                      <a:br>
                        <a:rPr lang="en-IN" sz="1600" dirty="0">
                          <a:effectLst/>
                          <a:latin typeface="Times New Roman" panose="02020603050405020304" pitchFamily="18" charset="0"/>
                          <a:ea typeface="Times New Roman" panose="02020603050405020304"/>
                          <a:cs typeface="Times New Roman" panose="02020603050405020304" pitchFamily="18" charset="0"/>
                        </a:rPr>
                      </a:br>
                      <a:r>
                        <a:rPr lang="en-IN" sz="1600" b="1" dirty="0">
                          <a:effectLst/>
                          <a:latin typeface="Times New Roman" panose="02020603050405020304" pitchFamily="18" charset="0"/>
                          <a:ea typeface="Times New Roman" panose="02020603050405020304"/>
                          <a:cs typeface="Times New Roman" panose="02020603050405020304" pitchFamily="18" charset="0"/>
                        </a:rPr>
                        <a:t>Article </a:t>
                      </a:r>
                      <a:r>
                        <a:rPr lang="en-IN" sz="1600" dirty="0">
                          <a:effectLst/>
                          <a:latin typeface="Times New Roman" panose="02020603050405020304" pitchFamily="18" charset="0"/>
                          <a:ea typeface="Times New Roman" panose="02020603050405020304"/>
                          <a:cs typeface="Times New Roman" panose="02020603050405020304" pitchFamily="18" charset="0"/>
                        </a:rPr>
                        <a:t>11852</a:t>
                      </a:r>
                    </a:p>
                    <a:p>
                      <a:pPr algn="just">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 </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p>
                      <a:pPr algn="ctr">
                        <a:spcAft>
                          <a:spcPts val="0"/>
                        </a:spcAft>
                      </a:pPr>
                      <a:r>
                        <a:rPr lang="en-US" sz="1600" dirty="0">
                          <a:effectLst/>
                          <a:latin typeface="Times New Roman" panose="02020603050405020304" pitchFamily="18" charset="0"/>
                          <a:ea typeface="Times New Roman" panose="02020603050405020304"/>
                          <a:cs typeface="Times New Roman" panose="02020603050405020304" pitchFamily="18" charset="0"/>
                        </a:rPr>
                        <a:t> </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dirty="0">
                          <a:effectLst/>
                          <a:latin typeface="Times New Roman" panose="02020603050405020304" pitchFamily="18" charset="0"/>
                          <a:ea typeface="Times New Roman" panose="02020603050405020304"/>
                          <a:cs typeface="Times New Roman" panose="02020603050405020304" pitchFamily="18" charset="0"/>
                        </a:rPr>
                        <a:t>A landslide area segmentation method based on an improved </a:t>
                      </a:r>
                      <a:r>
                        <a:rPr lang="en-US" sz="1600" dirty="0" err="1">
                          <a:effectLst/>
                          <a:latin typeface="Times New Roman" panose="02020603050405020304" pitchFamily="18" charset="0"/>
                          <a:ea typeface="Times New Roman" panose="02020603050405020304"/>
                          <a:cs typeface="Times New Roman" panose="02020603050405020304" pitchFamily="18" charset="0"/>
                        </a:rPr>
                        <a:t>UNet</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600">
                          <a:effectLst/>
                          <a:latin typeface="Times New Roman" panose="02020603050405020304" pitchFamily="18" charset="0"/>
                          <a:ea typeface="Times New Roman" panose="02020603050405020304"/>
                          <a:cs typeface="Times New Roman" panose="02020603050405020304" pitchFamily="18" charset="0"/>
                        </a:rPr>
                        <a:t>The improved </a:t>
                      </a:r>
                      <a:r>
                        <a:rPr lang="en-US" sz="1600" b="1">
                          <a:effectLst/>
                          <a:latin typeface="Times New Roman" panose="02020603050405020304" pitchFamily="18" charset="0"/>
                          <a:ea typeface="Times New Roman" panose="02020603050405020304"/>
                          <a:cs typeface="Times New Roman" panose="02020603050405020304" pitchFamily="18" charset="0"/>
                        </a:rPr>
                        <a:t>DEP-UNet</a:t>
                      </a:r>
                      <a:r>
                        <a:rPr lang="en-US" sz="1600">
                          <a:effectLst/>
                          <a:latin typeface="Times New Roman" panose="02020603050405020304" pitchFamily="18" charset="0"/>
                          <a:ea typeface="Times New Roman" panose="02020603050405020304"/>
                          <a:cs typeface="Times New Roman" panose="02020603050405020304" pitchFamily="18" charset="0"/>
                        </a:rPr>
                        <a:t> (with Dilated Convolution + EMA Attention + Pag module) gives </a:t>
                      </a:r>
                      <a:r>
                        <a:rPr lang="en-US" sz="1600" b="1">
                          <a:effectLst/>
                          <a:latin typeface="Times New Roman" panose="02020603050405020304" pitchFamily="18" charset="0"/>
                          <a:ea typeface="Times New Roman" panose="02020603050405020304"/>
                          <a:cs typeface="Times New Roman" panose="02020603050405020304" pitchFamily="18" charset="0"/>
                        </a:rPr>
                        <a:t>better accuracy</a:t>
                      </a:r>
                      <a:r>
                        <a:rPr lang="en-US" sz="1600">
                          <a:effectLst/>
                          <a:latin typeface="Times New Roman" panose="02020603050405020304" pitchFamily="18" charset="0"/>
                          <a:ea typeface="Times New Roman" panose="02020603050405020304"/>
                          <a:cs typeface="Times New Roman" panose="02020603050405020304" pitchFamily="18" charset="0"/>
                        </a:rPr>
                        <a:t> than normal U-Net, improving mIoU, Precision, Recall and F1-score by </a:t>
                      </a:r>
                      <a:r>
                        <a:rPr lang="en-US" sz="1600" b="1">
                          <a:effectLst/>
                          <a:latin typeface="Times New Roman" panose="02020603050405020304" pitchFamily="18" charset="0"/>
                          <a:ea typeface="Times New Roman" panose="02020603050405020304"/>
                          <a:cs typeface="Times New Roman" panose="02020603050405020304" pitchFamily="18" charset="0"/>
                        </a:rPr>
                        <a:t>~2–3%</a:t>
                      </a:r>
                      <a:r>
                        <a:rPr lang="en-US" sz="1600">
                          <a:effectLst/>
                          <a:latin typeface="Times New Roman" panose="02020603050405020304" pitchFamily="18" charset="0"/>
                          <a:ea typeface="Times New Roman" panose="02020603050405020304"/>
                          <a:cs typeface="Times New Roman" panose="02020603050405020304" pitchFamily="18" charset="0"/>
                        </a:rPr>
                        <a:t>.</a:t>
                      </a:r>
                      <a:endParaRPr lang="en-IN" sz="160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IN" sz="1600">
                          <a:effectLst/>
                          <a:latin typeface="Times New Roman" panose="02020603050405020304" pitchFamily="18" charset="0"/>
                          <a:ea typeface="Times New Roman" panose="02020603050405020304"/>
                          <a:cs typeface="Times New Roman" panose="02020603050405020304" pitchFamily="18" charset="0"/>
                        </a:rPr>
                        <a:t>  Uses </a:t>
                      </a:r>
                      <a:r>
                        <a:rPr lang="en-IN" sz="1600" b="1">
                          <a:effectLst/>
                          <a:latin typeface="Times New Roman" panose="02020603050405020304" pitchFamily="18" charset="0"/>
                          <a:ea typeface="Times New Roman" panose="02020603050405020304"/>
                          <a:cs typeface="Times New Roman" panose="02020603050405020304" pitchFamily="18" charset="0"/>
                        </a:rPr>
                        <a:t>U-Net improvements</a:t>
                      </a:r>
                      <a:r>
                        <a:rPr lang="en-IN" sz="1600">
                          <a:effectLst/>
                          <a:latin typeface="Times New Roman" panose="02020603050405020304" pitchFamily="18" charset="0"/>
                          <a:ea typeface="Times New Roman" panose="02020603050405020304"/>
                          <a:cs typeface="Times New Roman" panose="02020603050405020304" pitchFamily="18" charset="0"/>
                        </a:rPr>
                        <a:t>, same as your </a:t>
                      </a:r>
                      <a:r>
                        <a:rPr lang="en-IN" sz="1600" b="1">
                          <a:effectLst/>
                          <a:latin typeface="Times New Roman" panose="02020603050405020304" pitchFamily="18" charset="0"/>
                          <a:ea typeface="Times New Roman" panose="02020603050405020304"/>
                          <a:cs typeface="Times New Roman" panose="02020603050405020304" pitchFamily="18" charset="0"/>
                        </a:rPr>
                        <a:t>U-Net / Attention U-Net</a:t>
                      </a:r>
                      <a:r>
                        <a:rPr lang="en-IN" sz="1600">
                          <a:effectLst/>
                          <a:latin typeface="Times New Roman" panose="02020603050405020304" pitchFamily="18" charset="0"/>
                          <a:ea typeface="Times New Roman" panose="02020603050405020304"/>
                          <a:cs typeface="Times New Roman" panose="02020603050405020304" pitchFamily="18" charset="0"/>
                        </a:rPr>
                        <a:t> project.</a:t>
                      </a:r>
                    </a:p>
                    <a:p>
                      <a:pPr algn="l"/>
                      <a:r>
                        <a:rPr lang="en-IN" sz="1600">
                          <a:effectLst/>
                          <a:latin typeface="Times New Roman" panose="02020603050405020304" pitchFamily="18" charset="0"/>
                          <a:ea typeface="Times New Roman" panose="02020603050405020304"/>
                          <a:cs typeface="Times New Roman" panose="02020603050405020304" pitchFamily="18" charset="0"/>
                        </a:rPr>
                        <a:t>  Shows why </a:t>
                      </a:r>
                      <a:r>
                        <a:rPr lang="en-IN" sz="1600" b="1">
                          <a:effectLst/>
                          <a:latin typeface="Times New Roman" panose="02020603050405020304" pitchFamily="18" charset="0"/>
                          <a:ea typeface="Times New Roman" panose="02020603050405020304"/>
                          <a:cs typeface="Times New Roman" panose="02020603050405020304" pitchFamily="18" charset="0"/>
                        </a:rPr>
                        <a:t>attention modules</a:t>
                      </a:r>
                      <a:r>
                        <a:rPr lang="en-IN" sz="1600">
                          <a:effectLst/>
                          <a:latin typeface="Times New Roman" panose="02020603050405020304" pitchFamily="18" charset="0"/>
                          <a:ea typeface="Times New Roman" panose="02020603050405020304"/>
                          <a:cs typeface="Times New Roman" panose="02020603050405020304" pitchFamily="18" charset="0"/>
                        </a:rPr>
                        <a:t> and </a:t>
                      </a:r>
                      <a:r>
                        <a:rPr lang="en-IN" sz="1600" b="1">
                          <a:effectLst/>
                          <a:latin typeface="Times New Roman" panose="02020603050405020304" pitchFamily="18" charset="0"/>
                          <a:ea typeface="Times New Roman" panose="02020603050405020304"/>
                          <a:cs typeface="Times New Roman" panose="02020603050405020304" pitchFamily="18" charset="0"/>
                        </a:rPr>
                        <a:t>better skip connections</a:t>
                      </a:r>
                      <a:r>
                        <a:rPr lang="en-IN" sz="1600">
                          <a:effectLst/>
                          <a:latin typeface="Times New Roman" panose="02020603050405020304" pitchFamily="18" charset="0"/>
                          <a:ea typeface="Times New Roman" panose="02020603050405020304"/>
                          <a:cs typeface="Times New Roman" panose="02020603050405020304" pitchFamily="18" charset="0"/>
                        </a:rPr>
                        <a:t> increase segmentation accuracy.</a:t>
                      </a:r>
                    </a:p>
                    <a:p>
                      <a:pPr algn="l"/>
                      <a:r>
                        <a:rPr lang="en-IN" sz="1600">
                          <a:effectLst/>
                          <a:latin typeface="Times New Roman" panose="02020603050405020304" pitchFamily="18" charset="0"/>
                          <a:ea typeface="Times New Roman" panose="02020603050405020304"/>
                          <a:cs typeface="Times New Roman" panose="02020603050405020304" pitchFamily="18" charset="0"/>
                        </a:rPr>
                        <a:t>  Proves that </a:t>
                      </a:r>
                      <a:r>
                        <a:rPr lang="en-IN" sz="1600" b="1">
                          <a:effectLst/>
                          <a:latin typeface="Times New Roman" panose="02020603050405020304" pitchFamily="18" charset="0"/>
                          <a:ea typeface="Times New Roman" panose="02020603050405020304"/>
                          <a:cs typeface="Times New Roman" panose="02020603050405020304" pitchFamily="18" charset="0"/>
                        </a:rPr>
                        <a:t>deep learning is effective</a:t>
                      </a:r>
                      <a:r>
                        <a:rPr lang="en-IN" sz="1600">
                          <a:effectLst/>
                          <a:latin typeface="Times New Roman" panose="02020603050405020304" pitchFamily="18" charset="0"/>
                          <a:ea typeface="Times New Roman" panose="02020603050405020304"/>
                          <a:cs typeface="Times New Roman" panose="02020603050405020304" pitchFamily="18" charset="0"/>
                        </a:rPr>
                        <a:t> for pixel-wise landslide mapping.</a:t>
                      </a:r>
                    </a:p>
                    <a:p>
                      <a:pPr algn="l"/>
                      <a:r>
                        <a:rPr lang="en-IN" sz="1600">
                          <a:effectLst/>
                          <a:latin typeface="Times New Roman" panose="02020603050405020304" pitchFamily="18" charset="0"/>
                          <a:ea typeface="Times New Roman" panose="02020603050405020304"/>
                          <a:cs typeface="Times New Roman" panose="02020603050405020304" pitchFamily="18" charset="0"/>
                        </a:rPr>
                        <a:t>  Motivates improving your model with better feature extraction + better fusion.</a:t>
                      </a:r>
                    </a:p>
                    <a:p>
                      <a:pPr algn="just">
                        <a:spcAft>
                          <a:spcPts val="0"/>
                        </a:spcAft>
                      </a:pPr>
                      <a:r>
                        <a:rPr lang="en-US" sz="1600" b="1">
                          <a:effectLst/>
                          <a:latin typeface="Times New Roman" panose="02020603050405020304" pitchFamily="18" charset="0"/>
                          <a:ea typeface="Times New Roman" panose="02020603050405020304"/>
                          <a:cs typeface="Times New Roman" panose="02020603050405020304" pitchFamily="18" charset="0"/>
                        </a:rPr>
                        <a:t> </a:t>
                      </a:r>
                      <a:endParaRPr lang="en-IN" sz="1600">
                        <a:effectLst/>
                        <a:latin typeface="Times New Roman" panose="02020603050405020304" pitchFamily="18" charset="0"/>
                        <a:ea typeface="Times New Roman" panose="02020603050405020304"/>
                        <a:cs typeface="Times New Roman" panose="02020603050405020304" pitchFamily="18" charset="0"/>
                      </a:endParaRPr>
                    </a:p>
                    <a:p>
                      <a:pPr indent="457200" algn="just">
                        <a:spcAft>
                          <a:spcPts val="0"/>
                        </a:spcAft>
                      </a:pPr>
                      <a:r>
                        <a:rPr lang="en-US" sz="1600">
                          <a:effectLst/>
                          <a:latin typeface="Times New Roman" panose="02020603050405020304" pitchFamily="18" charset="0"/>
                          <a:ea typeface="Times New Roman" panose="02020603050405020304"/>
                          <a:cs typeface="Times New Roman" panose="02020603050405020304" pitchFamily="18" charset="0"/>
                        </a:rPr>
                        <a:t> </a:t>
                      </a:r>
                      <a:endParaRPr lang="en-IN" sz="160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r>
                        <a:rPr lang="en-IN" sz="1600" dirty="0">
                          <a:effectLst/>
                          <a:latin typeface="Times New Roman" panose="02020603050405020304" pitchFamily="18" charset="0"/>
                          <a:ea typeface="Times New Roman" panose="02020603050405020304"/>
                          <a:cs typeface="Times New Roman" panose="02020603050405020304" pitchFamily="18" charset="0"/>
                        </a:rPr>
                        <a:t>  Standard U-Net loses spatial info + has weak skip connections.</a:t>
                      </a:r>
                    </a:p>
                    <a:p>
                      <a:pPr algn="l"/>
                      <a:r>
                        <a:rPr lang="en-IN" sz="1600" dirty="0">
                          <a:effectLst/>
                          <a:latin typeface="Times New Roman" panose="02020603050405020304" pitchFamily="18" charset="0"/>
                          <a:ea typeface="Times New Roman" panose="02020603050405020304"/>
                          <a:cs typeface="Times New Roman" panose="02020603050405020304" pitchFamily="18" charset="0"/>
                        </a:rPr>
                        <a:t>  Hard to capture multi-scale features of landslides.</a:t>
                      </a:r>
                    </a:p>
                    <a:p>
                      <a:pPr algn="l"/>
                      <a:r>
                        <a:rPr lang="en-IN" sz="1600" dirty="0">
                          <a:effectLst/>
                          <a:latin typeface="Times New Roman" panose="02020603050405020304" pitchFamily="18" charset="0"/>
                          <a:ea typeface="Times New Roman" panose="02020603050405020304"/>
                          <a:cs typeface="Times New Roman" panose="02020603050405020304" pitchFamily="18" charset="0"/>
                        </a:rPr>
                        <a:t>  Need better feature extraction (context) + better attention.</a:t>
                      </a:r>
                    </a:p>
                    <a:p>
                      <a:pPr algn="l"/>
                      <a:r>
                        <a:rPr lang="en-IN" sz="1600" dirty="0">
                          <a:effectLst/>
                          <a:latin typeface="Times New Roman" panose="02020603050405020304" pitchFamily="18" charset="0"/>
                          <a:ea typeface="Times New Roman" panose="02020603050405020304"/>
                          <a:cs typeface="Times New Roman" panose="02020603050405020304" pitchFamily="18" charset="0"/>
                        </a:rPr>
                        <a:t>  Existing models struggle with boundaries and fine details.</a:t>
                      </a:r>
                    </a:p>
                    <a:p>
                      <a:pPr algn="just">
                        <a:spcAft>
                          <a:spcPts val="0"/>
                        </a:spcAft>
                      </a:pPr>
                      <a:r>
                        <a:rPr lang="en-US" sz="1600" b="1" dirty="0">
                          <a:effectLst/>
                          <a:latin typeface="Times New Roman" panose="02020603050405020304" pitchFamily="18" charset="0"/>
                          <a:ea typeface="Times New Roman" panose="02020603050405020304"/>
                          <a:cs typeface="Times New Roman" panose="02020603050405020304" pitchFamily="18" charset="0"/>
                        </a:rPr>
                        <a:t> </a:t>
                      </a:r>
                      <a:endParaRPr lang="en-IN" sz="1600" dirty="0">
                        <a:effectLst/>
                        <a:latin typeface="Times New Roman" panose="02020603050405020304" pitchFamily="18" charset="0"/>
                        <a:ea typeface="Times New Roman" panose="02020603050405020304"/>
                        <a:cs typeface="Times New Roman" panose="02020603050405020304" pitchFamily="18" charset="0"/>
                      </a:endParaRPr>
                    </a:p>
                  </a:txBody>
                  <a:tcPr marL="50496" marR="504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4" name="Slide Number Placeholder 3"/>
          <p:cNvSpPr>
            <a:spLocks noGrp="1"/>
          </p:cNvSpPr>
          <p:nvPr>
            <p:ph type="sldNum" sz="quarter" idx="12"/>
          </p:nvPr>
        </p:nvSpPr>
        <p:spPr/>
        <p:txBody>
          <a:bodyPr/>
          <a:lstStyle/>
          <a:p>
            <a:fld id="{AE58FF4D-9703-46B8-851C-DA8FCFE4D55D}" type="slidenum">
              <a:rPr lang="en-US" smtClean="0"/>
              <a:t>10</a:t>
            </a:fld>
            <a:endParaRPr lang="en-US"/>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0"/>
            <a:ext cx="10972800" cy="852170"/>
          </a:xfrm>
        </p:spPr>
        <p:txBody>
          <a:bodyPr/>
          <a:lstStyle/>
          <a:p>
            <a:r>
              <a:rPr lang="en-US" sz="2800" b="1" dirty="0">
                <a:latin typeface="Times New Roman Bold" panose="02020603050405020304" charset="0"/>
                <a:cs typeface="Times New Roman Bold" panose="02020603050405020304" charset="0"/>
              </a:rPr>
              <a:t>SUMMARY OF RESEARCH GAP</a:t>
            </a:r>
          </a:p>
        </p:txBody>
      </p:sp>
      <p:sp>
        <p:nvSpPr>
          <p:cNvPr id="3" name="Content Placeholder 2"/>
          <p:cNvSpPr>
            <a:spLocks noGrp="1"/>
          </p:cNvSpPr>
          <p:nvPr>
            <p:ph idx="1"/>
          </p:nvPr>
        </p:nvSpPr>
        <p:spPr>
          <a:xfrm>
            <a:off x="488315" y="1219838"/>
            <a:ext cx="10972800" cy="4525963"/>
          </a:xfrm>
        </p:spPr>
        <p:txBody>
          <a:bodyPr>
            <a:noAutofit/>
          </a:bodyPr>
          <a:lstStyle/>
          <a:p>
            <a:r>
              <a:rPr lang="en-US" altLang="en-US" sz="2100" dirty="0">
                <a:latin typeface="Times New Roman" panose="02020603050405020304" pitchFamily="18" charset="0"/>
                <a:cs typeface="Times New Roman" panose="02020603050405020304" pitchFamily="18" charset="0"/>
              </a:rPr>
              <a:t>Large or remote locations cannot benefit from the slow and laborious nature of traditional landslide detection, which depends on specialists to visually examine satellite or ground photos.</a:t>
            </a:r>
          </a:p>
          <a:p>
            <a:endParaRPr lang="en-US" altLang="en-US" sz="2100" dirty="0">
              <a:latin typeface="Times New Roman" panose="02020603050405020304" pitchFamily="18" charset="0"/>
              <a:cs typeface="Times New Roman" panose="02020603050405020304" pitchFamily="18" charset="0"/>
            </a:endParaRPr>
          </a:p>
          <a:p>
            <a:r>
              <a:rPr lang="en-US" altLang="en-US" sz="2100" dirty="0">
                <a:latin typeface="Times New Roman" panose="02020603050405020304" pitchFamily="18" charset="0"/>
                <a:cs typeface="Times New Roman" panose="02020603050405020304" pitchFamily="18" charset="0"/>
              </a:rPr>
              <a:t> Existing approaches struggle with accuracy, notably in identifying landslide zones from complicated backdrops, resulting to uneven findings.</a:t>
            </a:r>
          </a:p>
          <a:p>
            <a:endParaRPr lang="en-US" altLang="en-US" sz="2100" dirty="0">
              <a:latin typeface="Times New Roman" panose="02020603050405020304" pitchFamily="18" charset="0"/>
              <a:cs typeface="Times New Roman" panose="02020603050405020304" pitchFamily="18" charset="0"/>
            </a:endParaRPr>
          </a:p>
          <a:p>
            <a:r>
              <a:rPr lang="en-US" altLang="en-US" sz="2100" dirty="0">
                <a:latin typeface="Times New Roman" panose="02020603050405020304" pitchFamily="18" charset="0"/>
                <a:cs typeface="Times New Roman" panose="02020603050405020304" pitchFamily="18" charset="0"/>
              </a:rPr>
              <a:t> There is a shortage of automated deep-learning-based segmentation algorithms that can swiftly and precisely pinpoint landslide-affected locations for speedier risk assessment and catastrophe response.</a:t>
            </a:r>
          </a:p>
        </p:txBody>
      </p:sp>
      <p:sp>
        <p:nvSpPr>
          <p:cNvPr id="4" name="Slide Number Placeholder 3"/>
          <p:cNvSpPr>
            <a:spLocks noGrp="1"/>
          </p:cNvSpPr>
          <p:nvPr>
            <p:ph type="sldNum" sz="quarter" idx="12"/>
          </p:nvPr>
        </p:nvSpPr>
        <p:spPr/>
        <p:txBody>
          <a:bodyPr/>
          <a:lstStyle/>
          <a:p>
            <a:fld id="{AE58FF4D-9703-46B8-851C-DA8FCFE4D55D}" type="slidenum">
              <a:rPr lang="en-US" smtClean="0"/>
              <a:t>11</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2631" y="-91070"/>
            <a:ext cx="7490173" cy="738628"/>
          </a:xfrm>
        </p:spPr>
        <p:txBody>
          <a:bodyPr>
            <a:noAutofit/>
          </a:bodyPr>
          <a:lstStyle/>
          <a:p>
            <a:r>
              <a:rPr lang="en-US" sz="2800" dirty="0">
                <a:solidFill>
                  <a:srgbClr val="000000"/>
                </a:solidFill>
                <a:latin typeface="+mn-lt"/>
              </a:rPr>
              <a:t/>
            </a:r>
            <a:br>
              <a:rPr lang="en-US" sz="2800" dirty="0">
                <a:solidFill>
                  <a:srgbClr val="000000"/>
                </a:solidFill>
                <a:latin typeface="+mn-lt"/>
              </a:rPr>
            </a:br>
            <a:r>
              <a:rPr lang="en-US" sz="2800" b="1" dirty="0">
                <a:solidFill>
                  <a:srgbClr val="000000"/>
                </a:solidFill>
                <a:latin typeface="Times New Roman" panose="02020603050405020304" pitchFamily="18" charset="0"/>
                <a:cs typeface="Times New Roman" panose="02020603050405020304" pitchFamily="18" charset="0"/>
              </a:rPr>
              <a:t>PROBLEM DEFINITION</a:t>
            </a:r>
            <a:r>
              <a:rPr lang="en-US" sz="2800" b="0" i="0" dirty="0">
                <a:solidFill>
                  <a:srgbClr val="000000"/>
                </a:solidFill>
                <a:effectLst/>
                <a:latin typeface="+mn-lt"/>
              </a:rPr>
              <a:t/>
            </a:r>
            <a:br>
              <a:rPr lang="en-US" sz="2800" b="0" i="0" dirty="0">
                <a:solidFill>
                  <a:srgbClr val="000000"/>
                </a:solidFill>
                <a:effectLst/>
                <a:latin typeface="+mn-lt"/>
              </a:rPr>
            </a:br>
            <a:endParaRPr lang="en-US" sz="2800" b="1" dirty="0">
              <a:latin typeface="Times New Roman Bold" panose="02020603050405020304" charset="0"/>
              <a:cs typeface="Times New Roman Bold" panose="02020603050405020304" charset="0"/>
            </a:endParaRPr>
          </a:p>
        </p:txBody>
      </p:sp>
      <p:sp>
        <p:nvSpPr>
          <p:cNvPr id="3" name="Content Placeholder 2"/>
          <p:cNvSpPr>
            <a:spLocks noGrp="1"/>
          </p:cNvSpPr>
          <p:nvPr>
            <p:ph idx="1"/>
          </p:nvPr>
        </p:nvSpPr>
        <p:spPr>
          <a:xfrm>
            <a:off x="663575" y="1817370"/>
            <a:ext cx="11077575" cy="4504055"/>
          </a:xfrm>
        </p:spPr>
        <p:txBody>
          <a:bodyPr>
            <a:noAutofit/>
          </a:bodyPr>
          <a:lstStyle/>
          <a:p>
            <a:pPr algn="just">
              <a:lnSpc>
                <a:spcPct val="107000"/>
              </a:lnSpc>
              <a:spcAft>
                <a:spcPts val="800"/>
              </a:spcAft>
            </a:pPr>
            <a:r>
              <a:rPr lang="en-US" altLang="en-US" sz="2100" dirty="0">
                <a:latin typeface="Times New Roman" panose="02020603050405020304" pitchFamily="18" charset="0"/>
                <a:ea typeface="Times New Roman" panose="02020603050405020304" pitchFamily="18" charset="0"/>
              </a:rPr>
              <a:t>Current landslide detection is slow, manual, and often inaccurate, struggling to identify landslide regions at the pixel level. A deep learning-based Attention U-Net model is required to accurately highlight impacted areas and help early risk assessment because current landslide detection is sluggish, manual, and frequently wrong, struggling to identify landslide regions at the pixel level.</a:t>
            </a:r>
          </a:p>
        </p:txBody>
      </p:sp>
      <p:sp>
        <p:nvSpPr>
          <p:cNvPr id="4" name="Slide Number Placeholder 3"/>
          <p:cNvSpPr>
            <a:spLocks noGrp="1"/>
          </p:cNvSpPr>
          <p:nvPr>
            <p:ph type="sldNum" sz="quarter" idx="12"/>
          </p:nvPr>
        </p:nvSpPr>
        <p:spPr/>
        <p:txBody>
          <a:bodyPr/>
          <a:lstStyle/>
          <a:p>
            <a:fld id="{AE58FF4D-9703-46B8-851C-DA8FCFE4D55D}" type="slidenum">
              <a:rPr lang="en-US" smtClean="0"/>
              <a:t>12</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6"/>
          <p:cNvSpPr txBox="1"/>
          <p:nvPr/>
        </p:nvSpPr>
        <p:spPr>
          <a:xfrm>
            <a:off x="1257300" y="4490720"/>
            <a:ext cx="3546475" cy="368300"/>
          </a:xfrm>
          <a:prstGeom prst="rect">
            <a:avLst/>
          </a:prstGeom>
          <a:noFill/>
        </p:spPr>
        <p:txBody>
          <a:bodyPr wrap="square" rtlCol="0">
            <a:spAutoFit/>
          </a:bodyPr>
          <a:lstStyle/>
          <a:p>
            <a:pPr marL="285750" indent="-285750">
              <a:buFont typeface="Arial" panose="020B0704020202020204" pitchFamily="34" charset="0"/>
              <a:buChar char="•"/>
            </a:pPr>
            <a:endParaRPr lang="en-US">
              <a:latin typeface="Times New Roman Regular" panose="02020603050405020304" charset="0"/>
              <a:cs typeface="Times New Roman Regular"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019"/>
            <a:ext cx="10972800" cy="639762"/>
          </a:xfrm>
        </p:spPr>
        <p:txBody>
          <a:bodyPr>
            <a:normAutofit/>
          </a:bodyPr>
          <a:lstStyle/>
          <a:p>
            <a:r>
              <a:rPr lang="en-US" sz="2800" b="1" dirty="0">
                <a:solidFill>
                  <a:schemeClr val="tx1"/>
                </a:solidFill>
                <a:effectLst/>
                <a:latin typeface="Times New Roman Bold" panose="02020603050405020304" charset="0"/>
                <a:cs typeface="Times New Roman Bold" panose="02020603050405020304" charset="0"/>
                <a:sym typeface="+mn-ea"/>
              </a:rPr>
              <a:t>OBJECTIVE </a:t>
            </a:r>
            <a:endParaRPr lang="en-IN" sz="2800" dirty="0">
              <a:effectLst/>
            </a:endParaRPr>
          </a:p>
        </p:txBody>
      </p:sp>
      <p:sp>
        <p:nvSpPr>
          <p:cNvPr id="3" name="Content Placeholder 2"/>
          <p:cNvSpPr>
            <a:spLocks noGrp="1"/>
          </p:cNvSpPr>
          <p:nvPr>
            <p:ph idx="1"/>
          </p:nvPr>
        </p:nvSpPr>
        <p:spPr>
          <a:xfrm>
            <a:off x="609600" y="1934210"/>
            <a:ext cx="10972800" cy="4192270"/>
          </a:xfrm>
        </p:spPr>
        <p:txBody>
          <a:bodyPr>
            <a:normAutofit/>
          </a:bodyPr>
          <a:lstStyle/>
          <a:p>
            <a:pPr algn="just"/>
            <a:r>
              <a:rPr lang="en-US" altLang="en-US" sz="2100" dirty="0">
                <a:latin typeface="Times New Roman" panose="02020603050405020304" pitchFamily="18" charset="0"/>
                <a:cs typeface="Times New Roman" panose="02020603050405020304" pitchFamily="18" charset="0"/>
              </a:rPr>
              <a:t>To create a deep-learning–based Attention U-Net model that reliably separates landslide zones in satellite data and analyzes its performance using important measures like Precision, Recall, F1-Score, Dice Score, and Pixel Accuracy.</a:t>
            </a:r>
          </a:p>
        </p:txBody>
      </p:sp>
      <p:sp>
        <p:nvSpPr>
          <p:cNvPr id="4" name="Slide Number Placeholder 3"/>
          <p:cNvSpPr>
            <a:spLocks noGrp="1"/>
          </p:cNvSpPr>
          <p:nvPr>
            <p:ph type="sldNum" sz="quarter" idx="12"/>
          </p:nvPr>
        </p:nvSpPr>
        <p:spPr/>
        <p:txBody>
          <a:bodyPr/>
          <a:lstStyle/>
          <a:p>
            <a:fld id="{AE58FF4D-9703-46B8-851C-DA8FCFE4D55D}" type="slidenum">
              <a:rPr lang="en-US" smtClean="0"/>
              <a:t>13</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840" y="68580"/>
            <a:ext cx="10972800" cy="609600"/>
          </a:xfrm>
        </p:spPr>
        <p:txBody>
          <a:bodyPr>
            <a:normAutofit/>
          </a:bodyPr>
          <a:lstStyle/>
          <a:p>
            <a:r>
              <a:rPr lang="en-IN" sz="2800" b="1" dirty="0">
                <a:latin typeface="Times New Roman" panose="02020603050405020304" pitchFamily="18" charset="0"/>
                <a:cs typeface="Times New Roman" panose="02020603050405020304" pitchFamily="18" charset="0"/>
              </a:rPr>
              <a:t>SOLUTION STRATEGY</a:t>
            </a:r>
          </a:p>
        </p:txBody>
      </p:sp>
      <p:sp>
        <p:nvSpPr>
          <p:cNvPr id="3" name="Content Placeholder 2"/>
          <p:cNvSpPr>
            <a:spLocks noGrp="1"/>
          </p:cNvSpPr>
          <p:nvPr>
            <p:ph idx="1"/>
          </p:nvPr>
        </p:nvSpPr>
        <p:spPr>
          <a:xfrm>
            <a:off x="609600" y="2009775"/>
            <a:ext cx="10972800" cy="4116705"/>
          </a:xfrm>
        </p:spPr>
        <p:txBody>
          <a:bodyPr>
            <a:normAutofit/>
          </a:bodyPr>
          <a:lstStyle/>
          <a:p>
            <a:pPr algn="just"/>
            <a:r>
              <a:rPr lang="en-US" altLang="en-US" sz="2100" dirty="0">
                <a:latin typeface="Times New Roman" panose="02020603050405020304" pitchFamily="18" charset="0"/>
                <a:cs typeface="Times New Roman" panose="02020603050405020304" pitchFamily="18" charset="0"/>
              </a:rPr>
              <a:t>Use a deep learning method based on Attention U-Net Model that takes satellite images as input , uses attention gates to improve important landslide features , and output a pixel-level segmentation mask . This method helps focus on real landslide areas while cutting down on background noise and misclassification</a:t>
            </a:r>
          </a:p>
        </p:txBody>
      </p:sp>
      <p:sp>
        <p:nvSpPr>
          <p:cNvPr id="4" name="Slide Number Placeholder 3"/>
          <p:cNvSpPr>
            <a:spLocks noGrp="1"/>
          </p:cNvSpPr>
          <p:nvPr>
            <p:ph type="sldNum" sz="quarter" idx="12"/>
          </p:nvPr>
        </p:nvSpPr>
        <p:spPr/>
        <p:txBody>
          <a:bodyPr/>
          <a:lstStyle/>
          <a:p>
            <a:fld id="{AE58FF4D-9703-46B8-851C-DA8FCFE4D55D}" type="slidenum">
              <a:rPr lang="en-US" smtClean="0"/>
              <a:t>14</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txBox="1">
            <a:spLocks noChangeArrowheads="1"/>
          </p:cNvSpPr>
          <p:nvPr/>
        </p:nvSpPr>
        <p:spPr bwMode="auto">
          <a:xfrm>
            <a:off x="2562859" y="49173"/>
            <a:ext cx="6934200" cy="685800"/>
          </a:xfrm>
          <a:prstGeom prst="rect">
            <a:avLst/>
          </a:prstGeom>
          <a:noFill/>
          <a:ln>
            <a:noFill/>
          </a:ln>
        </p:spPr>
        <p:txBody>
          <a:bodyPr anchor="ct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a:lstStyle>
          <a:p>
            <a:pPr algn="ctr" eaLnBrk="1" fontAlgn="auto" hangingPunct="1">
              <a:spcAft>
                <a:spcPts val="0"/>
              </a:spcAft>
              <a:defRPr/>
            </a:pPr>
            <a:r>
              <a:rPr lang="en-US" sz="2800" b="1" dirty="0">
                <a:latin typeface="Times New Roman Bold" panose="02020603050405020304" charset="0"/>
                <a:cs typeface="Times New Roman Bold" panose="02020603050405020304" charset="0"/>
              </a:rPr>
              <a:t>METHODOLOGY</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978776" cy="5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AE58FF4D-9703-46B8-851C-DA8FCFE4D55D}" type="slidenum">
              <a:rPr lang="en-US" smtClean="0"/>
              <a:t>15</a:t>
            </a:fld>
            <a:endParaRPr lang="en-US"/>
          </a:p>
        </p:txBody>
      </p:sp>
      <p:sp>
        <p:nvSpPr>
          <p:cNvPr id="3" name="Text Box 2"/>
          <p:cNvSpPr txBox="1"/>
          <p:nvPr/>
        </p:nvSpPr>
        <p:spPr>
          <a:xfrm>
            <a:off x="156210" y="556260"/>
            <a:ext cx="6245225" cy="6022975"/>
          </a:xfrm>
          <a:prstGeom prst="rect">
            <a:avLst/>
          </a:prstGeom>
          <a:noFill/>
        </p:spPr>
        <p:txBody>
          <a:bodyPr wrap="square" rtlCol="0">
            <a:noAutofit/>
          </a:bodyPr>
          <a:lstStyle/>
          <a:p>
            <a:pPr indent="0">
              <a:lnSpc>
                <a:spcPct val="150000"/>
              </a:lnSpc>
              <a:buFont typeface="Arial" panose="020B0704020202020204" pitchFamily="34" charset="0"/>
              <a:buNone/>
            </a:pPr>
            <a:r>
              <a:rPr lang="en-US" altLang="en-US" b="1" dirty="0" smtClean="0">
                <a:latin typeface="Times New Roman" panose="02020603050405020304" pitchFamily="18" charset="0"/>
                <a:cs typeface="Times New Roman" panose="02020603050405020304" pitchFamily="18" charset="0"/>
              </a:rPr>
              <a:t>1</a:t>
            </a:r>
            <a:r>
              <a:rPr lang="en-US" altLang="en-US" b="1" dirty="0">
                <a:latin typeface="Times New Roman" panose="02020603050405020304" pitchFamily="18" charset="0"/>
                <a:cs typeface="Times New Roman" panose="02020603050405020304" pitchFamily="18" charset="0"/>
              </a:rPr>
              <a:t>. Dataset Collection</a:t>
            </a:r>
          </a:p>
          <a:p>
            <a:pPr>
              <a:lnSpc>
                <a:spcPct val="150000"/>
              </a:lnSpc>
            </a:pPr>
            <a:r>
              <a:rPr lang="en-US" altLang="en-US" b="1" dirty="0" smtClean="0">
                <a:latin typeface="Times New Roman" panose="02020603050405020304" pitchFamily="18" charset="0"/>
                <a:cs typeface="Times New Roman" panose="02020603050405020304" pitchFamily="18" charset="0"/>
              </a:rPr>
              <a:t>1.1</a:t>
            </a:r>
            <a:r>
              <a:rPr lang="en-US" altLang="en-US" dirty="0" smtClean="0">
                <a:latin typeface="Times New Roman" panose="02020603050405020304" pitchFamily="18" charset="0"/>
                <a:cs typeface="Times New Roman" panose="02020603050405020304" pitchFamily="18" charset="0"/>
              </a:rPr>
              <a:t>  Used </a:t>
            </a:r>
            <a:r>
              <a:rPr lang="en-US" altLang="en-US" dirty="0">
                <a:latin typeface="Times New Roman" panose="02020603050405020304" pitchFamily="18" charset="0"/>
                <a:cs typeface="Times New Roman" panose="02020603050405020304" pitchFamily="18" charset="0"/>
              </a:rPr>
              <a:t>the Bijie Landslide Dataset containing satellite images and corresponding landslide masks.</a:t>
            </a:r>
          </a:p>
          <a:p>
            <a:pPr>
              <a:lnSpc>
                <a:spcPct val="150000"/>
              </a:lnSpc>
            </a:pPr>
            <a:r>
              <a:rPr lang="en-US" altLang="en-US" b="1" dirty="0" smtClean="0">
                <a:latin typeface="Times New Roman" panose="02020603050405020304" pitchFamily="18" charset="0"/>
                <a:cs typeface="Times New Roman" panose="02020603050405020304" pitchFamily="18" charset="0"/>
              </a:rPr>
              <a:t>1.2  </a:t>
            </a:r>
            <a:r>
              <a:rPr lang="en-US" altLang="en-US" dirty="0" smtClean="0">
                <a:latin typeface="Times New Roman" panose="02020603050405020304" pitchFamily="18" charset="0"/>
                <a:cs typeface="Times New Roman" panose="02020603050405020304" pitchFamily="18" charset="0"/>
              </a:rPr>
              <a:t>Images </a:t>
            </a:r>
            <a:r>
              <a:rPr lang="en-US" altLang="en-US" dirty="0">
                <a:latin typeface="Times New Roman" panose="02020603050405020304" pitchFamily="18" charset="0"/>
                <a:cs typeface="Times New Roman" panose="02020603050405020304" pitchFamily="18" charset="0"/>
              </a:rPr>
              <a:t>include multiple channels (RGB, NDVI, slope, elevation).</a:t>
            </a:r>
          </a:p>
          <a:p>
            <a:pPr>
              <a:lnSpc>
                <a:spcPct val="150000"/>
              </a:lnSpc>
            </a:pPr>
            <a:r>
              <a:rPr lang="en-US" altLang="en-US" b="1" dirty="0" smtClean="0">
                <a:latin typeface="Times New Roman" panose="02020603050405020304" pitchFamily="18" charset="0"/>
                <a:cs typeface="Times New Roman" panose="02020603050405020304" pitchFamily="18" charset="0"/>
              </a:rPr>
              <a:t>2</a:t>
            </a:r>
            <a:r>
              <a:rPr lang="en-US" altLang="en-US" b="1" dirty="0">
                <a:latin typeface="Times New Roman" panose="02020603050405020304" pitchFamily="18" charset="0"/>
                <a:cs typeface="Times New Roman" panose="02020603050405020304" pitchFamily="18" charset="0"/>
              </a:rPr>
              <a:t>. Data Preprocessing</a:t>
            </a:r>
          </a:p>
          <a:p>
            <a:pPr>
              <a:lnSpc>
                <a:spcPct val="150000"/>
              </a:lnSpc>
            </a:pPr>
            <a:r>
              <a:rPr lang="en-US" altLang="en-US" b="1" dirty="0">
                <a:latin typeface="Times New Roman" panose="02020603050405020304" pitchFamily="18" charset="0"/>
                <a:cs typeface="Times New Roman" panose="02020603050405020304" pitchFamily="18" charset="0"/>
              </a:rPr>
              <a:t>2.1</a:t>
            </a: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  Normalize </a:t>
            </a:r>
            <a:r>
              <a:rPr lang="en-US" altLang="en-US" dirty="0">
                <a:latin typeface="Times New Roman" panose="02020603050405020304" pitchFamily="18" charset="0"/>
                <a:cs typeface="Times New Roman" panose="02020603050405020304" pitchFamily="18" charset="0"/>
              </a:rPr>
              <a:t>each channel between 0–1.</a:t>
            </a:r>
          </a:p>
          <a:p>
            <a:pPr>
              <a:lnSpc>
                <a:spcPct val="150000"/>
              </a:lnSpc>
            </a:pPr>
            <a:r>
              <a:rPr lang="en-US" altLang="en-US" b="1" dirty="0" smtClean="0">
                <a:latin typeface="Times New Roman" panose="02020603050405020304" pitchFamily="18" charset="0"/>
                <a:cs typeface="Times New Roman" panose="02020603050405020304" pitchFamily="18" charset="0"/>
              </a:rPr>
              <a:t>2.2   </a:t>
            </a:r>
            <a:r>
              <a:rPr lang="en-US" altLang="en-US" dirty="0">
                <a:latin typeface="Times New Roman" panose="02020603050405020304" pitchFamily="18" charset="0"/>
                <a:cs typeface="Times New Roman" panose="02020603050405020304" pitchFamily="18" charset="0"/>
              </a:rPr>
              <a:t>Split dataset into Landslide(770),Non-Landslide(2001) and Mask(770)</a:t>
            </a:r>
          </a:p>
          <a:p>
            <a:pPr>
              <a:lnSpc>
                <a:spcPct val="150000"/>
              </a:lnSpc>
            </a:pPr>
            <a:r>
              <a:rPr lang="en-US" altLang="en-US" b="1" dirty="0">
                <a:latin typeface="Times New Roman" panose="02020603050405020304" pitchFamily="18" charset="0"/>
                <a:cs typeface="Times New Roman" panose="02020603050405020304" pitchFamily="18" charset="0"/>
              </a:rPr>
              <a:t>2.3</a:t>
            </a: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  </a:t>
            </a:r>
            <a:r>
              <a:rPr lang="en-US" altLang="en-US" dirty="0" err="1" smtClean="0">
                <a:latin typeface="Times New Roman" panose="02020603050405020304" pitchFamily="18" charset="0"/>
                <a:cs typeface="Times New Roman" panose="02020603050405020304" pitchFamily="18" charset="0"/>
              </a:rPr>
              <a:t>Trainset</a:t>
            </a:r>
            <a:r>
              <a:rPr lang="en-US" altLang="en-US" dirty="0" smtClean="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85% 2357 images, Validation set  15% 416 images</a:t>
            </a:r>
          </a:p>
          <a:p>
            <a:pPr indent="0">
              <a:lnSpc>
                <a:spcPct val="150000"/>
              </a:lnSpc>
              <a:buFont typeface="Arial" panose="020B0704020202020204" pitchFamily="34" charset="0"/>
              <a:buNone/>
            </a:pPr>
            <a:r>
              <a:rPr lang="en-US" altLang="en-US" b="1" dirty="0">
                <a:latin typeface="Times New Roman" panose="02020603050405020304" pitchFamily="18" charset="0"/>
                <a:cs typeface="Times New Roman" panose="02020603050405020304" pitchFamily="18" charset="0"/>
                <a:sym typeface="+mn-ea"/>
              </a:rPr>
              <a:t>3. Model Architecture</a:t>
            </a:r>
            <a:endParaRPr lang="en-US" altLang="en-US" b="1" dirty="0">
              <a:latin typeface="Times New Roman" panose="02020603050405020304" pitchFamily="18" charset="0"/>
              <a:cs typeface="Times New Roman" panose="02020603050405020304" pitchFamily="18" charset="0"/>
            </a:endParaRPr>
          </a:p>
          <a:p>
            <a:pPr>
              <a:lnSpc>
                <a:spcPct val="150000"/>
              </a:lnSpc>
            </a:pPr>
            <a:r>
              <a:rPr lang="en-US" altLang="en-US" b="1" dirty="0">
                <a:latin typeface="Times New Roman" panose="02020603050405020304" pitchFamily="18" charset="0"/>
                <a:cs typeface="Times New Roman" panose="02020603050405020304" pitchFamily="18" charset="0"/>
              </a:rPr>
              <a:t>3.1</a:t>
            </a:r>
            <a:r>
              <a:rPr lang="en-US" altLang="en-US" dirty="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  Attention </a:t>
            </a:r>
            <a:r>
              <a:rPr lang="en-US" altLang="en-US" dirty="0">
                <a:latin typeface="Times New Roman" panose="02020603050405020304" pitchFamily="18" charset="0"/>
                <a:cs typeface="Times New Roman" panose="02020603050405020304" pitchFamily="18" charset="0"/>
              </a:rPr>
              <a:t>U-net model is used</a:t>
            </a:r>
          </a:p>
          <a:p>
            <a:pPr>
              <a:lnSpc>
                <a:spcPct val="150000"/>
              </a:lnSpc>
            </a:pPr>
            <a:r>
              <a:rPr lang="en-US" altLang="en-US" b="1" dirty="0">
                <a:latin typeface="Times New Roman" panose="02020603050405020304" pitchFamily="18" charset="0"/>
                <a:cs typeface="Times New Roman" panose="02020603050405020304" pitchFamily="18" charset="0"/>
              </a:rPr>
              <a:t>3.2 </a:t>
            </a:r>
            <a:r>
              <a:rPr lang="en-US" altLang="en-US" b="1" dirty="0" smtClean="0">
                <a:latin typeface="Times New Roman" panose="02020603050405020304" pitchFamily="18" charset="0"/>
                <a:cs typeface="Times New Roman" panose="02020603050405020304" pitchFamily="18" charset="0"/>
              </a:rPr>
              <a:t>  </a:t>
            </a:r>
            <a:r>
              <a:rPr lang="en-US" altLang="en-US" dirty="0" smtClean="0">
                <a:latin typeface="Times New Roman" panose="02020603050405020304" pitchFamily="18" charset="0"/>
                <a:cs typeface="Times New Roman" panose="02020603050405020304" pitchFamily="18" charset="0"/>
              </a:rPr>
              <a:t>Helps </a:t>
            </a:r>
            <a:r>
              <a:rPr lang="en-US" altLang="en-US" dirty="0">
                <a:latin typeface="Times New Roman" panose="02020603050405020304" pitchFamily="18" charset="0"/>
                <a:cs typeface="Times New Roman" panose="02020603050405020304" pitchFamily="18" charset="0"/>
              </a:rPr>
              <a:t>reduce background noise and improves pixel-level segmentation.</a:t>
            </a:r>
          </a:p>
          <a:p>
            <a:pPr>
              <a:lnSpc>
                <a:spcPct val="150000"/>
              </a:lnSpc>
            </a:pPr>
            <a:endParaRPr lang="en-US" altLang="en-US" sz="21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704020202020204" pitchFamily="34" charset="0"/>
              <a:buChar char="•"/>
            </a:pPr>
            <a:endParaRPr lang="en-US" altLang="en-US" sz="2100" dirty="0">
              <a:latin typeface="Times New Roman" panose="02020603050405020304" pitchFamily="18" charset="0"/>
              <a:cs typeface="Times New Roman" panose="02020603050405020304" pitchFamily="18" charset="0"/>
            </a:endParaRPr>
          </a:p>
          <a:p>
            <a:pPr>
              <a:lnSpc>
                <a:spcPct val="150000"/>
              </a:lnSpc>
            </a:pPr>
            <a:endParaRPr lang="en-US" altLang="en-US" sz="2100"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6401596" y="846896"/>
            <a:ext cx="5607524" cy="5509260"/>
          </a:xfrm>
          <a:prstGeom prst="rect">
            <a:avLst/>
          </a:prstGeom>
          <a:noFill/>
        </p:spPr>
        <p:txBody>
          <a:bodyPr wrap="square" rtlCol="0">
            <a:noAutofit/>
          </a:bodyPr>
          <a:lstStyle/>
          <a:p>
            <a:r>
              <a:rPr lang="en-US" altLang="en-US" sz="1900" b="1" dirty="0">
                <a:latin typeface="Times New Roman" panose="02020603050405020304" pitchFamily="18" charset="0"/>
                <a:cs typeface="Times New Roman" panose="02020603050405020304" pitchFamily="18" charset="0"/>
                <a:sym typeface="+mn-ea"/>
              </a:rPr>
              <a:t>4. </a:t>
            </a:r>
            <a:r>
              <a:rPr lang="en-US" altLang="en-US" sz="1900" b="1" dirty="0">
                <a:latin typeface="Times New Roman" panose="02020603050405020304" pitchFamily="18" charset="0"/>
                <a:cs typeface="Times New Roman" panose="02020603050405020304" pitchFamily="18" charset="0"/>
              </a:rPr>
              <a:t>Loss Function &amp; Optimization</a:t>
            </a:r>
          </a:p>
          <a:p>
            <a:pPr lvl="1"/>
            <a:r>
              <a:rPr lang="en-US" altLang="en-US" sz="1900" b="1" dirty="0" smtClean="0">
                <a:latin typeface="Times New Roman" panose="02020603050405020304" pitchFamily="18" charset="0"/>
                <a:cs typeface="Times New Roman" panose="02020603050405020304" pitchFamily="18" charset="0"/>
                <a:sym typeface="+mn-ea"/>
              </a:rPr>
              <a:t>4.1 </a:t>
            </a:r>
            <a:r>
              <a:rPr lang="en-US" altLang="en-US" sz="1900" dirty="0" smtClean="0">
                <a:latin typeface="Times New Roman" panose="02020603050405020304" pitchFamily="18" charset="0"/>
                <a:cs typeface="Times New Roman" panose="02020603050405020304" pitchFamily="18" charset="0"/>
                <a:sym typeface="+mn-ea"/>
              </a:rPr>
              <a:t> Used </a:t>
            </a:r>
            <a:r>
              <a:rPr lang="en-US" altLang="en-US" sz="1900" dirty="0">
                <a:latin typeface="Times New Roman" panose="02020603050405020304" pitchFamily="18" charset="0"/>
                <a:cs typeface="Times New Roman" panose="02020603050405020304" pitchFamily="18" charset="0"/>
                <a:sym typeface="+mn-ea"/>
              </a:rPr>
              <a:t>Binary Cross-Entropy (BCE) + </a:t>
            </a:r>
            <a:r>
              <a:rPr lang="en-US" altLang="en-US" sz="1900" dirty="0" smtClean="0">
                <a:latin typeface="Times New Roman" panose="02020603050405020304" pitchFamily="18" charset="0"/>
                <a:cs typeface="Times New Roman" panose="02020603050405020304" pitchFamily="18" charset="0"/>
                <a:sym typeface="+mn-ea"/>
              </a:rPr>
              <a:t> Dice </a:t>
            </a:r>
            <a:r>
              <a:rPr lang="en-US" altLang="en-US" sz="1900" dirty="0">
                <a:latin typeface="Times New Roman" panose="02020603050405020304" pitchFamily="18" charset="0"/>
                <a:cs typeface="Times New Roman" panose="02020603050405020304" pitchFamily="18" charset="0"/>
                <a:sym typeface="+mn-ea"/>
              </a:rPr>
              <a:t>Loss for imbalance handling.</a:t>
            </a:r>
          </a:p>
          <a:p>
            <a:pPr lvl="1"/>
            <a:r>
              <a:rPr lang="en-US" altLang="en-US" sz="1900" b="1" dirty="0">
                <a:latin typeface="Times New Roman" panose="02020603050405020304" pitchFamily="18" charset="0"/>
                <a:cs typeface="Times New Roman" panose="02020603050405020304" pitchFamily="18" charset="0"/>
                <a:sym typeface="+mn-ea"/>
              </a:rPr>
              <a:t>4.2</a:t>
            </a:r>
            <a:r>
              <a:rPr lang="en-US" altLang="en-US" sz="1900" dirty="0">
                <a:latin typeface="Times New Roman" panose="02020603050405020304" pitchFamily="18" charset="0"/>
                <a:cs typeface="Times New Roman" panose="02020603050405020304" pitchFamily="18" charset="0"/>
                <a:sym typeface="+mn-ea"/>
              </a:rPr>
              <a:t> </a:t>
            </a:r>
            <a:r>
              <a:rPr lang="en-US" altLang="en-US" sz="1900" dirty="0" smtClean="0">
                <a:latin typeface="Times New Roman" panose="02020603050405020304" pitchFamily="18" charset="0"/>
                <a:cs typeface="Times New Roman" panose="02020603050405020304" pitchFamily="18" charset="0"/>
                <a:sym typeface="+mn-ea"/>
              </a:rPr>
              <a:t>  Dice Loss </a:t>
            </a:r>
            <a:r>
              <a:rPr lang="en-US" altLang="en-US" sz="1900" dirty="0">
                <a:latin typeface="Times New Roman" panose="02020603050405020304" pitchFamily="18" charset="0"/>
                <a:cs typeface="Times New Roman" panose="02020603050405020304" pitchFamily="18" charset="0"/>
                <a:sym typeface="+mn-ea"/>
              </a:rPr>
              <a:t>helps improve small landslide region detection.</a:t>
            </a:r>
          </a:p>
          <a:p>
            <a:pPr lvl="1"/>
            <a:r>
              <a:rPr lang="en-US" altLang="en-US" sz="1900" b="1" dirty="0">
                <a:latin typeface="Times New Roman" panose="02020603050405020304" pitchFamily="18" charset="0"/>
                <a:cs typeface="Times New Roman" panose="02020603050405020304" pitchFamily="18" charset="0"/>
                <a:sym typeface="+mn-ea"/>
              </a:rPr>
              <a:t>4.3</a:t>
            </a:r>
            <a:r>
              <a:rPr lang="en-US" altLang="en-US" sz="1900" dirty="0">
                <a:latin typeface="Times New Roman" panose="02020603050405020304" pitchFamily="18" charset="0"/>
                <a:cs typeface="Times New Roman" panose="02020603050405020304" pitchFamily="18" charset="0"/>
                <a:sym typeface="+mn-ea"/>
              </a:rPr>
              <a:t> </a:t>
            </a:r>
            <a:r>
              <a:rPr lang="en-US" altLang="en-US" sz="1900" dirty="0" smtClean="0">
                <a:latin typeface="Times New Roman" panose="02020603050405020304" pitchFamily="18" charset="0"/>
                <a:cs typeface="Times New Roman" panose="02020603050405020304" pitchFamily="18" charset="0"/>
                <a:sym typeface="+mn-ea"/>
              </a:rPr>
              <a:t>  Adam </a:t>
            </a:r>
            <a:r>
              <a:rPr lang="en-US" altLang="en-US" sz="1900" dirty="0">
                <a:latin typeface="Times New Roman" panose="02020603050405020304" pitchFamily="18" charset="0"/>
                <a:cs typeface="Times New Roman" panose="02020603050405020304" pitchFamily="18" charset="0"/>
                <a:sym typeface="+mn-ea"/>
              </a:rPr>
              <a:t>optimizer used for faster convergence.</a:t>
            </a:r>
          </a:p>
          <a:p>
            <a:pPr lvl="1"/>
            <a:endParaRPr lang="en-US" altLang="en-US" sz="1900" b="1" dirty="0">
              <a:latin typeface="Times New Roman" panose="02020603050405020304" pitchFamily="18" charset="0"/>
              <a:cs typeface="Times New Roman" panose="02020603050405020304" pitchFamily="18" charset="0"/>
              <a:sym typeface="+mn-ea"/>
            </a:endParaRPr>
          </a:p>
          <a:p>
            <a:r>
              <a:rPr lang="en-US" altLang="en-US" sz="1900" b="1" dirty="0">
                <a:latin typeface="Times New Roman" panose="02020603050405020304" pitchFamily="18" charset="0"/>
                <a:cs typeface="Times New Roman" panose="02020603050405020304" pitchFamily="18" charset="0"/>
                <a:sym typeface="+mn-ea"/>
              </a:rPr>
              <a:t>5. Model Training &amp; Evaluation</a:t>
            </a:r>
            <a:endParaRPr lang="en-US" altLang="en-US" sz="1900" dirty="0">
              <a:latin typeface="Times New Roman" panose="02020603050405020304" pitchFamily="18" charset="0"/>
              <a:cs typeface="Times New Roman" panose="02020603050405020304" pitchFamily="18" charset="0"/>
              <a:sym typeface="+mn-ea"/>
            </a:endParaRPr>
          </a:p>
          <a:p>
            <a:r>
              <a:rPr lang="en-US" altLang="en-US" sz="1900" b="1" dirty="0" smtClean="0">
                <a:latin typeface="Times New Roman" panose="02020603050405020304" pitchFamily="18" charset="0"/>
                <a:cs typeface="Times New Roman" panose="02020603050405020304" pitchFamily="18" charset="0"/>
                <a:sym typeface="+mn-ea"/>
              </a:rPr>
              <a:t>      5.1</a:t>
            </a:r>
            <a:r>
              <a:rPr lang="en-US" altLang="en-US" sz="1900" dirty="0" smtClean="0">
                <a:latin typeface="Times New Roman" panose="02020603050405020304" pitchFamily="18" charset="0"/>
                <a:cs typeface="Times New Roman" panose="02020603050405020304" pitchFamily="18" charset="0"/>
                <a:sym typeface="+mn-ea"/>
              </a:rPr>
              <a:t>  </a:t>
            </a:r>
            <a:r>
              <a:rPr lang="en-US" altLang="en-US" sz="1900" dirty="0">
                <a:latin typeface="Times New Roman" panose="02020603050405020304" pitchFamily="18" charset="0"/>
                <a:cs typeface="Times New Roman" panose="02020603050405020304" pitchFamily="18" charset="0"/>
              </a:rPr>
              <a:t>Trained for 45 epochs with batch size </a:t>
            </a:r>
            <a:r>
              <a:rPr lang="en-US" altLang="en-US" sz="1900" dirty="0" smtClean="0">
                <a:latin typeface="Times New Roman" panose="02020603050405020304" pitchFamily="18" charset="0"/>
                <a:cs typeface="Times New Roman" panose="02020603050405020304" pitchFamily="18" charset="0"/>
              </a:rPr>
              <a:t>8</a:t>
            </a:r>
            <a:endParaRPr lang="en-US" altLang="en-US" sz="1900" dirty="0">
              <a:latin typeface="Times New Roman" panose="02020603050405020304" pitchFamily="18" charset="0"/>
              <a:cs typeface="Times New Roman" panose="02020603050405020304" pitchFamily="18" charset="0"/>
            </a:endParaRPr>
          </a:p>
          <a:p>
            <a:r>
              <a:rPr lang="en-US" altLang="en-US" sz="1900" b="1" dirty="0" smtClean="0">
                <a:latin typeface="Times New Roman" panose="02020603050405020304" pitchFamily="18" charset="0"/>
                <a:cs typeface="Times New Roman" panose="02020603050405020304" pitchFamily="18" charset="0"/>
                <a:sym typeface="+mn-ea"/>
              </a:rPr>
              <a:t>      5.2</a:t>
            </a:r>
            <a:r>
              <a:rPr lang="en-US" altLang="en-US" sz="1900" dirty="0" smtClean="0">
                <a:latin typeface="Times New Roman" panose="02020603050405020304" pitchFamily="18" charset="0"/>
                <a:cs typeface="Times New Roman" panose="02020603050405020304" pitchFamily="18" charset="0"/>
                <a:sym typeface="+mn-ea"/>
              </a:rPr>
              <a:t>  Monitored and </a:t>
            </a:r>
            <a:r>
              <a:rPr lang="en-US" altLang="en-US" sz="1900" dirty="0">
                <a:latin typeface="Times New Roman" panose="02020603050405020304" pitchFamily="18" charset="0"/>
                <a:cs typeface="Times New Roman" panose="02020603050405020304" pitchFamily="18" charset="0"/>
                <a:sym typeface="+mn-ea"/>
              </a:rPr>
              <a:t>validated the model with the 	help of Performance Matric</a:t>
            </a:r>
            <a:endParaRPr lang="en-US" alt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pPr indent="0">
              <a:buFont typeface="Arial" panose="020B0704020202020204" pitchFamily="34" charset="0"/>
              <a:buNone/>
            </a:pPr>
            <a:r>
              <a:rPr lang="en-US" altLang="en-US" sz="1900" b="1" dirty="0">
                <a:latin typeface="Times New Roman" panose="02020603050405020304" pitchFamily="18" charset="0"/>
                <a:cs typeface="Times New Roman" panose="02020603050405020304" pitchFamily="18" charset="0"/>
                <a:sym typeface="+mn-ea"/>
              </a:rPr>
              <a:t>6. Prediction &amp; Visualization</a:t>
            </a:r>
            <a:endParaRPr lang="en-US" altLang="en-US" sz="1900" b="1" dirty="0">
              <a:latin typeface="Times New Roman" panose="02020603050405020304" pitchFamily="18" charset="0"/>
              <a:cs typeface="Times New Roman" panose="02020603050405020304" pitchFamily="18" charset="0"/>
            </a:endParaRPr>
          </a:p>
          <a:p>
            <a:pPr marL="0" indent="457200">
              <a:buNone/>
            </a:pPr>
            <a:r>
              <a:rPr lang="en-US" altLang="en-US" sz="1900" dirty="0">
                <a:latin typeface="Times New Roman" panose="02020603050405020304" pitchFamily="18" charset="0"/>
                <a:cs typeface="Times New Roman" panose="02020603050405020304" pitchFamily="18" charset="0"/>
                <a:sym typeface="+mn-ea"/>
              </a:rPr>
              <a:t>6.1 Generated segmentation masks for validation images.</a:t>
            </a:r>
            <a:endParaRPr lang="en-US" altLang="en-US" sz="1900" dirty="0">
              <a:latin typeface="Times New Roman" panose="02020603050405020304" pitchFamily="18" charset="0"/>
              <a:cs typeface="Times New Roman" panose="02020603050405020304" pitchFamily="18" charset="0"/>
            </a:endParaRPr>
          </a:p>
          <a:p>
            <a:pPr marL="0" indent="457200">
              <a:buNone/>
            </a:pPr>
            <a:r>
              <a:rPr lang="en-US" altLang="en-US" sz="1900" dirty="0">
                <a:latin typeface="Times New Roman" panose="02020603050405020304" pitchFamily="18" charset="0"/>
                <a:cs typeface="Times New Roman" panose="02020603050405020304" pitchFamily="18" charset="0"/>
                <a:sym typeface="+mn-ea"/>
              </a:rPr>
              <a:t>6.2 Compared input, ground truth, and predicted outputs.</a:t>
            </a:r>
            <a:endParaRPr lang="en-US" alt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763270"/>
          </a:xfrm>
        </p:spPr>
        <p:txBody>
          <a:bodyPr/>
          <a:lstStyle/>
          <a:p>
            <a:r>
              <a:rPr lang="en-US" sz="2800" b="1">
                <a:latin typeface="Times New Roman Bold" panose="02020603050405020304" charset="0"/>
                <a:cs typeface="Times New Roman Bold" panose="02020603050405020304" charset="0"/>
              </a:rPr>
              <a:t>DATASET DESCRIPTION</a:t>
            </a:r>
          </a:p>
        </p:txBody>
      </p:sp>
      <p:sp>
        <p:nvSpPr>
          <p:cNvPr id="3" name="Content Placeholder 2"/>
          <p:cNvSpPr>
            <a:spLocks noGrp="1"/>
          </p:cNvSpPr>
          <p:nvPr>
            <p:ph idx="1"/>
          </p:nvPr>
        </p:nvSpPr>
        <p:spPr>
          <a:xfrm>
            <a:off x="22744" y="941835"/>
            <a:ext cx="11955896" cy="3081525"/>
          </a:xfrm>
        </p:spPr>
        <p:txBody>
          <a:bodyPr>
            <a:noAutofit/>
          </a:bodyPr>
          <a:lstStyle/>
          <a:p>
            <a:pPr marL="0" indent="0" algn="l">
              <a:buNone/>
            </a:pPr>
            <a:r>
              <a:rPr lang="en-US" altLang="en-US" sz="1900" dirty="0">
                <a:latin typeface="Times New Roman" panose="02020603050405020304" pitchFamily="18" charset="0"/>
                <a:cs typeface="Times New Roman" panose="02020603050405020304" pitchFamily="18" charset="0"/>
              </a:rPr>
              <a:t>DATASETLINK: https://www.kaggle.com/datasets/hanstankman/bijie-landslidedataset</a:t>
            </a:r>
          </a:p>
          <a:p>
            <a:pPr marL="0" indent="0" algn="l">
              <a:buNone/>
            </a:pPr>
            <a:r>
              <a:rPr lang="en-US" altLang="en-US" sz="1900" dirty="0">
                <a:latin typeface="Times New Roman" panose="02020603050405020304" pitchFamily="18" charset="0"/>
                <a:cs typeface="Times New Roman" panose="02020603050405020304" pitchFamily="18" charset="0"/>
              </a:rPr>
              <a:t>MAIN FOLDER NAME:  </a:t>
            </a:r>
            <a:r>
              <a:rPr lang="en-US" altLang="en-US" sz="1900" dirty="0" err="1">
                <a:latin typeface="Times New Roman" panose="02020603050405020304" pitchFamily="18" charset="0"/>
                <a:cs typeface="Times New Roman" panose="02020603050405020304" pitchFamily="18" charset="0"/>
              </a:rPr>
              <a:t>bijie-lanslidedataset</a:t>
            </a:r>
            <a:endParaRPr lang="en-US" altLang="en-US" sz="1900" dirty="0">
              <a:latin typeface="Times New Roman" panose="02020603050405020304" pitchFamily="18" charset="0"/>
              <a:cs typeface="Times New Roman" panose="02020603050405020304" pitchFamily="18" charset="0"/>
            </a:endParaRPr>
          </a:p>
          <a:p>
            <a:pPr marL="0" indent="0" algn="l">
              <a:buNone/>
            </a:pPr>
            <a:r>
              <a:rPr lang="en-US" altLang="en-US" sz="1900" dirty="0">
                <a:latin typeface="Times New Roman" panose="02020603050405020304" pitchFamily="18" charset="0"/>
                <a:cs typeface="Times New Roman" panose="02020603050405020304" pitchFamily="18" charset="0"/>
              </a:rPr>
              <a:t>TOTAL IMAGES: 3567</a:t>
            </a:r>
          </a:p>
          <a:p>
            <a:pPr marL="0" indent="0" algn="l">
              <a:buNone/>
            </a:pPr>
            <a:r>
              <a:rPr lang="en-US" altLang="en-US" sz="1900" dirty="0">
                <a:latin typeface="Times New Roman" panose="02020603050405020304" pitchFamily="18" charset="0"/>
                <a:cs typeface="Times New Roman" panose="02020603050405020304" pitchFamily="18" charset="0"/>
              </a:rPr>
              <a:t>SUB GROUPS OF THE TOTAL IMAGES : </a:t>
            </a:r>
          </a:p>
          <a:p>
            <a:pPr marL="0" indent="457200" algn="l">
              <a:buNone/>
            </a:pPr>
            <a:r>
              <a:rPr lang="en-US" altLang="en-US" sz="1900" dirty="0">
                <a:latin typeface="Times New Roman" panose="02020603050405020304" pitchFamily="18" charset="0"/>
                <a:cs typeface="Times New Roman" panose="02020603050405020304" pitchFamily="18" charset="0"/>
              </a:rPr>
              <a:t>1.⁠ ⁠LANDSLIDE IMAGES : 770</a:t>
            </a:r>
          </a:p>
          <a:p>
            <a:pPr marL="0" indent="457200" algn="l">
              <a:buNone/>
            </a:pPr>
            <a:r>
              <a:rPr lang="en-US" altLang="en-US" sz="1900" dirty="0">
                <a:latin typeface="Times New Roman" panose="02020603050405020304" pitchFamily="18" charset="0"/>
                <a:cs typeface="Times New Roman" panose="02020603050405020304" pitchFamily="18" charset="0"/>
              </a:rPr>
              <a:t>2.⁠ ⁠LANDSLIDE MASKS : 770</a:t>
            </a:r>
          </a:p>
          <a:p>
            <a:pPr marL="0" indent="457200" algn="l">
              <a:buNone/>
            </a:pPr>
            <a:r>
              <a:rPr lang="en-US" altLang="en-US" sz="1900" dirty="0">
                <a:latin typeface="Times New Roman" panose="02020603050405020304" pitchFamily="18" charset="0"/>
                <a:cs typeface="Times New Roman" panose="02020603050405020304" pitchFamily="18" charset="0"/>
              </a:rPr>
              <a:t>3.⁠ ⁠NON-LANDSLIDE IMAGES : 2027</a:t>
            </a:r>
          </a:p>
          <a:p>
            <a:pPr algn="l"/>
            <a:endParaRPr lang="en-US" altLang="en-US" sz="1900" dirty="0">
              <a:latin typeface="Times New Roman" panose="02020603050405020304" pitchFamily="18" charset="0"/>
              <a:cs typeface="Times New Roman" panose="02020603050405020304" pitchFamily="18" charset="0"/>
            </a:endParaRPr>
          </a:p>
          <a:p>
            <a:pPr marL="0" indent="0" algn="l">
              <a:buNone/>
            </a:pPr>
            <a:r>
              <a:rPr lang="en-US" altLang="en-US" sz="1900" dirty="0">
                <a:latin typeface="Times New Roman" panose="02020603050405020304" pitchFamily="18" charset="0"/>
                <a:cs typeface="Times New Roman" panose="02020603050405020304" pitchFamily="18" charset="0"/>
              </a:rPr>
              <a:t>SUB FOLDER DETAILS : </a:t>
            </a:r>
          </a:p>
          <a:p>
            <a:pPr marL="0" indent="0" algn="l">
              <a:buNone/>
            </a:pPr>
            <a:r>
              <a:rPr lang="en-US" altLang="en-US" sz="1900" dirty="0">
                <a:latin typeface="Times New Roman" panose="02020603050405020304" pitchFamily="18" charset="0"/>
                <a:cs typeface="Times New Roman" panose="02020603050405020304" pitchFamily="18" charset="0"/>
                <a:sym typeface="+mn-ea"/>
              </a:rPr>
              <a:t>Land </a:t>
            </a:r>
            <a:r>
              <a:rPr lang="en-US" altLang="en-US" sz="1900" dirty="0" err="1">
                <a:latin typeface="Times New Roman" panose="02020603050405020304" pitchFamily="18" charset="0"/>
                <a:cs typeface="Times New Roman" panose="02020603050405020304" pitchFamily="18" charset="0"/>
                <a:sym typeface="+mn-ea"/>
              </a:rPr>
              <a:t>slide_biji_dataset/</a:t>
            </a:r>
            <a:endParaRPr lang="en-US" altLang="en-US" sz="1900" dirty="0">
              <a:latin typeface="Times New Roman" panose="02020603050405020304" pitchFamily="18" charset="0"/>
              <a:cs typeface="Times New Roman" panose="02020603050405020304" pitchFamily="18" charset="0"/>
            </a:endParaRPr>
          </a:p>
          <a:p>
            <a:pPr marL="0" indent="457200" algn="l">
              <a:buNone/>
            </a:pPr>
            <a:r>
              <a:rPr lang="en-US" altLang="en-US" sz="1900" dirty="0">
                <a:latin typeface="Times New Roman" panose="02020603050405020304" pitchFamily="18" charset="0"/>
                <a:cs typeface="Times New Roman" panose="02020603050405020304" pitchFamily="18" charset="0"/>
              </a:rPr>
              <a:t>1.landslide/	image/ → landslide images</a:t>
            </a:r>
          </a:p>
          <a:p>
            <a:pPr marL="1371600" lvl="3" indent="457200" algn="l">
              <a:buNone/>
            </a:pPr>
            <a:r>
              <a:rPr lang="en-US" altLang="en-US" sz="1900" dirty="0">
                <a:latin typeface="Times New Roman" panose="02020603050405020304" pitchFamily="18" charset="0"/>
                <a:cs typeface="Times New Roman" panose="02020603050405020304" pitchFamily="18" charset="0"/>
              </a:rPr>
              <a:t>mask/ → ground-truth segmentation masks</a:t>
            </a:r>
          </a:p>
          <a:p>
            <a:pPr marL="0" indent="0" algn="l">
              <a:buNone/>
            </a:pPr>
            <a:r>
              <a:rPr lang="en-US" altLang="en-US" sz="1900" dirty="0">
                <a:latin typeface="Times New Roman" panose="02020603050405020304" pitchFamily="18" charset="0"/>
                <a:cs typeface="Times New Roman" panose="02020603050405020304" pitchFamily="18" charset="0"/>
              </a:rPr>
              <a:t> 			mask pixels = white → landslide</a:t>
            </a:r>
            <a:br>
              <a:rPr lang="en-US" altLang="en-US" sz="1900" dirty="0">
                <a:latin typeface="Times New Roman" panose="02020603050405020304" pitchFamily="18" charset="0"/>
                <a:cs typeface="Times New Roman" panose="02020603050405020304" pitchFamily="18" charset="0"/>
              </a:rPr>
            </a:br>
            <a:r>
              <a:rPr lang="en-US" altLang="en-US" sz="1900" dirty="0">
                <a:latin typeface="Times New Roman" panose="02020603050405020304" pitchFamily="18" charset="0"/>
                <a:cs typeface="Times New Roman" panose="02020603050405020304" pitchFamily="18" charset="0"/>
              </a:rPr>
              <a:t>			black → </a:t>
            </a:r>
            <a:r>
              <a:rPr lang="en-US" altLang="en-US" sz="1900" dirty="0" smtClean="0">
                <a:latin typeface="Times New Roman" panose="02020603050405020304" pitchFamily="18" charset="0"/>
                <a:cs typeface="Times New Roman" panose="02020603050405020304" pitchFamily="18" charset="0"/>
              </a:rPr>
              <a:t>non-landslide</a:t>
            </a:r>
            <a:endParaRPr lang="en-US" altLang="en-US" sz="1900" dirty="0">
              <a:latin typeface="Times New Roman" panose="02020603050405020304" pitchFamily="18" charset="0"/>
              <a:cs typeface="Times New Roman" panose="02020603050405020304" pitchFamily="18" charset="0"/>
            </a:endParaRPr>
          </a:p>
          <a:p>
            <a:pPr marL="0" indent="457200" algn="l">
              <a:buNone/>
            </a:pPr>
            <a:r>
              <a:rPr lang="en-US" altLang="en-US" sz="1900" dirty="0">
                <a:latin typeface="Times New Roman" panose="02020603050405020304" pitchFamily="18" charset="0"/>
                <a:cs typeface="Times New Roman" panose="02020603050405020304" pitchFamily="18" charset="0"/>
              </a:rPr>
              <a:t>2. non-landslide/ image/ → normal terrain images (without masks)</a:t>
            </a:r>
          </a:p>
          <a:p>
            <a:pPr algn="l"/>
            <a:r>
              <a:rPr lang="en-US" altLang="en-US" sz="1900" dirty="0">
                <a:latin typeface="Times New Roman" panose="02020603050405020304" pitchFamily="18" charset="0"/>
                <a:cs typeface="Times New Roman" panose="02020603050405020304" pitchFamily="18" charset="0"/>
              </a:rPr>
              <a:t> </a:t>
            </a:r>
            <a:r>
              <a:rPr lang="en-US" altLang="en-US" sz="1900" dirty="0" smtClean="0">
                <a:latin typeface="Times New Roman" panose="02020603050405020304" pitchFamily="18" charset="0"/>
                <a:cs typeface="Times New Roman" panose="02020603050405020304" pitchFamily="18" charset="0"/>
              </a:rPr>
              <a:t>For </a:t>
            </a:r>
            <a:r>
              <a:rPr lang="en-US" altLang="en-US" sz="1900" dirty="0">
                <a:latin typeface="Times New Roman" panose="02020603050405020304" pitchFamily="18" charset="0"/>
                <a:cs typeface="Times New Roman" panose="02020603050405020304" pitchFamily="18" charset="0"/>
              </a:rPr>
              <a:t>these images, we create a zero mask (all black</a:t>
            </a:r>
            <a:r>
              <a:rPr lang="en-US" altLang="en-US" sz="1900" dirty="0" smtClean="0">
                <a:latin typeface="Times New Roman" panose="02020603050405020304" pitchFamily="18" charset="0"/>
                <a:cs typeface="Times New Roman" panose="02020603050405020304" pitchFamily="18" charset="0"/>
              </a:rPr>
              <a:t>)</a:t>
            </a:r>
            <a:endParaRPr lang="en-US" altLang="en-US" sz="1900" dirty="0">
              <a:latin typeface="Times New Roman" panose="02020603050405020304" pitchFamily="18" charset="0"/>
              <a:cs typeface="Times New Roman" panose="02020603050405020304" pitchFamily="18" charset="0"/>
            </a:endParaRPr>
          </a:p>
          <a:p>
            <a:pPr algn="l"/>
            <a:r>
              <a:rPr lang="en-US" altLang="en-US" sz="1900" dirty="0">
                <a:latin typeface="Times New Roman" panose="02020603050405020304" pitchFamily="18" charset="0"/>
                <a:cs typeface="Times New Roman" panose="02020603050405020304" pitchFamily="18" charset="0"/>
              </a:rPr>
              <a:t>IMAGE SIZE : 256 x 256 px</a:t>
            </a:r>
          </a:p>
          <a:p>
            <a:pPr marL="0" indent="0" algn="l">
              <a:buNone/>
            </a:pPr>
            <a:endParaRPr lang="en-US" altLang="en-US" sz="1900" dirty="0">
              <a:latin typeface="Times New Roman Regular" panose="02020603050405020304" charset="0"/>
              <a:cs typeface="Times New Roman Regular" panose="02020603050405020304" charset="0"/>
            </a:endParaRPr>
          </a:p>
          <a:p>
            <a:pPr marL="0" indent="0" algn="l">
              <a:buNone/>
            </a:pPr>
            <a:r>
              <a:rPr lang="en-US" altLang="en-US" sz="1900" dirty="0">
                <a:latin typeface="Times New Roman Regular" panose="02020603050405020304" charset="0"/>
                <a:cs typeface="Times New Roman Regular" panose="02020603050405020304" charset="0"/>
              </a:rPr>
              <a:t> 			</a:t>
            </a:r>
          </a:p>
        </p:txBody>
      </p:sp>
      <p:sp>
        <p:nvSpPr>
          <p:cNvPr id="4" name="Slide Number Placeholder 3"/>
          <p:cNvSpPr>
            <a:spLocks noGrp="1"/>
          </p:cNvSpPr>
          <p:nvPr>
            <p:ph type="sldNum" sz="quarter" idx="12"/>
          </p:nvPr>
        </p:nvSpPr>
        <p:spPr/>
        <p:txBody>
          <a:bodyPr/>
          <a:lstStyle/>
          <a:p>
            <a:fld id="{AE58FF4D-9703-46B8-851C-DA8FCFE4D55D}" type="slidenum">
              <a:rPr lang="en-US" smtClean="0"/>
              <a:t>16</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651240" y="1418590"/>
            <a:ext cx="3285490" cy="3464560"/>
          </a:xfrm>
        </p:spPr>
        <p:txBody>
          <a:bodyPr>
            <a:normAutofit fontScale="42500" lnSpcReduction="20000"/>
          </a:bodyPr>
          <a:lstStyle/>
          <a:p>
            <a:pPr algn="just">
              <a:lnSpc>
                <a:spcPct val="120000"/>
              </a:lnSpc>
              <a:spcAft>
                <a:spcPts val="0"/>
              </a:spcAft>
            </a:pPr>
            <a:r>
              <a:rPr lang="en-US" sz="3600" b="1" dirty="0" err="1">
                <a:latin typeface="Times New Roman Regular" panose="02020603050405020304"/>
                <a:ea typeface="Times New Roman" panose="02020603050405020304"/>
              </a:rPr>
              <a:t>Orignal</a:t>
            </a:r>
            <a:r>
              <a:rPr lang="en-US" sz="3600" b="1" dirty="0">
                <a:latin typeface="Times New Roman Regular" panose="02020603050405020304"/>
                <a:ea typeface="Times New Roman" panose="02020603050405020304"/>
              </a:rPr>
              <a:t> Image:</a:t>
            </a:r>
            <a:r>
              <a:rPr lang="en-US" dirty="0">
                <a:latin typeface="Times New Roman" panose="02020603050405020304"/>
                <a:ea typeface="Times New Roman" panose="02020603050405020304"/>
              </a:rPr>
              <a:t> The raw satellite image used as input for landslide segmentation.</a:t>
            </a:r>
            <a:endParaRPr lang="en-IN" dirty="0">
              <a:latin typeface="Times New Roman" panose="02020603050405020304"/>
              <a:ea typeface="Times New Roman" panose="02020603050405020304"/>
            </a:endParaRPr>
          </a:p>
          <a:p>
            <a:pPr algn="just">
              <a:lnSpc>
                <a:spcPct val="120000"/>
              </a:lnSpc>
              <a:spcAft>
                <a:spcPts val="0"/>
              </a:spcAft>
            </a:pPr>
            <a:r>
              <a:rPr lang="en-US" sz="3600" b="1" dirty="0">
                <a:latin typeface="Times New Roman Regular" panose="02020603050405020304"/>
                <a:ea typeface="Times New Roman" panose="02020603050405020304"/>
              </a:rPr>
              <a:t>Ground Truth Mask</a:t>
            </a:r>
            <a:r>
              <a:rPr lang="en-US" sz="3600" dirty="0">
                <a:latin typeface="Times New Roman Regular" panose="02020603050405020304"/>
                <a:ea typeface="Times New Roman" panose="02020603050405020304"/>
              </a:rPr>
              <a:t>:</a:t>
            </a:r>
            <a:r>
              <a:rPr lang="en-US" dirty="0">
                <a:latin typeface="Times New Roman" panose="02020603050405020304"/>
                <a:ea typeface="Times New Roman" panose="02020603050405020304"/>
              </a:rPr>
              <a:t> The manually annotated mask indicating the actual landslide region.</a:t>
            </a:r>
            <a:endParaRPr lang="en-IN" dirty="0">
              <a:latin typeface="Times New Roman" panose="02020603050405020304"/>
              <a:ea typeface="Times New Roman" panose="02020603050405020304"/>
            </a:endParaRPr>
          </a:p>
          <a:p>
            <a:pPr algn="just">
              <a:lnSpc>
                <a:spcPct val="120000"/>
              </a:lnSpc>
              <a:spcAft>
                <a:spcPts val="0"/>
              </a:spcAft>
            </a:pPr>
            <a:endParaRPr lang="en-IN" dirty="0">
              <a:latin typeface="Times New Roman" panose="02020603050405020304"/>
              <a:ea typeface="Times New Roman" panose="02020603050405020304"/>
            </a:endParaRPr>
          </a:p>
          <a:p>
            <a:pPr algn="just">
              <a:lnSpc>
                <a:spcPct val="120000"/>
              </a:lnSpc>
              <a:spcAft>
                <a:spcPts val="0"/>
              </a:spcAft>
            </a:pPr>
            <a:r>
              <a:rPr lang="en-US" sz="3600" b="1" dirty="0">
                <a:latin typeface="Times New Roman Regular" panose="02020603050405020304"/>
                <a:ea typeface="Times New Roman" panose="02020603050405020304"/>
              </a:rPr>
              <a:t>Predict Mask:</a:t>
            </a:r>
            <a:r>
              <a:rPr lang="en-US" sz="3600" dirty="0">
                <a:latin typeface="Times New Roman Regular" panose="02020603050405020304"/>
                <a:ea typeface="Times New Roman" panose="02020603050405020304"/>
              </a:rPr>
              <a:t> </a:t>
            </a:r>
            <a:r>
              <a:rPr lang="en-US" dirty="0">
                <a:latin typeface="Times New Roman" panose="02020603050405020304"/>
                <a:ea typeface="Times New Roman" panose="02020603050405020304"/>
              </a:rPr>
              <a:t>The segmentation mask generated by the trained Attention U-Net model.</a:t>
            </a:r>
            <a:endParaRPr lang="en-IN" dirty="0">
              <a:latin typeface="Times New Roman" panose="02020603050405020304"/>
              <a:ea typeface="Times New Roman" panose="02020603050405020304"/>
            </a:endParaRPr>
          </a:p>
          <a:p>
            <a:pPr algn="just">
              <a:lnSpc>
                <a:spcPct val="120000"/>
              </a:lnSpc>
              <a:spcAft>
                <a:spcPts val="0"/>
              </a:spcAft>
            </a:pPr>
            <a:r>
              <a:rPr lang="en-US" sz="3600" dirty="0">
                <a:latin typeface="Times New Roman Regular" panose="02020603050405020304"/>
                <a:ea typeface="Times New Roman" panose="02020603050405020304"/>
              </a:rPr>
              <a:t> </a:t>
            </a:r>
            <a:r>
              <a:rPr lang="en-US" sz="3600" b="1" dirty="0">
                <a:latin typeface="Times New Roman Regular" panose="02020603050405020304"/>
                <a:ea typeface="Times New Roman" panose="02020603050405020304"/>
              </a:rPr>
              <a:t>Overlay Prediction:</a:t>
            </a:r>
            <a:r>
              <a:rPr lang="en-US" dirty="0">
                <a:latin typeface="Times New Roman" panose="02020603050405020304"/>
                <a:ea typeface="Times New Roman" panose="02020603050405020304"/>
              </a:rPr>
              <a:t> The predicted mask overlaid on the original image to visually compare model accuracy.</a:t>
            </a:r>
            <a:endParaRPr lang="en-IN" dirty="0">
              <a:latin typeface="Times New Roman" panose="02020603050405020304"/>
              <a:ea typeface="Times New Roman" panose="02020603050405020304"/>
            </a:endParaRPr>
          </a:p>
          <a:p>
            <a:endParaRPr lang="en-US" altLang="en-US" dirty="0"/>
          </a:p>
        </p:txBody>
      </p:sp>
      <p:sp>
        <p:nvSpPr>
          <p:cNvPr id="4" name="Slide Number Placeholder 3"/>
          <p:cNvSpPr>
            <a:spLocks noGrp="1"/>
          </p:cNvSpPr>
          <p:nvPr>
            <p:ph type="sldNum" sz="quarter" idx="12"/>
          </p:nvPr>
        </p:nvSpPr>
        <p:spPr/>
        <p:txBody>
          <a:bodyPr/>
          <a:lstStyle/>
          <a:p>
            <a:fld id="{AE58FF4D-9703-46B8-851C-DA8FCFE4D55D}" type="slidenum">
              <a:rPr lang="en-US" smtClean="0"/>
              <a:t>17</a:t>
            </a:fld>
            <a:endParaRPr lang="en-US"/>
          </a:p>
        </p:txBody>
      </p:sp>
      <p:pic>
        <p:nvPicPr>
          <p:cNvPr id="5" name="Picture 4" descr="Screenshot 2025-12-05 at 9.30.15 PM"/>
          <p:cNvPicPr>
            <a:picLocks noChangeAspect="1"/>
          </p:cNvPicPr>
          <p:nvPr/>
        </p:nvPicPr>
        <p:blipFill>
          <a:blip r:embed="rId2"/>
          <a:stretch>
            <a:fillRect/>
          </a:stretch>
        </p:blipFill>
        <p:spPr>
          <a:xfrm>
            <a:off x="445135" y="709295"/>
            <a:ext cx="8206105" cy="4832350"/>
          </a:xfrm>
          <a:prstGeom prst="rect">
            <a:avLst/>
          </a:prstGeom>
        </p:spPr>
      </p:pic>
      <p:sp>
        <p:nvSpPr>
          <p:cNvPr id="6" name="Rectangle 5"/>
          <p:cNvSpPr/>
          <p:nvPr/>
        </p:nvSpPr>
        <p:spPr>
          <a:xfrm>
            <a:off x="621665" y="5626100"/>
            <a:ext cx="10497185" cy="929005"/>
          </a:xfrm>
          <a:prstGeom prst="rect">
            <a:avLst/>
          </a:prstGeom>
        </p:spPr>
        <p:txBody>
          <a:bodyPr wrap="square">
            <a:noAutofit/>
          </a:bodyPr>
          <a:lstStyle/>
          <a:p>
            <a:pPr algn="just">
              <a:lnSpc>
                <a:spcPct val="120000"/>
              </a:lnSpc>
              <a:spcAft>
                <a:spcPts val="0"/>
              </a:spcAft>
            </a:pPr>
            <a:r>
              <a:rPr lang="en-US" sz="2000" b="1" dirty="0">
                <a:latin typeface="Times New Roman" panose="02020603050405020304" pitchFamily="18" charset="0"/>
                <a:ea typeface="Times New Roman" panose="02020603050405020304"/>
                <a:cs typeface="Times New Roman" panose="02020603050405020304" pitchFamily="18" charset="0"/>
              </a:rPr>
              <a:t>Fig_no:1.1</a:t>
            </a:r>
            <a:r>
              <a:rPr lang="en-US" sz="2000" b="1" dirty="0">
                <a:latin typeface="Times New Roman Regular" panose="02020603050405020304"/>
                <a:ea typeface="Times New Roman" panose="02020603050405020304"/>
              </a:rPr>
              <a:t> </a:t>
            </a:r>
            <a:r>
              <a:rPr lang="en-US" dirty="0">
                <a:latin typeface="Times New Roman" panose="02020603050405020304"/>
                <a:ea typeface="Times New Roman" panose="02020603050405020304"/>
              </a:rPr>
              <a:t>shows the comparison between the original satellite images, ground truth masks, and the landslide regions predicted by our model. The overlays highlight how accurately the model identifies and segments the landslide areas across different terrains</a:t>
            </a:r>
            <a:r>
              <a:rPr lang="en-US" b="1" dirty="0">
                <a:latin typeface="Times New Roman" panose="02020603050405020304"/>
                <a:ea typeface="Times New Roman" panose="02020603050405020304"/>
              </a:rPr>
              <a:t>.</a:t>
            </a:r>
            <a:endParaRPr lang="en-IN" dirty="0">
              <a:effectLst/>
              <a:latin typeface="Times New Roman" panose="02020603050405020304"/>
              <a:ea typeface="Times New Roman" panose="02020603050405020304"/>
            </a:endParaRP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372745"/>
          </a:xfrm>
        </p:spPr>
        <p:txBody>
          <a:bodyPr>
            <a:normAutofit fontScale="90000"/>
          </a:bodyPr>
          <a:lstStyle/>
          <a:p>
            <a:r>
              <a:rPr lang="en-US" altLang="en-IN" sz="3110" b="1" dirty="0">
                <a:latin typeface="Times New Roman" panose="02020603050405020304" pitchFamily="18" charset="0"/>
                <a:cs typeface="Times New Roman" panose="02020603050405020304" pitchFamily="18" charset="0"/>
                <a:sym typeface="+mn-ea"/>
              </a:rPr>
              <a:t>DESIGN &amp; DEVELOPMENT</a:t>
            </a:r>
            <a:r>
              <a:rPr lang="en-IN" sz="3110" b="1" dirty="0">
                <a:latin typeface="Times New Roman" panose="02020603050405020304" pitchFamily="18" charset="0"/>
                <a:cs typeface="Times New Roman" panose="02020603050405020304" pitchFamily="18" charset="0"/>
                <a:sym typeface="+mn-ea"/>
              </a:rPr>
              <a:t/>
            </a:r>
            <a:br>
              <a:rPr lang="en-IN" sz="3110" b="1" dirty="0">
                <a:latin typeface="Times New Roman" panose="02020603050405020304" pitchFamily="18" charset="0"/>
                <a:cs typeface="Times New Roman" panose="02020603050405020304" pitchFamily="18" charset="0"/>
                <a:sym typeface="+mn-ea"/>
              </a:rPr>
            </a:br>
            <a:endParaRPr lang="en-US" sz="3110" b="1" dirty="0"/>
          </a:p>
        </p:txBody>
      </p:sp>
      <p:sp>
        <p:nvSpPr>
          <p:cNvPr id="3" name="Content Placeholder 2"/>
          <p:cNvSpPr>
            <a:spLocks noGrp="1"/>
          </p:cNvSpPr>
          <p:nvPr>
            <p:ph idx="1"/>
          </p:nvPr>
        </p:nvSpPr>
        <p:spPr>
          <a:xfrm>
            <a:off x="382270" y="735965"/>
            <a:ext cx="5452745" cy="5386705"/>
          </a:xfrm>
        </p:spPr>
        <p:txBody>
          <a:bodyPr>
            <a:noAutofit/>
          </a:bodyPr>
          <a:lstStyle/>
          <a:p>
            <a:pPr marL="457200" lvl="1" indent="0" algn="just">
              <a:buNone/>
            </a:pPr>
            <a:r>
              <a:rPr lang="en-US" altLang="en-US" sz="2000" b="1" dirty="0">
                <a:latin typeface="Times New Roman Bold" panose="02020603050405020304" charset="0"/>
                <a:cs typeface="Times New Roman Bold" panose="02020603050405020304" charset="0"/>
                <a:sym typeface="+mn-ea"/>
              </a:rPr>
              <a:t>1.  The segmentation process used by the system is based on deep learning.</a:t>
            </a:r>
            <a:endParaRPr lang="en-US" altLang="en-US" sz="2000" dirty="0">
              <a:latin typeface="Times New Roman" panose="02020603050405020304" pitchFamily="18" charset="0"/>
              <a:cs typeface="Times New Roman" panose="02020603050405020304" pitchFamily="18" charset="0"/>
              <a:sym typeface="+mn-ea"/>
            </a:endParaRPr>
          </a:p>
          <a:p>
            <a:pPr marL="457200" lvl="1" indent="0" algn="just">
              <a:buNone/>
            </a:pPr>
            <a:r>
              <a:rPr lang="en-US" altLang="en-US" sz="2000" dirty="0">
                <a:latin typeface="Times New Roman" panose="02020603050405020304" pitchFamily="18" charset="0"/>
                <a:cs typeface="Times New Roman" panose="02020603050405020304" pitchFamily="18" charset="0"/>
                <a:sym typeface="+mn-ea"/>
              </a:rPr>
              <a:t>1.</a:t>
            </a:r>
            <a:r>
              <a:rPr lang="en-US" altLang="en-US" sz="1800" dirty="0">
                <a:latin typeface="Times New Roman" panose="02020603050405020304" pitchFamily="18" charset="0"/>
                <a:cs typeface="Times New Roman" panose="02020603050405020304" pitchFamily="18" charset="0"/>
                <a:sym typeface="+mn-ea"/>
              </a:rPr>
              <a:t>1 Input pictures (256×256) with 6 channels: R, G, B, NDVI(Normalize Difference Vegetation Index), Slope, Elevation.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1.2 Attention U-Net architecture developed with:</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1.3 Encoder for feature extraction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1.4 Decoder for mask reconstruction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1.5 Attention Gates to emphasize landslide fetures.</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1.6 A binary mask that distinguishes between landslide and non-landslide pixels is the output.</a:t>
            </a:r>
          </a:p>
          <a:p>
            <a:pPr marL="457200" lvl="1" indent="0" algn="just">
              <a:buNone/>
            </a:pPr>
            <a:r>
              <a:rPr lang="en-US" altLang="en-US" sz="1800" b="1" dirty="0">
                <a:latin typeface="Times New Roman Bold" panose="02020603050405020304" charset="0"/>
                <a:cs typeface="Times New Roman Bold" panose="02020603050405020304" charset="0"/>
                <a:sym typeface="+mn-ea"/>
              </a:rPr>
              <a:t> 2. Model Design</a:t>
            </a:r>
            <a:endParaRPr lang="en-US" altLang="en-US" sz="1800" dirty="0">
              <a:latin typeface="Times New Roman" panose="02020603050405020304" pitchFamily="18" charset="0"/>
              <a:cs typeface="Times New Roman" panose="02020603050405020304" pitchFamily="18" charset="0"/>
              <a:sym typeface="+mn-ea"/>
            </a:endParaRP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2.1 TensorFlow/Keras was used in construction.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2.2 Convolution layers with ReLU activation.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2.3 Attention blocks combined with skip connections enhances feature concentration.</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2.4 Class imbalance is addressed by the (Dice + BCE) Loss</a:t>
            </a:r>
          </a:p>
          <a:p>
            <a:pPr marL="457200" lvl="1" indent="0" algn="just">
              <a:buNone/>
            </a:pPr>
            <a:r>
              <a:rPr lang="en-US" altLang="en-US" sz="1800" dirty="0">
                <a:latin typeface="Times New Roman" panose="02020603050405020304" pitchFamily="18" charset="0"/>
                <a:cs typeface="Times New Roman" panose="02020603050405020304" pitchFamily="18" charset="0"/>
                <a:sym typeface="+mn-ea"/>
              </a:rPr>
              <a:t> 2.5 Adam optimizer chosen for stable training.`</a:t>
            </a:r>
          </a:p>
        </p:txBody>
      </p:sp>
      <p:sp>
        <p:nvSpPr>
          <p:cNvPr id="4" name="Slide Number Placeholder 3"/>
          <p:cNvSpPr>
            <a:spLocks noGrp="1"/>
          </p:cNvSpPr>
          <p:nvPr>
            <p:ph type="sldNum" sz="quarter" idx="12"/>
          </p:nvPr>
        </p:nvSpPr>
        <p:spPr/>
        <p:txBody>
          <a:bodyPr/>
          <a:lstStyle/>
          <a:p>
            <a:fld id="{AE58FF4D-9703-46B8-851C-DA8FCFE4D55D}" type="slidenum">
              <a:rPr lang="en-US" smtClean="0"/>
              <a:t>18</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p:nvPr/>
        </p:nvSpPr>
        <p:spPr>
          <a:xfrm>
            <a:off x="5622290" y="735966"/>
            <a:ext cx="6301486" cy="5186171"/>
          </a:xfrm>
          <a:prstGeom prst="rect">
            <a:avLst/>
          </a:prstGeom>
          <a:noFill/>
        </p:spPr>
        <p:txBody>
          <a:bodyPr wrap="square" rtlCol="0" anchor="t">
            <a:noAutofit/>
          </a:bodyPr>
          <a:lstStyle/>
          <a:p>
            <a:pPr marL="457200" lvl="1" indent="0" algn="just">
              <a:buNone/>
            </a:pPr>
            <a:r>
              <a:rPr lang="en-US" altLang="en-US" b="1" dirty="0">
                <a:latin typeface="Times New Roman Bold" panose="02020603050405020304" charset="0"/>
                <a:cs typeface="Times New Roman Bold" panose="02020603050405020304" charset="0"/>
                <a:sym typeface="+mn-ea"/>
              </a:rPr>
              <a:t>3.Dataset Processing &amp; Preparation</a:t>
            </a:r>
            <a:endParaRPr lang="en-US" altLang="en-US" dirty="0">
              <a:latin typeface="Times New Roman" panose="02020603050405020304" pitchFamily="18" charset="0"/>
              <a:cs typeface="Times New Roman" panose="02020603050405020304" pitchFamily="18" charset="0"/>
              <a:sym typeface="+mn-ea"/>
            </a:endParaRP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3.1 Preprocessing includes:</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i)NaN handling ii)Normalization of all channels, </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3.2 Data was divided into two categories: validation (15%) and training (85%).</a:t>
            </a:r>
          </a:p>
          <a:p>
            <a:pPr marL="457200" lvl="1" indent="0" algn="just">
              <a:buNone/>
            </a:pPr>
            <a:endParaRPr lang="en-US" altLang="en-US" b="1" dirty="0">
              <a:latin typeface="Times New Roman Bold" panose="02020603050405020304" charset="0"/>
              <a:cs typeface="Times New Roman Bold" panose="02020603050405020304" charset="0"/>
              <a:sym typeface="+mn-ea"/>
            </a:endParaRPr>
          </a:p>
          <a:p>
            <a:pPr marL="457200" lvl="1" indent="0" algn="just">
              <a:buNone/>
            </a:pPr>
            <a:r>
              <a:rPr lang="en-US" altLang="en-US" b="1" dirty="0">
                <a:latin typeface="Times New Roman Bold" panose="02020603050405020304" charset="0"/>
                <a:cs typeface="Times New Roman Bold" panose="02020603050405020304" charset="0"/>
                <a:sym typeface="+mn-ea"/>
              </a:rPr>
              <a:t>4. Development Steps</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4.1 Implemented custom loss functions (Dice + BCE).</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4.2 Precision, Recall, F1, Dice, and Pixel Accuracy are additional evaluation metrics.</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4.3 Model trained for 45 epochs.</a:t>
            </a:r>
          </a:p>
          <a:p>
            <a:pPr marL="457200" lvl="1" indent="0" algn="just">
              <a:buNone/>
            </a:pPr>
            <a:endParaRPr lang="en-US" altLang="en-US" dirty="0">
              <a:latin typeface="Times New Roman" panose="02020603050405020304" pitchFamily="18" charset="0"/>
              <a:cs typeface="Times New Roman" panose="02020603050405020304" pitchFamily="18" charset="0"/>
              <a:sym typeface="+mn-ea"/>
            </a:endParaRPr>
          </a:p>
          <a:p>
            <a:pPr marL="457200" lvl="1" indent="0" algn="just">
              <a:buNone/>
            </a:pPr>
            <a:r>
              <a:rPr lang="en-US" altLang="en-US" b="1" dirty="0">
                <a:latin typeface="Times New Roman Bold" panose="02020603050405020304" charset="0"/>
                <a:cs typeface="Times New Roman Bold" panose="02020603050405020304" charset="0"/>
                <a:sym typeface="+mn-ea"/>
              </a:rPr>
              <a:t> 5. Production of Output</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5.1 Pixel-level landslide segmentation masks are produced by the model.</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5.2 The input, ground truth, and anticipated mask are visually compared.</a:t>
            </a:r>
          </a:p>
          <a:p>
            <a:pPr marL="457200" lvl="1" indent="0" algn="just">
              <a:buNone/>
            </a:pPr>
            <a:r>
              <a:rPr lang="en-US" altLang="en-US" dirty="0">
                <a:latin typeface="Times New Roman" panose="02020603050405020304" pitchFamily="18" charset="0"/>
                <a:cs typeface="Times New Roman" panose="02020603050405020304" pitchFamily="18" charset="0"/>
                <a:sym typeface="+mn-ea"/>
              </a:rPr>
              <a:t> 5.3 Final masks are useful for hazard evaluation and early detection.</a:t>
            </a:r>
            <a:r>
              <a:rPr lang="en-US" altLang="en-US" b="1" dirty="0">
                <a:latin typeface="Times New Roman Bold" panose="02020603050405020304" charset="0"/>
                <a:cs typeface="Times New Roman Bold" panose="02020603050405020304" charset="0"/>
                <a:sym typeface="+mn-ea"/>
              </a:rPr>
              <a:t> </a:t>
            </a:r>
            <a:endParaRPr lang="en-US" altLang="en-US" dirty="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1125"/>
            <a:ext cx="10972800" cy="738505"/>
          </a:xfrm>
        </p:spPr>
        <p:txBody>
          <a:bodyPr>
            <a:normAutofit fontScale="90000"/>
          </a:bodyPr>
          <a:lstStyle/>
          <a:p>
            <a:r>
              <a:rPr lang="en-US" sz="3110" b="1" dirty="0">
                <a:latin typeface="Times New Roman" panose="02020603050405020304" pitchFamily="18" charset="0"/>
                <a:cs typeface="Times New Roman" panose="02020603050405020304" pitchFamily="18" charset="0"/>
                <a:sym typeface="+mn-ea"/>
              </a:rPr>
              <a:t>PSEUDOCODE/ALGORITHM</a:t>
            </a:r>
            <a:r>
              <a:rPr lang="en-IN" sz="3110" dirty="0">
                <a:latin typeface="Times New Roman" panose="02020603050405020304" pitchFamily="18" charset="0"/>
                <a:cs typeface="Times New Roman" panose="02020603050405020304" pitchFamily="18" charset="0"/>
                <a:sym typeface="+mn-ea"/>
              </a:rPr>
              <a:t/>
            </a:r>
            <a:br>
              <a:rPr lang="en-IN" sz="3110" dirty="0">
                <a:latin typeface="Times New Roman" panose="02020603050405020304" pitchFamily="18" charset="0"/>
                <a:cs typeface="Times New Roman" panose="02020603050405020304" pitchFamily="18" charset="0"/>
                <a:sym typeface="+mn-ea"/>
              </a:rPr>
            </a:br>
            <a:endParaRPr lang="en-US" sz="3110" dirty="0"/>
          </a:p>
        </p:txBody>
      </p:sp>
      <p:sp>
        <p:nvSpPr>
          <p:cNvPr id="3" name="Content Placeholder 2"/>
          <p:cNvSpPr>
            <a:spLocks noGrp="1"/>
          </p:cNvSpPr>
          <p:nvPr>
            <p:ph idx="1"/>
          </p:nvPr>
        </p:nvSpPr>
        <p:spPr>
          <a:xfrm>
            <a:off x="609600" y="849630"/>
            <a:ext cx="6138545" cy="5689600"/>
          </a:xfrm>
        </p:spPr>
        <p:txBody>
          <a:bodyPr>
            <a:noAutofit/>
          </a:bodyPr>
          <a:lstStyle/>
          <a:p>
            <a:pPr marL="0" indent="0">
              <a:buNone/>
            </a:pPr>
            <a:r>
              <a:rPr lang="en-US" altLang="en-US" sz="2000" b="1" dirty="0">
                <a:latin typeface="Times New Roman" panose="02020603050405020304" pitchFamily="18" charset="0"/>
                <a:cs typeface="Times New Roman" panose="02020603050405020304" pitchFamily="18" charset="0"/>
              </a:rPr>
              <a:t>Landslide Segmentation Model Workflow</a:t>
            </a:r>
          </a:p>
          <a:p>
            <a:pPr marL="0" indent="0">
              <a:buNone/>
            </a:pPr>
            <a:r>
              <a:rPr lang="en-US" altLang="en-US" sz="2000" b="1" dirty="0">
                <a:latin typeface="Times New Roman" panose="02020603050405020304" pitchFamily="18" charset="0"/>
                <a:cs typeface="Times New Roman" panose="02020603050405020304" pitchFamily="18" charset="0"/>
              </a:rPr>
              <a:t>Input: </a:t>
            </a:r>
            <a:r>
              <a:rPr lang="en-US" altLang="en-US" sz="2000" dirty="0">
                <a:latin typeface="Times New Roman" panose="02020603050405020304" pitchFamily="18" charset="0"/>
                <a:cs typeface="Times New Roman" panose="02020603050405020304" pitchFamily="18" charset="0"/>
              </a:rPr>
              <a:t>RGB image (256×256) ; </a:t>
            </a:r>
            <a:r>
              <a:rPr lang="en-US" altLang="en-US" sz="2000" b="1" dirty="0">
                <a:latin typeface="Times New Roman" panose="02020603050405020304" pitchFamily="18" charset="0"/>
                <a:cs typeface="Times New Roman" panose="02020603050405020304" pitchFamily="18" charset="0"/>
              </a:rPr>
              <a:t>Output:</a:t>
            </a:r>
            <a:r>
              <a:rPr lang="en-US" altLang="en-US" sz="2000" dirty="0">
                <a:latin typeface="Times New Roman" panose="02020603050405020304" pitchFamily="18" charset="0"/>
                <a:cs typeface="Times New Roman" panose="02020603050405020304" pitchFamily="18" charset="0"/>
              </a:rPr>
              <a:t> Binary segmentation mask</a:t>
            </a:r>
          </a:p>
          <a:p>
            <a:pPr marL="0" indent="0">
              <a:buNone/>
            </a:pPr>
            <a:r>
              <a:rPr lang="en-US" altLang="en-US" sz="2000" b="1" dirty="0">
                <a:latin typeface="Times New Roman" panose="02020603050405020304" pitchFamily="18" charset="0"/>
                <a:cs typeface="Times New Roman" panose="02020603050405020304" pitchFamily="18" charset="0"/>
              </a:rPr>
              <a:t>Step 1: Data Preprocessing</a:t>
            </a:r>
          </a:p>
          <a:p>
            <a:pPr marL="0" indent="0">
              <a:buNone/>
            </a:pPr>
            <a:r>
              <a:rPr lang="en-US" altLang="en-US" sz="1800" dirty="0">
                <a:latin typeface="Times New Roman" panose="02020603050405020304" pitchFamily="18" charset="0"/>
                <a:cs typeface="Times New Roman" panose="02020603050405020304" pitchFamily="18" charset="0"/>
              </a:rPr>
              <a:t>1.1 Load landslide + non-landslide images.</a:t>
            </a:r>
          </a:p>
          <a:p>
            <a:pPr marL="0" indent="0">
              <a:buNone/>
            </a:pPr>
            <a:r>
              <a:rPr lang="en-US" altLang="en-US" sz="1800" dirty="0">
                <a:latin typeface="Times New Roman" panose="02020603050405020304" pitchFamily="18" charset="0"/>
                <a:cs typeface="Times New Roman" panose="02020603050405020304" pitchFamily="18" charset="0"/>
              </a:rPr>
              <a:t>1.2 Create masks (real masks for landslide, zero masks for non-landslide).</a:t>
            </a:r>
          </a:p>
          <a:p>
            <a:pPr marL="0" indent="0">
              <a:buNone/>
            </a:pPr>
            <a:r>
              <a:rPr lang="en-US" altLang="en-US" sz="2000" b="1" dirty="0">
                <a:latin typeface="Times New Roman" panose="02020603050405020304" pitchFamily="18" charset="0"/>
                <a:cs typeface="Times New Roman" panose="02020603050405020304" pitchFamily="18" charset="0"/>
              </a:rPr>
              <a:t>Step 2: Define Loss &amp; Metrics</a:t>
            </a:r>
          </a:p>
          <a:p>
            <a:pPr marL="0" indent="0">
              <a:buNone/>
            </a:pPr>
            <a:r>
              <a:rPr lang="en-US" altLang="en-US" sz="1800" dirty="0">
                <a:latin typeface="Times New Roman" panose="02020603050405020304" pitchFamily="18" charset="0"/>
                <a:cs typeface="Times New Roman" panose="02020603050405020304" pitchFamily="18" charset="0"/>
              </a:rPr>
              <a:t>2.1 Loss: BCE + Dice Loss</a:t>
            </a:r>
          </a:p>
          <a:p>
            <a:pPr marL="0" indent="0">
              <a:buNone/>
            </a:pPr>
            <a:r>
              <a:rPr lang="en-US" altLang="en-US" sz="1800" dirty="0">
                <a:latin typeface="Times New Roman" panose="02020603050405020304" pitchFamily="18" charset="0"/>
                <a:cs typeface="Times New Roman" panose="02020603050405020304" pitchFamily="18" charset="0"/>
              </a:rPr>
              <a:t>2.2 Metrics: Precision, Recall, F1-Score, Dice Coefficient, Pixel Accuracy</a:t>
            </a:r>
          </a:p>
          <a:p>
            <a:pPr marL="0" indent="0">
              <a:buNone/>
            </a:pPr>
            <a:r>
              <a:rPr lang="en-US" altLang="en-US" sz="2000" b="1" dirty="0">
                <a:latin typeface="Times New Roman" panose="02020603050405020304" pitchFamily="18" charset="0"/>
                <a:cs typeface="Times New Roman" panose="02020603050405020304" pitchFamily="18" charset="0"/>
              </a:rPr>
              <a:t>Step 3: Build U-Net Architecture</a:t>
            </a:r>
            <a:endParaRPr lang="en-US" altLang="en-US" sz="2000" dirty="0">
              <a:latin typeface="Times New Roman" panose="02020603050405020304" pitchFamily="18" charset="0"/>
              <a:cs typeface="Times New Roman" panose="02020603050405020304" pitchFamily="18" charset="0"/>
            </a:endParaRPr>
          </a:p>
          <a:p>
            <a:pPr marL="0" indent="0">
              <a:buNone/>
            </a:pPr>
            <a:r>
              <a:rPr lang="en-US" altLang="en-US" sz="1800" dirty="0">
                <a:latin typeface="Times New Roman" panose="02020603050405020304" pitchFamily="18" charset="0"/>
                <a:cs typeface="Times New Roman" panose="02020603050405020304" pitchFamily="18" charset="0"/>
              </a:rPr>
              <a:t>3.1 Encoder: Conv → BatchNorm → ReLU → MaxPool</a:t>
            </a:r>
          </a:p>
          <a:p>
            <a:pPr marL="0" indent="0">
              <a:buNone/>
            </a:pPr>
            <a:r>
              <a:rPr lang="en-US" altLang="en-US" sz="1800" dirty="0">
                <a:latin typeface="Times New Roman" panose="02020603050405020304" pitchFamily="18" charset="0"/>
                <a:cs typeface="Times New Roman" panose="02020603050405020304" pitchFamily="18" charset="0"/>
              </a:rPr>
              <a:t>3.2 Attention Gates: refine skip connections</a:t>
            </a:r>
          </a:p>
          <a:p>
            <a:pPr marL="0" indent="0">
              <a:buNone/>
            </a:pPr>
            <a:r>
              <a:rPr lang="en-US" altLang="en-US" sz="1800" dirty="0">
                <a:latin typeface="Times New Roman" panose="02020603050405020304" pitchFamily="18" charset="0"/>
                <a:cs typeface="Times New Roman" panose="02020603050405020304" pitchFamily="18" charset="0"/>
              </a:rPr>
              <a:t>3.3 Decoder: Upsample → Concatenate → Conv blocks  </a:t>
            </a:r>
          </a:p>
          <a:p>
            <a:pPr marL="0" indent="0">
              <a:buNone/>
            </a:pPr>
            <a:r>
              <a:rPr lang="en-US" altLang="en-US" sz="1800" dirty="0">
                <a:latin typeface="Times New Roman" panose="02020603050405020304" pitchFamily="18" charset="0"/>
                <a:cs typeface="Times New Roman" panose="02020603050405020304" pitchFamily="18" charset="0"/>
              </a:rPr>
              <a:t>3.4 Output: 1×1 Conv + Sigmoid for binary mask.</a:t>
            </a:r>
          </a:p>
          <a:p>
            <a:endParaRPr lang="en-US" altLang="en-US" sz="1800" dirty="0">
              <a:latin typeface="Times New Roman Regular" panose="02020603050405020304" charset="0"/>
              <a:cs typeface="Times New Roman Regular" panose="02020603050405020304" charset="0"/>
            </a:endParaRPr>
          </a:p>
        </p:txBody>
      </p:sp>
      <p:sp>
        <p:nvSpPr>
          <p:cNvPr id="4" name="Slide Number Placeholder 3"/>
          <p:cNvSpPr>
            <a:spLocks noGrp="1"/>
          </p:cNvSpPr>
          <p:nvPr>
            <p:ph type="sldNum" sz="quarter" idx="12"/>
          </p:nvPr>
        </p:nvSpPr>
        <p:spPr/>
        <p:txBody>
          <a:bodyPr/>
          <a:lstStyle/>
          <a:p>
            <a:fld id="{AE58FF4D-9703-46B8-851C-DA8FCFE4D55D}" type="slidenum">
              <a:rPr lang="en-US" smtClean="0"/>
              <a:t>19</a:t>
            </a:fld>
            <a:endParaRPr 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p:nvPr/>
        </p:nvSpPr>
        <p:spPr>
          <a:xfrm>
            <a:off x="6888822" y="787986"/>
            <a:ext cx="4834255" cy="4032934"/>
          </a:xfrm>
          <a:prstGeom prst="rect">
            <a:avLst/>
          </a:prstGeom>
          <a:noFill/>
        </p:spPr>
        <p:txBody>
          <a:bodyPr wrap="square" rtlCol="0" anchor="t">
            <a:noAutofit/>
          </a:bodyPr>
          <a:lstStyle/>
          <a:p>
            <a:pPr marL="0" indent="0">
              <a:buNone/>
            </a:pPr>
            <a:r>
              <a:rPr lang="en-US" altLang="en-US" sz="2000" b="1" dirty="0">
                <a:latin typeface="Times New Roman" panose="02020603050405020304" pitchFamily="18" charset="0"/>
                <a:cs typeface="Times New Roman" panose="02020603050405020304" pitchFamily="18" charset="0"/>
                <a:sym typeface="+mn-ea"/>
              </a:rPr>
              <a:t>Step 4: </a:t>
            </a:r>
            <a:r>
              <a:rPr lang="en-US" altLang="en-US" sz="2000" b="1" dirty="0">
                <a:latin typeface="Times New Roman" panose="02020603050405020304" pitchFamily="18" charset="0"/>
                <a:cs typeface="Times New Roman" panose="02020603050405020304" pitchFamily="18" charset="0"/>
              </a:rPr>
              <a:t>Model Training</a:t>
            </a:r>
          </a:p>
          <a:p>
            <a:pPr marL="0" indent="0">
              <a:buNone/>
            </a:pPr>
            <a:r>
              <a:rPr lang="en-US" altLang="en-US" sz="1800" dirty="0">
                <a:latin typeface="Times New Roman" panose="02020603050405020304" pitchFamily="18" charset="0"/>
                <a:cs typeface="Times New Roman" panose="02020603050405020304" pitchFamily="18" charset="0"/>
              </a:rPr>
              <a:t>4.1 Optimizer: Adam (lr = 1e-4)</a:t>
            </a:r>
          </a:p>
          <a:p>
            <a:pPr marL="0" indent="0">
              <a:buNone/>
            </a:pPr>
            <a:r>
              <a:rPr lang="en-US" altLang="en-US" sz="1800" dirty="0">
                <a:latin typeface="Times New Roman" panose="02020603050405020304" pitchFamily="18" charset="0"/>
                <a:cs typeface="Times New Roman" panose="02020603050405020304" pitchFamily="18" charset="0"/>
              </a:rPr>
              <a:t>4.2 Train for 45 epochs, batch size 8</a:t>
            </a:r>
          </a:p>
          <a:p>
            <a:pPr marL="0" indent="0">
              <a:buNone/>
            </a:pPr>
            <a:r>
              <a:rPr lang="en-US" altLang="en-US" sz="1800" dirty="0">
                <a:latin typeface="Times New Roman" panose="02020603050405020304" pitchFamily="18" charset="0"/>
                <a:cs typeface="Times New Roman" panose="02020603050405020304" pitchFamily="18" charset="0"/>
              </a:rPr>
              <a:t>4.3 For each epoch:</a:t>
            </a:r>
          </a:p>
          <a:p>
            <a:pPr marL="0" indent="457200">
              <a:buNone/>
            </a:pPr>
            <a:r>
              <a:rPr lang="en-US" altLang="en-US" sz="1800" dirty="0">
                <a:latin typeface="Times New Roman" panose="02020603050405020304" pitchFamily="18" charset="0"/>
                <a:cs typeface="Times New Roman" panose="02020603050405020304" pitchFamily="18" charset="0"/>
              </a:rPr>
              <a:t>Train on batches → compute loss</a:t>
            </a:r>
          </a:p>
          <a:p>
            <a:pPr marL="0" indent="457200">
              <a:buNone/>
            </a:pPr>
            <a:r>
              <a:rPr lang="en-US" altLang="en-US" sz="1800" dirty="0">
                <a:latin typeface="Times New Roman" panose="02020603050405020304" pitchFamily="18" charset="0"/>
                <a:cs typeface="Times New Roman" panose="02020603050405020304" pitchFamily="18" charset="0"/>
              </a:rPr>
              <a:t>Validate → compute metrics </a:t>
            </a:r>
          </a:p>
          <a:p>
            <a:pPr marL="0" indent="457200">
              <a:buNone/>
            </a:pPr>
            <a:r>
              <a:rPr lang="en-US" altLang="en-US" sz="1800" dirty="0">
                <a:latin typeface="Times New Roman" panose="02020603050405020304" pitchFamily="18" charset="0"/>
                <a:cs typeface="Times New Roman" panose="02020603050405020304" pitchFamily="18" charset="0"/>
              </a:rPr>
              <a:t>Save best model based on F1-Score</a:t>
            </a:r>
          </a:p>
          <a:p>
            <a:pPr marL="0" indent="457200">
              <a:buNone/>
            </a:pPr>
            <a:endParaRPr lang="en-US" altLang="en-US" sz="1800" dirty="0">
              <a:latin typeface="Times New Roman" panose="02020603050405020304" pitchFamily="18" charset="0"/>
              <a:cs typeface="Times New Roman" panose="02020603050405020304" pitchFamily="18" charset="0"/>
            </a:endParaRPr>
          </a:p>
          <a:p>
            <a:pPr marL="0" indent="0">
              <a:buNone/>
            </a:pPr>
            <a:r>
              <a:rPr lang="en-US" altLang="en-US" sz="2000" b="1" dirty="0">
                <a:latin typeface="Times New Roman" panose="02020603050405020304" pitchFamily="18" charset="0"/>
                <a:cs typeface="Times New Roman" panose="02020603050405020304" pitchFamily="18" charset="0"/>
                <a:sym typeface="+mn-ea"/>
              </a:rPr>
              <a:t>Step 5: </a:t>
            </a:r>
            <a:r>
              <a:rPr lang="en-US" altLang="en-US" sz="2000" b="1" dirty="0">
                <a:latin typeface="Times New Roman" panose="02020603050405020304" pitchFamily="18" charset="0"/>
                <a:cs typeface="Times New Roman" panose="02020603050405020304" pitchFamily="18" charset="0"/>
              </a:rPr>
              <a:t>Model Output</a:t>
            </a:r>
          </a:p>
          <a:p>
            <a:pPr marL="0" indent="0">
              <a:buNone/>
            </a:pPr>
            <a:r>
              <a:rPr lang="en-US" altLang="en-US" sz="2000" dirty="0">
                <a:latin typeface="Times New Roman" panose="02020603050405020304" pitchFamily="18" charset="0"/>
                <a:cs typeface="Times New Roman" panose="02020603050405020304" pitchFamily="18" charset="0"/>
                <a:sym typeface="+mn-ea"/>
              </a:rPr>
              <a:t>5.1 </a:t>
            </a:r>
            <a:r>
              <a:rPr lang="en-US" altLang="en-US" sz="2000" dirty="0">
                <a:latin typeface="Times New Roman" panose="02020603050405020304" pitchFamily="18" charset="0"/>
                <a:cs typeface="Times New Roman" panose="02020603050405020304" pitchFamily="18" charset="0"/>
              </a:rPr>
              <a:t>Predicted segmentation mask (landslide area)</a:t>
            </a:r>
          </a:p>
          <a:p>
            <a:pPr marL="0" indent="0">
              <a:buNone/>
            </a:pPr>
            <a:r>
              <a:rPr lang="en-US" altLang="en-US" sz="2000" dirty="0">
                <a:latin typeface="Times New Roman" panose="02020603050405020304" pitchFamily="18" charset="0"/>
                <a:cs typeface="Times New Roman" panose="02020603050405020304" pitchFamily="18" charset="0"/>
                <a:sym typeface="+mn-ea"/>
              </a:rPr>
              <a:t>5.2 </a:t>
            </a:r>
            <a:r>
              <a:rPr lang="en-US" altLang="en-US" sz="2000" dirty="0">
                <a:latin typeface="Times New Roman" panose="02020603050405020304" pitchFamily="18" charset="0"/>
                <a:cs typeface="Times New Roman" panose="02020603050405020304" pitchFamily="18" charset="0"/>
              </a:rPr>
              <a:t>Best model weights (best_unet.pth)</a:t>
            </a:r>
          </a:p>
          <a:p>
            <a:pPr marL="0" indent="0">
              <a:buNone/>
            </a:pPr>
            <a:endParaRPr lang="en-US" altLang="en-US" sz="2000"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6244297" y="4618698"/>
            <a:ext cx="5478780" cy="1535430"/>
          </a:xfrm>
          <a:prstGeom prst="rect">
            <a:avLst/>
          </a:prstGeom>
          <a:noFill/>
        </p:spPr>
        <p:txBody>
          <a:bodyPr wrap="square" rtlCol="0">
            <a:noAutofit/>
          </a:bodyPr>
          <a:lstStyle/>
          <a:p>
            <a:pPr marL="285750" indent="-285750">
              <a:buFont typeface="Arial" panose="020B0704020202020204" pitchFamily="34" charset="0"/>
              <a:buChar char="•"/>
            </a:pPr>
            <a:r>
              <a:rPr lang="en-US" altLang="en-US" dirty="0">
                <a:latin typeface="Times New Roman" pitchFamily="18" charset="0"/>
                <a:cs typeface="Times New Roman" pitchFamily="18" charset="0"/>
              </a:rPr>
              <a:t>Extracts features and reduces spatial dimension.</a:t>
            </a:r>
          </a:p>
          <a:p>
            <a:pPr marL="285750" indent="-285750">
              <a:buFont typeface="Arial" panose="020B0704020202020204" pitchFamily="34" charset="0"/>
              <a:buChar char="•"/>
            </a:pPr>
            <a:r>
              <a:rPr lang="en-US" altLang="en-US" dirty="0">
                <a:latin typeface="Times New Roman" pitchFamily="18" charset="0"/>
                <a:cs typeface="Times New Roman" pitchFamily="18" charset="0"/>
              </a:rPr>
              <a:t>Refine skip connections by filtering important encoder features before passing them to the decoder.</a:t>
            </a:r>
          </a:p>
          <a:p>
            <a:pPr marL="285750" indent="-285750">
              <a:buFont typeface="Arial" panose="020B0704020202020204" pitchFamily="34" charset="0"/>
              <a:buChar char="•"/>
            </a:pPr>
            <a:r>
              <a:rPr lang="en-US" altLang="en-US" dirty="0">
                <a:latin typeface="Times New Roman" pitchFamily="18" charset="0"/>
                <a:cs typeface="Times New Roman" pitchFamily="18" charset="0"/>
              </a:rPr>
              <a:t>Rebuilds spatial resolution and predicts fine boundaries (“Rebuilding with Prediction”)</a:t>
            </a:r>
          </a:p>
          <a:p>
            <a:pPr marL="285750" indent="-285750">
              <a:buFont typeface="Arial" panose="020B0704020202020204" pitchFamily="34" charset="0"/>
              <a:buChar char="•"/>
            </a:pPr>
            <a:r>
              <a:rPr lang="en-US" altLang="en-US" dirty="0">
                <a:latin typeface="Times New Roman" pitchFamily="18" charset="0"/>
                <a:cs typeface="Times New Roman" pitchFamily="18" charset="0"/>
              </a:rPr>
              <a:t>Produces a binary segmentation mask (landslide vs. background).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442" y="0"/>
            <a:ext cx="11158780" cy="960895"/>
          </a:xfrm>
        </p:spPr>
        <p:txBody>
          <a:bodyPr>
            <a:normAutofit/>
          </a:bodyPr>
          <a:lstStyle/>
          <a:p>
            <a:r>
              <a:rPr lang="en-US" sz="2800" b="1" dirty="0">
                <a:latin typeface="Times New Roman" panose="02020603050405020304" pitchFamily="18" charset="0"/>
                <a:cs typeface="Times New Roman" panose="02020603050405020304" pitchFamily="18" charset="0"/>
              </a:rPr>
              <a:t>FLOW DIAGRAM FOR PSEUDO CODE  </a:t>
            </a:r>
            <a:endParaRPr lang="en-IN" sz="28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E58FF4D-9703-46B8-851C-DA8FCFE4D55D}" type="slidenum">
              <a:rPr lang="en-US" smtClean="0"/>
              <a:t>20</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6"/>
          <p:cNvSpPr txBox="1"/>
          <p:nvPr/>
        </p:nvSpPr>
        <p:spPr>
          <a:xfrm>
            <a:off x="3463188" y="6488668"/>
            <a:ext cx="520625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Fig.1 Flow diagram of the Pseudo code / algorithm  </a:t>
            </a:r>
          </a:p>
        </p:txBody>
      </p:sp>
      <p:sp>
        <p:nvSpPr>
          <p:cNvPr id="3" name="Rectangle 2"/>
          <p:cNvSpPr/>
          <p:nvPr/>
        </p:nvSpPr>
        <p:spPr>
          <a:xfrm>
            <a:off x="4979963" y="928865"/>
            <a:ext cx="1659988" cy="25282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Content Placeholder 6"/>
          <p:cNvSpPr>
            <a:spLocks noGrp="1"/>
          </p:cNvSpPr>
          <p:nvPr>
            <p:ph idx="1"/>
          </p:nvPr>
        </p:nvSpPr>
        <p:spPr/>
        <p:txBody>
          <a:bodyPr/>
          <a:lstStyle/>
          <a:p>
            <a:endParaRPr lang="en-US" dirty="0"/>
          </a:p>
        </p:txBody>
      </p:sp>
      <p:pic>
        <p:nvPicPr>
          <p:cNvPr id="1026" name="Picture 2" descr="C:\Users\HP\Downloads\diagram-export-12-2-2025-1_52_35-AM.png"/>
          <p:cNvPicPr>
            <a:picLocks noChangeAspect="1" noChangeArrowheads="1"/>
          </p:cNvPicPr>
          <p:nvPr/>
        </p:nvPicPr>
        <p:blipFill rotWithShape="1">
          <a:blip r:embed="rId3">
            <a:extLst>
              <a:ext uri="{28A0092B-C50C-407E-A947-70E740481C1C}">
                <a14:useLocalDpi xmlns:a14="http://schemas.microsoft.com/office/drawing/2010/main" val="0"/>
              </a:ext>
            </a:extLst>
          </a:blip>
          <a:srcRect b="15107"/>
          <a:stretch>
            <a:fillRect/>
          </a:stretch>
        </p:blipFill>
        <p:spPr bwMode="auto">
          <a:xfrm>
            <a:off x="190448" y="1028308"/>
            <a:ext cx="11919206" cy="54603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sym typeface="+mn-ea"/>
              </a:rPr>
              <a:t>FLOW DIAGRAM FOR PSEUDO CODE  </a:t>
            </a:r>
            <a:endParaRPr lang="en-US"/>
          </a:p>
        </p:txBody>
      </p:sp>
      <p:sp>
        <p:nvSpPr>
          <p:cNvPr id="4" name="Slide Number Placeholder 3"/>
          <p:cNvSpPr>
            <a:spLocks noGrp="1"/>
          </p:cNvSpPr>
          <p:nvPr>
            <p:ph type="sldNum" sz="quarter" idx="12"/>
          </p:nvPr>
        </p:nvSpPr>
        <p:spPr/>
        <p:txBody>
          <a:bodyPr/>
          <a:lstStyle/>
          <a:p>
            <a:fld id="{AE58FF4D-9703-46B8-851C-DA8FCFE4D55D}" type="slidenum">
              <a:rPr lang="en-US" smtClean="0"/>
              <a:pPr/>
              <a:t>21</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Content Placeholder 1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3360" y="1959521"/>
            <a:ext cx="11765280" cy="4045039"/>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763270"/>
          </a:xfrm>
        </p:spPr>
        <p:txBody>
          <a:bodyPr/>
          <a:lstStyle/>
          <a:p>
            <a:r>
              <a:rPr lang="en-US" sz="2800" b="1" dirty="0">
                <a:latin typeface="Times New Roman" panose="02020603050405020304" pitchFamily="18" charset="0"/>
                <a:cs typeface="Times New Roman" panose="02020603050405020304" pitchFamily="18" charset="0"/>
                <a:sym typeface="+mn-ea"/>
              </a:rPr>
              <a:t>FLOW DIAGRAM FOR PSEUDO CODE  </a:t>
            </a:r>
            <a:endParaRPr lang="en-US" sz="2800"/>
          </a:p>
        </p:txBody>
      </p:sp>
      <p:sp>
        <p:nvSpPr>
          <p:cNvPr id="4" name="Slide Number Placeholder 3"/>
          <p:cNvSpPr>
            <a:spLocks noGrp="1"/>
          </p:cNvSpPr>
          <p:nvPr>
            <p:ph type="sldNum" sz="quarter" idx="12"/>
          </p:nvPr>
        </p:nvSpPr>
        <p:spPr/>
        <p:txBody>
          <a:bodyPr/>
          <a:lstStyle/>
          <a:p>
            <a:fld id="{AE58FF4D-9703-46B8-851C-DA8FCFE4D55D}" type="slidenum">
              <a:rPr lang="en-US" smtClean="0"/>
              <a:t>22</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952116"/>
            <a:ext cx="12192000" cy="3854324"/>
          </a:xfr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763270"/>
          </a:xfrm>
        </p:spPr>
        <p:txBody>
          <a:bodyPr/>
          <a:lstStyle/>
          <a:p>
            <a:r>
              <a:rPr lang="en-US" sz="2800" b="1" dirty="0">
                <a:latin typeface="Times New Roman" panose="02020603050405020304" pitchFamily="18" charset="0"/>
                <a:cs typeface="Times New Roman" panose="02020603050405020304" pitchFamily="18" charset="0"/>
                <a:sym typeface="+mn-ea"/>
              </a:rPr>
              <a:t>FLOW DIAGRAM FOR PSEUDO CODE  </a:t>
            </a:r>
            <a:endParaRPr lang="en-US" sz="2800"/>
          </a:p>
        </p:txBody>
      </p:sp>
      <p:sp>
        <p:nvSpPr>
          <p:cNvPr id="4" name="Slide Number Placeholder 3"/>
          <p:cNvSpPr>
            <a:spLocks noGrp="1"/>
          </p:cNvSpPr>
          <p:nvPr>
            <p:ph type="sldNum" sz="quarter" idx="12"/>
          </p:nvPr>
        </p:nvSpPr>
        <p:spPr/>
        <p:txBody>
          <a:bodyPr/>
          <a:lstStyle/>
          <a:p>
            <a:fld id="{AE58FF4D-9703-46B8-851C-DA8FCFE4D55D}" type="slidenum">
              <a:rPr lang="en-US" smtClean="0"/>
              <a:t>23</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Content Placeholder 8"/>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640" y="1555361"/>
            <a:ext cx="12024360" cy="4370654"/>
          </a:xfr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122238"/>
            <a:ext cx="10972800" cy="545869"/>
          </a:xfrm>
        </p:spPr>
        <p:txBody>
          <a:bodyPr>
            <a:normAutofit/>
          </a:bodyPr>
          <a:lstStyle/>
          <a:p>
            <a:r>
              <a:rPr lang="en-IN" sz="2800" b="1" dirty="0">
                <a:latin typeface="Times New Roman" panose="02020603050405020304" pitchFamily="18" charset="0"/>
                <a:cs typeface="Times New Roman" panose="02020603050405020304" pitchFamily="18" charset="0"/>
              </a:rPr>
              <a:t>U-N</a:t>
            </a:r>
            <a:r>
              <a:rPr lang="en-US" altLang="en-IN" sz="2800" b="1" dirty="0">
                <a:latin typeface="Times New Roman" panose="02020603050405020304" pitchFamily="18" charset="0"/>
                <a:cs typeface="Times New Roman" panose="02020603050405020304" pitchFamily="18" charset="0"/>
              </a:rPr>
              <a:t>ET</a:t>
            </a:r>
            <a:r>
              <a:rPr lang="en-IN" sz="2800" b="1" dirty="0">
                <a:latin typeface="Times New Roman" panose="02020603050405020304" pitchFamily="18" charset="0"/>
                <a:cs typeface="Times New Roman" panose="02020603050405020304" pitchFamily="18" charset="0"/>
              </a:rPr>
              <a:t> ARCHITECTURE FOR THE MODEL</a:t>
            </a:r>
          </a:p>
        </p:txBody>
      </p:sp>
      <p:sp>
        <p:nvSpPr>
          <p:cNvPr id="4" name="Content Placeholder 3"/>
          <p:cNvSpPr>
            <a:spLocks noGrp="1"/>
          </p:cNvSpPr>
          <p:nvPr>
            <p:ph sz="half" idx="2"/>
          </p:nvPr>
        </p:nvSpPr>
        <p:spPr>
          <a:xfrm>
            <a:off x="12060821" y="1264537"/>
            <a:ext cx="7213600" cy="4525963"/>
          </a:xfrm>
        </p:spPr>
        <p:txBody>
          <a:bodyPr/>
          <a:lstStyle/>
          <a:p>
            <a:pPr marL="0" indent="0">
              <a:buNone/>
            </a:pPr>
            <a:endParaRPr lang="en-IN" dirty="0"/>
          </a:p>
        </p:txBody>
      </p:sp>
      <p:sp>
        <p:nvSpPr>
          <p:cNvPr id="5" name="Slide Number Placeholder 4"/>
          <p:cNvSpPr>
            <a:spLocks noGrp="1"/>
          </p:cNvSpPr>
          <p:nvPr>
            <p:ph type="sldNum" sz="quarter" idx="12"/>
          </p:nvPr>
        </p:nvSpPr>
        <p:spPr/>
        <p:txBody>
          <a:bodyPr/>
          <a:lstStyle/>
          <a:p>
            <a:fld id="{AE58FF4D-9703-46B8-851C-DA8FCFE4D55D}" type="slidenum">
              <a:rPr lang="en-US" smtClean="0"/>
              <a:t>24</a:t>
            </a:fld>
            <a:endParaRPr lang="en-US"/>
          </a:p>
        </p:txBody>
      </p:sp>
      <p:pic>
        <p:nvPicPr>
          <p:cNvPr id="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78776" cy="5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Content Placeholder 7" descr="The-vanilla-UNET-architecture"/>
          <p:cNvPicPr>
            <a:picLocks noGrp="1"/>
          </p:cNvPicPr>
          <p:nvPr>
            <p:ph sz="half" idx="1"/>
          </p:nvPr>
        </p:nvPicPr>
        <p:blipFill>
          <a:blip r:embed="rId3">
            <a:extLst>
              <a:ext uri="{28A0092B-C50C-407E-A947-70E740481C1C}">
                <a14:useLocalDpi xmlns:a14="http://schemas.microsoft.com/office/drawing/2010/main" val="0"/>
              </a:ext>
            </a:extLst>
          </a:blip>
          <a:stretch>
            <a:fillRect/>
          </a:stretch>
        </p:blipFill>
        <p:spPr>
          <a:xfrm>
            <a:off x="1456612" y="1327571"/>
            <a:ext cx="9790508" cy="5317069"/>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609600"/>
          </a:xfrm>
        </p:spPr>
        <p:txBody>
          <a:bodyPr/>
          <a:lstStyle/>
          <a:p>
            <a:r>
              <a:rPr lang="en-IN" sz="2800" b="1" dirty="0" smtClean="0">
                <a:solidFill>
                  <a:prstClr val="black"/>
                </a:solidFill>
                <a:latin typeface="Times New Roman" panose="02020603050405020304" pitchFamily="18" charset="0"/>
                <a:cs typeface="Times New Roman" panose="02020603050405020304" pitchFamily="18" charset="0"/>
              </a:rPr>
              <a:t>DESCRIPTION OF THE GENERAL U-N</a:t>
            </a:r>
            <a:r>
              <a:rPr lang="en-US" altLang="en-IN" sz="2800" b="1" dirty="0">
                <a:solidFill>
                  <a:prstClr val="black"/>
                </a:solidFill>
                <a:latin typeface="Times New Roman" panose="02020603050405020304" pitchFamily="18" charset="0"/>
                <a:cs typeface="Times New Roman" panose="02020603050405020304" pitchFamily="18" charset="0"/>
              </a:rPr>
              <a:t>ET</a:t>
            </a:r>
            <a:r>
              <a:rPr lang="en-IN" sz="2800" b="1" dirty="0">
                <a:solidFill>
                  <a:prstClr val="black"/>
                </a:solidFill>
                <a:latin typeface="Times New Roman" panose="02020603050405020304" pitchFamily="18" charset="0"/>
                <a:cs typeface="Times New Roman" panose="02020603050405020304" pitchFamily="18" charset="0"/>
              </a:rPr>
              <a:t> </a:t>
            </a:r>
            <a:r>
              <a:rPr lang="en-IN" sz="2800" b="1" dirty="0" smtClean="0">
                <a:solidFill>
                  <a:prstClr val="black"/>
                </a:solidFill>
                <a:latin typeface="Times New Roman" panose="02020603050405020304" pitchFamily="18" charset="0"/>
                <a:cs typeface="Times New Roman" panose="02020603050405020304" pitchFamily="18" charset="0"/>
              </a:rPr>
              <a:t>ARCHITECTURE</a:t>
            </a:r>
            <a:endParaRPr lang="en-IN" dirty="0"/>
          </a:p>
        </p:txBody>
      </p:sp>
      <p:sp>
        <p:nvSpPr>
          <p:cNvPr id="3" name="Content Placeholder 2"/>
          <p:cNvSpPr>
            <a:spLocks noGrp="1"/>
          </p:cNvSpPr>
          <p:nvPr>
            <p:ph sz="half" idx="1"/>
          </p:nvPr>
        </p:nvSpPr>
        <p:spPr>
          <a:xfrm>
            <a:off x="330200" y="778510"/>
            <a:ext cx="11722735" cy="5577840"/>
          </a:xfrm>
        </p:spPr>
        <p:txBody>
          <a:bodyPr>
            <a:noAutofit/>
          </a:bodyPr>
          <a:lstStyle/>
          <a:p>
            <a:pPr algn="just"/>
            <a:r>
              <a:rPr lang="en-US" sz="1800" b="1" dirty="0">
                <a:latin typeface="Times New Roman" panose="02020603050405020304" pitchFamily="18" charset="0"/>
                <a:cs typeface="Times New Roman" panose="02020603050405020304" pitchFamily="18" charset="0"/>
              </a:rPr>
              <a:t>Input Image:</a:t>
            </a:r>
            <a:r>
              <a:rPr 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process starts with a 2D image. At this stage, the model does not know anything about the target regions.It only recives the raw image and start extravting useful visual patterns.</a:t>
            </a:r>
          </a:p>
          <a:p>
            <a:pPr algn="just"/>
            <a:r>
              <a:rPr lang="en-US" sz="1800" b="1" dirty="0">
                <a:latin typeface="Times New Roman" panose="02020603050405020304" pitchFamily="18" charset="0"/>
                <a:cs typeface="Times New Roman" panose="02020603050405020304" pitchFamily="18" charset="0"/>
              </a:rPr>
              <a:t> Encoder (Feature Extraction): </a:t>
            </a:r>
            <a:r>
              <a:rPr lang="en-US" altLang="en-US" sz="1800" dirty="0">
                <a:latin typeface="Times New Roman" panose="02020603050405020304" pitchFamily="18" charset="0"/>
                <a:cs typeface="Times New Roman" panose="02020603050405020304" pitchFamily="18" charset="0"/>
              </a:rPr>
              <a:t>The encoder is responsible for learning meaningful features from the input image. Each encoder block performs:</a:t>
            </a:r>
          </a:p>
          <a:p>
            <a:pPr lvl="1" algn="just"/>
            <a:r>
              <a:rPr lang="en-US" altLang="en-US" sz="1800" dirty="0">
                <a:latin typeface="Times New Roman" panose="02020603050405020304" pitchFamily="18" charset="0"/>
                <a:cs typeface="Times New Roman" panose="02020603050405020304" pitchFamily="18" charset="0"/>
              </a:rPr>
              <a:t>Two 3×3 Convolutions + ReLU → captures important patterns such as edges, textures, shapes, and intensity variations.</a:t>
            </a:r>
          </a:p>
          <a:p>
            <a:pPr lvl="1" algn="just"/>
            <a:r>
              <a:rPr lang="en-US" altLang="en-US" sz="1800" dirty="0">
                <a:latin typeface="Times New Roman" panose="02020603050405020304" pitchFamily="18" charset="0"/>
                <a:cs typeface="Times New Roman" panose="02020603050405020304" pitchFamily="18" charset="0"/>
              </a:rPr>
              <a:t>Max-Pooling (2×2) → reduces spatial size but increases feature depth, helping the model learn more complex and abstract features.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Bottleneck: </a:t>
            </a:r>
            <a:r>
              <a:rPr lang="en-US" altLang="en-US" sz="1800" dirty="0">
                <a:latin typeface="Times New Roman" panose="02020603050405020304" pitchFamily="18" charset="0"/>
                <a:cs typeface="Times New Roman" panose="02020603050405020304" pitchFamily="18" charset="0"/>
              </a:rPr>
              <a:t>This is the core part of the model where all extracted features are combined. Here, the model forms a deep understanding of:</a:t>
            </a:r>
          </a:p>
          <a:p>
            <a:pPr lvl="1" algn="just"/>
            <a:r>
              <a:rPr lang="en-US" altLang="en-US" sz="1800" dirty="0">
                <a:latin typeface="Times New Roman" panose="02020603050405020304" pitchFamily="18" charset="0"/>
                <a:cs typeface="Times New Roman" panose="02020603050405020304" pitchFamily="18" charset="0"/>
              </a:rPr>
              <a:t>Which regions appear consistent or stable?</a:t>
            </a:r>
          </a:p>
          <a:p>
            <a:pPr lvl="1" algn="just"/>
            <a:r>
              <a:rPr lang="en-US" altLang="en-US" sz="1800" dirty="0">
                <a:latin typeface="Times New Roman" panose="02020603050405020304" pitchFamily="18" charset="0"/>
                <a:cs typeface="Times New Roman" panose="02020603050405020304" pitchFamily="18" charset="0"/>
              </a:rPr>
              <a:t>which regions have patterns similar to the target region?</a:t>
            </a:r>
          </a:p>
          <a:p>
            <a:pPr algn="just"/>
            <a:r>
              <a:rPr lang="en-US" sz="1800" b="1" dirty="0">
                <a:latin typeface="Times New Roman" panose="02020603050405020304" pitchFamily="18" charset="0"/>
                <a:cs typeface="Times New Roman" panose="02020603050405020304" pitchFamily="18" charset="0"/>
              </a:rPr>
              <a:t>Decoder (Reconstruction &amp; Localization):</a:t>
            </a:r>
            <a:r>
              <a:rPr lang="en-US" sz="18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The decoder gradually rebuilds the image resolution and localizes the exact target region It performs:</a:t>
            </a:r>
          </a:p>
          <a:p>
            <a:pPr lvl="1" algn="just"/>
            <a:r>
              <a:rPr lang="en-US" altLang="en-US" sz="1800" dirty="0">
                <a:latin typeface="Times New Roman" panose="02020603050405020304" pitchFamily="18" charset="0"/>
                <a:cs typeface="Times New Roman" panose="02020603050405020304" pitchFamily="18" charset="0"/>
              </a:rPr>
              <a:t>Upsampling (×2) → increases spatial size</a:t>
            </a:r>
          </a:p>
          <a:p>
            <a:pPr lvl="1" algn="just"/>
            <a:r>
              <a:rPr lang="en-US" altLang="en-US" sz="1800" dirty="0">
                <a:latin typeface="Times New Roman" panose="02020603050405020304" pitchFamily="18" charset="0"/>
                <a:cs typeface="Times New Roman" panose="02020603050405020304" pitchFamily="18" charset="0"/>
              </a:rPr>
              <a:t>Skip Connections → bring back fine details lost during downsampling</a:t>
            </a:r>
          </a:p>
          <a:p>
            <a:pPr lvl="1" algn="just"/>
            <a:r>
              <a:rPr lang="en-US" altLang="en-US" sz="1800" dirty="0">
                <a:latin typeface="Times New Roman" panose="02020603050405020304" pitchFamily="18" charset="0"/>
                <a:cs typeface="Times New Roman" panose="02020603050405020304" pitchFamily="18" charset="0"/>
              </a:rPr>
              <a:t>Concatenation → merges encoder features with decoder features</a:t>
            </a:r>
          </a:p>
          <a:p>
            <a:pPr lvl="1" algn="just"/>
            <a:r>
              <a:rPr lang="en-US" altLang="en-US" sz="1800" dirty="0">
                <a:latin typeface="Times New Roman" panose="02020603050405020304" pitchFamily="18" charset="0"/>
                <a:cs typeface="Times New Roman" panose="02020603050405020304" pitchFamily="18" charset="0"/>
              </a:rPr>
              <a:t>3×3 Convolutions + ReLU → refine boundaries and restore spatial details</a:t>
            </a:r>
          </a:p>
          <a:p>
            <a:pPr algn="just"/>
            <a:r>
              <a:rPr lang="en-US" sz="1800" b="1" dirty="0">
                <a:latin typeface="Times New Roman" panose="02020603050405020304" pitchFamily="18" charset="0"/>
                <a:cs typeface="Times New Roman" panose="02020603050405020304" pitchFamily="18" charset="0"/>
              </a:rPr>
              <a:t> Output: </a:t>
            </a:r>
            <a:r>
              <a:rPr lang="en-US" altLang="en-US" sz="1800" dirty="0">
                <a:latin typeface="Times New Roman Regular" panose="02020603050405020304" charset="0"/>
                <a:cs typeface="Times New Roman Regular" panose="02020603050405020304" charset="0"/>
              </a:rPr>
              <a:t>A final 1×1 convolution reduces the feature maps to the number of output classes (usually 1 or 2)</a:t>
            </a:r>
            <a:r>
              <a:rPr lang="en-US" altLang="en-US" sz="1800" dirty="0"/>
              <a:t>.</a:t>
            </a:r>
          </a:p>
          <a:p>
            <a:pPr marL="0" indent="0" algn="just">
              <a:buNone/>
            </a:pPr>
            <a:r>
              <a:rPr lang="en-US" sz="1800" b="1" dirty="0"/>
              <a:t> </a:t>
            </a:r>
            <a:endParaRPr lang="en-IN" sz="1800" dirty="0"/>
          </a:p>
          <a:p>
            <a:pPr algn="just"/>
            <a:endParaRPr lang="en-IN" sz="1800" dirty="0"/>
          </a:p>
        </p:txBody>
      </p:sp>
      <p:sp>
        <p:nvSpPr>
          <p:cNvPr id="4" name="Content Placeholder 3"/>
          <p:cNvSpPr>
            <a:spLocks noGrp="1"/>
          </p:cNvSpPr>
          <p:nvPr>
            <p:ph sz="half" idx="2"/>
          </p:nvPr>
        </p:nvSpPr>
        <p:spPr>
          <a:xfrm>
            <a:off x="12599035" y="1600200"/>
            <a:ext cx="2844165" cy="3171190"/>
          </a:xfrm>
        </p:spPr>
        <p:txBody>
          <a:bodyPr>
            <a:normAutofit/>
          </a:bodyPr>
          <a:lstStyle/>
          <a:p>
            <a:endParaRPr lang="en-IN"/>
          </a:p>
        </p:txBody>
      </p:sp>
      <p:sp>
        <p:nvSpPr>
          <p:cNvPr id="5" name="Slide Number Placeholder 4"/>
          <p:cNvSpPr>
            <a:spLocks noGrp="1"/>
          </p:cNvSpPr>
          <p:nvPr>
            <p:ph type="sldNum" sz="quarter" idx="12"/>
          </p:nvPr>
        </p:nvSpPr>
        <p:spPr/>
        <p:txBody>
          <a:bodyPr/>
          <a:lstStyle/>
          <a:p>
            <a:fld id="{AE58FF4D-9703-46B8-851C-DA8FCFE4D55D}" type="slidenum">
              <a:rPr lang="en-US" smtClean="0"/>
              <a:t>25</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 y="38100"/>
            <a:ext cx="1714500"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185" y="-92710"/>
            <a:ext cx="10972800" cy="924560"/>
          </a:xfrm>
        </p:spPr>
        <p:txBody>
          <a:bodyPr/>
          <a:lstStyle/>
          <a:p>
            <a:r>
              <a:rPr lang="en-IN" sz="2800" b="1" dirty="0" smtClean="0">
                <a:solidFill>
                  <a:prstClr val="black"/>
                </a:solidFill>
                <a:latin typeface="Times New Roman" panose="02020603050405020304" pitchFamily="18" charset="0"/>
                <a:cs typeface="Times New Roman" panose="02020603050405020304" pitchFamily="18" charset="0"/>
              </a:rPr>
              <a:t>ATTENTION U-N</a:t>
            </a:r>
            <a:r>
              <a:rPr lang="en-US" altLang="en-IN" sz="2800" b="1" dirty="0">
                <a:solidFill>
                  <a:prstClr val="black"/>
                </a:solidFill>
                <a:latin typeface="Times New Roman" panose="02020603050405020304" pitchFamily="18" charset="0"/>
                <a:cs typeface="Times New Roman" panose="02020603050405020304" pitchFamily="18" charset="0"/>
              </a:rPr>
              <a:t>ET</a:t>
            </a:r>
            <a:r>
              <a:rPr lang="en-IN" sz="2800" b="1" dirty="0">
                <a:solidFill>
                  <a:prstClr val="black"/>
                </a:solidFill>
                <a:latin typeface="Times New Roman" panose="02020603050405020304" pitchFamily="18" charset="0"/>
                <a:cs typeface="Times New Roman" panose="02020603050405020304" pitchFamily="18" charset="0"/>
              </a:rPr>
              <a:t> ARCHITECTURE FOR THE MODEL</a:t>
            </a:r>
            <a:endParaRPr lang="en-IN" dirty="0"/>
          </a:p>
        </p:txBody>
      </p:sp>
      <p:sp>
        <p:nvSpPr>
          <p:cNvPr id="4" name="Content Placeholder 3"/>
          <p:cNvSpPr>
            <a:spLocks noGrp="1"/>
          </p:cNvSpPr>
          <p:nvPr>
            <p:ph sz="half" idx="2"/>
          </p:nvPr>
        </p:nvSpPr>
        <p:spPr/>
        <p:txBody>
          <a:bodyPr/>
          <a:lstStyle/>
          <a:p>
            <a:endParaRPr lang="en-IN"/>
          </a:p>
        </p:txBody>
      </p:sp>
      <p:sp>
        <p:nvSpPr>
          <p:cNvPr id="5" name="Slide Number Placeholder 4"/>
          <p:cNvSpPr>
            <a:spLocks noGrp="1"/>
          </p:cNvSpPr>
          <p:nvPr>
            <p:ph type="sldNum" sz="quarter" idx="12"/>
          </p:nvPr>
        </p:nvSpPr>
        <p:spPr/>
        <p:txBody>
          <a:bodyPr/>
          <a:lstStyle/>
          <a:p>
            <a:fld id="{AE58FF4D-9703-46B8-851C-DA8FCFE4D55D}" type="slidenum">
              <a:rPr lang="en-US" smtClean="0"/>
              <a:t>26</a:t>
            </a:fld>
            <a:endParaRPr lang="en-US"/>
          </a:p>
        </p:txBody>
      </p:sp>
      <p:pic>
        <p:nvPicPr>
          <p:cNvPr id="6" name="Content Placeholder 5"/>
          <p:cNvPicPr>
            <a:picLocks noGrp="1"/>
          </p:cNvPicPr>
          <p:nvPr>
            <p:ph sz="half" idx="1"/>
          </p:nvPr>
        </p:nvPicPr>
        <p:blipFill>
          <a:blip r:embed="rId2">
            <a:extLst>
              <a:ext uri="{28A0092B-C50C-407E-A947-70E740481C1C}">
                <a14:useLocalDpi xmlns:a14="http://schemas.microsoft.com/office/drawing/2010/main" val="0"/>
              </a:ext>
            </a:extLst>
          </a:blip>
          <a:srcRect l="3690" t="2898" r="4884" b="37391"/>
          <a:stretch>
            <a:fillRect/>
          </a:stretch>
        </p:blipFill>
        <p:spPr>
          <a:xfrm>
            <a:off x="834390" y="593725"/>
            <a:ext cx="9881235" cy="6026150"/>
          </a:xfrm>
          <a:prstGeom prst="rect">
            <a:avLst/>
          </a:prstGeom>
          <a:ln>
            <a:noFill/>
          </a:ln>
        </p:spPr>
      </p:pic>
      <p:pic>
        <p:nvPicPr>
          <p:cNvPr id="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 y="38100"/>
            <a:ext cx="111633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p:cNvCxnSpPr/>
          <p:nvPr/>
        </p:nvCxnSpPr>
        <p:spPr>
          <a:xfrm flipV="1">
            <a:off x="10262123" y="2771270"/>
            <a:ext cx="0" cy="2635623"/>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9" name="Text Box 8"/>
          <p:cNvSpPr txBox="1"/>
          <p:nvPr/>
        </p:nvSpPr>
        <p:spPr>
          <a:xfrm>
            <a:off x="0" y="4467860"/>
            <a:ext cx="1974215" cy="364490"/>
          </a:xfrm>
          <a:prstGeom prst="rect">
            <a:avLst/>
          </a:prstGeom>
          <a:noFill/>
        </p:spPr>
        <p:txBody>
          <a:bodyPr wrap="square" rtlCol="0">
            <a:noAutofit/>
          </a:bodyPr>
          <a:lstStyle/>
          <a:p>
            <a:r>
              <a:rPr lang="en-US" b="1">
                <a:latin typeface="Times New Roman Bold" panose="02020603050405020304" charset="0"/>
                <a:cs typeface="Times New Roman Bold" panose="02020603050405020304" charset="0"/>
              </a:rPr>
              <a:t>Down Sampling</a:t>
            </a:r>
          </a:p>
        </p:txBody>
      </p:sp>
      <p:sp>
        <p:nvSpPr>
          <p:cNvPr id="11" name="Text Box 10"/>
          <p:cNvSpPr txBox="1"/>
          <p:nvPr/>
        </p:nvSpPr>
        <p:spPr>
          <a:xfrm>
            <a:off x="10414000" y="4467860"/>
            <a:ext cx="2844800" cy="417830"/>
          </a:xfrm>
          <a:prstGeom prst="rect">
            <a:avLst/>
          </a:prstGeom>
          <a:noFill/>
        </p:spPr>
        <p:txBody>
          <a:bodyPr wrap="square" rtlCol="0" anchor="t">
            <a:noAutofit/>
          </a:bodyPr>
          <a:lstStyle/>
          <a:p>
            <a:r>
              <a:rPr lang="en-US" b="1">
                <a:latin typeface="Times New Roman Bold" panose="02020603050405020304" charset="0"/>
                <a:cs typeface="Times New Roman Bold" panose="02020603050405020304" charset="0"/>
                <a:sym typeface="+mn-ea"/>
              </a:rPr>
              <a:t>Up Sampling</a:t>
            </a:r>
          </a:p>
        </p:txBody>
      </p:sp>
      <p:cxnSp>
        <p:nvCxnSpPr>
          <p:cNvPr id="12" name="Straight Arrow Connector 11"/>
          <p:cNvCxnSpPr/>
          <p:nvPr/>
        </p:nvCxnSpPr>
        <p:spPr>
          <a:xfrm>
            <a:off x="1791709" y="2447290"/>
            <a:ext cx="512220" cy="47520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 name="Straight Arrow Connector 12"/>
          <p:cNvCxnSpPr/>
          <p:nvPr/>
        </p:nvCxnSpPr>
        <p:spPr>
          <a:xfrm flipV="1">
            <a:off x="9798424" y="2447290"/>
            <a:ext cx="370783" cy="47520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5" name="Straight Arrow Connector 14"/>
          <p:cNvCxnSpPr/>
          <p:nvPr/>
        </p:nvCxnSpPr>
        <p:spPr>
          <a:xfrm>
            <a:off x="1791709" y="2650490"/>
            <a:ext cx="0" cy="2683510"/>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smtClean="0">
                <a:solidFill>
                  <a:prstClr val="black"/>
                </a:solidFill>
                <a:latin typeface="Times New Roman" panose="02020603050405020304" pitchFamily="18" charset="0"/>
                <a:cs typeface="Times New Roman" panose="02020603050405020304" pitchFamily="18" charset="0"/>
              </a:rPr>
              <a:t>DESCRIPTION OF ATTENTION </a:t>
            </a:r>
            <a:r>
              <a:rPr lang="en-IN" sz="2800" b="1" dirty="0">
                <a:solidFill>
                  <a:prstClr val="black"/>
                </a:solidFill>
                <a:latin typeface="Times New Roman" panose="02020603050405020304" pitchFamily="18" charset="0"/>
                <a:cs typeface="Times New Roman" panose="02020603050405020304" pitchFamily="18" charset="0"/>
              </a:rPr>
              <a:t>U-N</a:t>
            </a:r>
            <a:r>
              <a:rPr lang="en-US" altLang="en-IN" sz="2800" b="1" dirty="0">
                <a:solidFill>
                  <a:prstClr val="black"/>
                </a:solidFill>
                <a:latin typeface="Times New Roman" panose="02020603050405020304" pitchFamily="18" charset="0"/>
                <a:cs typeface="Times New Roman" panose="02020603050405020304" pitchFamily="18" charset="0"/>
              </a:rPr>
              <a:t>ET</a:t>
            </a:r>
            <a:r>
              <a:rPr lang="en-IN" sz="2800" b="1" dirty="0">
                <a:solidFill>
                  <a:prstClr val="black"/>
                </a:solidFill>
                <a:latin typeface="Times New Roman" panose="02020603050405020304" pitchFamily="18" charset="0"/>
                <a:cs typeface="Times New Roman" panose="02020603050405020304" pitchFamily="18" charset="0"/>
              </a:rPr>
              <a:t> ARCHITECTURE FOR THE MODEL</a:t>
            </a:r>
            <a:endParaRPr lang="en-IN" dirty="0"/>
          </a:p>
        </p:txBody>
      </p:sp>
      <p:sp>
        <p:nvSpPr>
          <p:cNvPr id="3" name="Content Placeholder 2"/>
          <p:cNvSpPr>
            <a:spLocks noGrp="1"/>
          </p:cNvSpPr>
          <p:nvPr>
            <p:ph sz="half" idx="1"/>
          </p:nvPr>
        </p:nvSpPr>
        <p:spPr>
          <a:xfrm>
            <a:off x="81280" y="1698625"/>
            <a:ext cx="5554980" cy="5022850"/>
          </a:xfrm>
        </p:spPr>
        <p:txBody>
          <a:bodyPr>
            <a:normAutofit/>
          </a:bodyPr>
          <a:lstStyle/>
          <a:p>
            <a:pPr marL="0" indent="0">
              <a:buNone/>
            </a:pPr>
            <a:r>
              <a:rPr lang="en-US" altLang="en-US" sz="1800" b="1" dirty="0">
                <a:latin typeface="Times New Roman Regular" panose="02020603050405020304" charset="0"/>
                <a:cs typeface="Times New Roman Regular" panose="02020603050405020304" charset="0"/>
              </a:rPr>
              <a:t>1. Input Image (H × W × 6):</a:t>
            </a:r>
          </a:p>
          <a:p>
            <a:r>
              <a:rPr lang="en-US" altLang="en-US" sz="1800" dirty="0">
                <a:latin typeface="Times New Roman Regular" panose="02020603050405020304" charset="0"/>
                <a:cs typeface="Times New Roman Regular" panose="02020603050405020304" charset="0"/>
              </a:rPr>
              <a:t>Model takes 6 channels: RGB + NDVI + Slope + Elevation.</a:t>
            </a:r>
          </a:p>
          <a:p>
            <a:r>
              <a:rPr lang="en-US" altLang="en-US" sz="1800" dirty="0">
                <a:latin typeface="Times New Roman Regular" panose="02020603050405020304" charset="0"/>
                <a:cs typeface="Times New Roman Regular" panose="02020603050405020304" charset="0"/>
              </a:rPr>
              <a:t>Extra channels help detect patterns like vegetation loss, slope steepness, and soil changes linked to landslides.</a:t>
            </a:r>
          </a:p>
          <a:p>
            <a:pPr marL="0" indent="0">
              <a:buNone/>
            </a:pPr>
            <a:r>
              <a:rPr lang="en-US" altLang="en-US" sz="1800" b="1" dirty="0">
                <a:latin typeface="Times New Roman Bold" panose="02020603050405020304" charset="0"/>
                <a:cs typeface="Times New Roman Bold" panose="02020603050405020304" charset="0"/>
              </a:rPr>
              <a:t>2. Encoder – Feature Extraction:</a:t>
            </a:r>
          </a:p>
          <a:p>
            <a:r>
              <a:rPr lang="en-US" altLang="en-US" sz="1800" dirty="0">
                <a:latin typeface="Times New Roman Regular" panose="02020603050405020304" charset="0"/>
                <a:cs typeface="Times New Roman Regular" panose="02020603050405020304" charset="0"/>
              </a:rPr>
              <a:t>Gradually reduces image size while increasing feature depth.</a:t>
            </a:r>
          </a:p>
          <a:p>
            <a:r>
              <a:rPr lang="en-US" altLang="en-US" sz="1800" dirty="0">
                <a:latin typeface="Times New Roman Regular" panose="02020603050405020304" charset="0"/>
                <a:cs typeface="Times New Roman Regular" panose="02020603050405020304" charset="0"/>
              </a:rPr>
              <a:t>Each block performs:</a:t>
            </a:r>
          </a:p>
          <a:p>
            <a:pPr lvl="1"/>
            <a:r>
              <a:rPr lang="en-US" altLang="en-US" sz="1800" dirty="0">
                <a:latin typeface="Times New Roman Regular" panose="02020603050405020304" charset="0"/>
                <a:cs typeface="Times New Roman Regular" panose="02020603050405020304" charset="0"/>
              </a:rPr>
              <a:t>Two 3×3 Convolutions + ReLU → learns color changes, cracks, soil textures.</a:t>
            </a:r>
          </a:p>
          <a:p>
            <a:pPr lvl="1"/>
            <a:r>
              <a:rPr lang="en-US" altLang="en-US" sz="1800" dirty="0">
                <a:latin typeface="Times New Roman Regular" panose="02020603050405020304" charset="0"/>
                <a:cs typeface="Times New Roman Regular" panose="02020603050405020304" charset="0"/>
              </a:rPr>
              <a:t>2×2 MaxPooling → captures larger terrain structures.</a:t>
            </a:r>
          </a:p>
          <a:p>
            <a:r>
              <a:rPr lang="en-US" altLang="en-US" sz="1800" dirty="0">
                <a:latin typeface="Times New Roman Regular" panose="02020603050405020304" charset="0"/>
                <a:cs typeface="Times New Roman Regular" panose="02020603050405020304" charset="0"/>
              </a:rPr>
              <a:t>Filter progression:</a:t>
            </a:r>
          </a:p>
          <a:p>
            <a:pPr lvl="1"/>
            <a:r>
              <a:rPr lang="en-US" altLang="en-US" sz="1800" dirty="0">
                <a:latin typeface="Times New Roman Regular" panose="02020603050405020304" charset="0"/>
                <a:cs typeface="Times New Roman Regular" panose="02020603050405020304" charset="0"/>
              </a:rPr>
              <a:t>16 → 32 → 64 → 128</a:t>
            </a:r>
          </a:p>
        </p:txBody>
      </p:sp>
      <p:sp>
        <p:nvSpPr>
          <p:cNvPr id="4" name="Content Placeholder 3"/>
          <p:cNvSpPr>
            <a:spLocks noGrp="1"/>
          </p:cNvSpPr>
          <p:nvPr>
            <p:ph sz="half" idx="2"/>
          </p:nvPr>
        </p:nvSpPr>
        <p:spPr>
          <a:xfrm>
            <a:off x="5636260" y="1698625"/>
            <a:ext cx="6555740" cy="4916805"/>
          </a:xfrm>
        </p:spPr>
        <p:txBody>
          <a:bodyPr>
            <a:noAutofit/>
          </a:bodyPr>
          <a:lstStyle/>
          <a:p>
            <a:pPr marL="457200" lvl="1" indent="0">
              <a:buNone/>
            </a:pPr>
            <a:r>
              <a:rPr lang="en-US" altLang="en-US" sz="1800" b="1" dirty="0">
                <a:latin typeface="Times New Roman Bold" panose="02020603050405020304" charset="0"/>
                <a:cs typeface="Times New Roman Bold" panose="02020603050405020304" charset="0"/>
              </a:rPr>
              <a:t>3. Bottleneck Layer (Deep Feature Zone):</a:t>
            </a:r>
          </a:p>
          <a:p>
            <a:pPr marL="457200" lvl="1" indent="0">
              <a:buNone/>
            </a:pPr>
            <a:r>
              <a:rPr lang="en-US" altLang="en-US" sz="1800" dirty="0">
                <a:latin typeface="Times New Roman Regular" panose="02020603050405020304" charset="0"/>
                <a:cs typeface="Times New Roman Regular" panose="02020603050405020304" charset="0"/>
              </a:rPr>
              <a:t>256 filters</a:t>
            </a:r>
          </a:p>
          <a:p>
            <a:pPr marL="457200" lvl="1" indent="0">
              <a:buNone/>
            </a:pPr>
            <a:r>
              <a:rPr lang="en-US" altLang="en-US" sz="1800" dirty="0">
                <a:latin typeface="Times New Roman Regular" panose="02020603050405020304" charset="0"/>
                <a:cs typeface="Times New Roman Regular" panose="02020603050405020304" charset="0"/>
              </a:rPr>
              <a:t>Captures the most abstract features:</a:t>
            </a:r>
          </a:p>
          <a:p>
            <a:pPr marL="914400" lvl="2" indent="0">
              <a:buNone/>
            </a:pPr>
            <a:r>
              <a:rPr lang="en-US" altLang="en-US" sz="1800" dirty="0">
                <a:latin typeface="Times New Roman Regular" panose="02020603050405020304" charset="0"/>
                <a:cs typeface="Times New Roman Regular" panose="02020603050405020304" charset="0"/>
              </a:rPr>
              <a:t>Bare soil exposure</a:t>
            </a:r>
          </a:p>
          <a:p>
            <a:pPr marL="914400" lvl="2" indent="0">
              <a:buNone/>
            </a:pPr>
            <a:r>
              <a:rPr lang="en-US" altLang="en-US" sz="1800" dirty="0">
                <a:latin typeface="Times New Roman Regular" panose="02020603050405020304" charset="0"/>
                <a:cs typeface="Times New Roman Regular" panose="02020603050405020304" charset="0"/>
              </a:rPr>
              <a:t>Vegetation loss</a:t>
            </a:r>
          </a:p>
          <a:p>
            <a:pPr marL="914400" lvl="2" indent="0">
              <a:buNone/>
            </a:pPr>
            <a:r>
              <a:rPr lang="en-US" altLang="en-US" sz="1800" dirty="0">
                <a:latin typeface="Times New Roman Regular" panose="02020603050405020304" charset="0"/>
                <a:cs typeface="Times New Roman Regular" panose="02020603050405020304" charset="0"/>
              </a:rPr>
              <a:t>Slope failure patterns</a:t>
            </a:r>
          </a:p>
          <a:p>
            <a:pPr marL="914400" lvl="2" indent="0">
              <a:buNone/>
            </a:pPr>
            <a:r>
              <a:rPr lang="en-US" altLang="en-US" sz="1800" dirty="0">
                <a:latin typeface="Times New Roman Regular" panose="02020603050405020304" charset="0"/>
                <a:cs typeface="Times New Roman Regular" panose="02020603050405020304" charset="0"/>
              </a:rPr>
              <a:t>Debris texture indicators</a:t>
            </a:r>
          </a:p>
          <a:p>
            <a:pPr marL="457200" lvl="1" indent="0">
              <a:buNone/>
            </a:pPr>
            <a:endParaRPr lang="en-US" altLang="en-US" sz="1800" dirty="0">
              <a:latin typeface="Times New Roman Regular" panose="02020603050405020304" charset="0"/>
              <a:cs typeface="Times New Roman Regular" panose="02020603050405020304" charset="0"/>
            </a:endParaRPr>
          </a:p>
          <a:p>
            <a:pPr marL="457200" lvl="1" indent="0">
              <a:buNone/>
            </a:pPr>
            <a:endParaRPr lang="en-US" altLang="en-US" sz="1800" dirty="0">
              <a:latin typeface="Times New Roman Regular" panose="02020603050405020304" charset="0"/>
              <a:cs typeface="Times New Roman Regular" panose="02020603050405020304" charset="0"/>
            </a:endParaRPr>
          </a:p>
        </p:txBody>
      </p:sp>
      <p:sp>
        <p:nvSpPr>
          <p:cNvPr id="5" name="Slide Number Placeholder 4"/>
          <p:cNvSpPr>
            <a:spLocks noGrp="1"/>
          </p:cNvSpPr>
          <p:nvPr>
            <p:ph type="sldNum" sz="quarter" idx="12"/>
          </p:nvPr>
        </p:nvSpPr>
        <p:spPr/>
        <p:txBody>
          <a:bodyPr/>
          <a:lstStyle/>
          <a:p>
            <a:fld id="{AE58FF4D-9703-46B8-851C-DA8FCFE4D55D}" type="slidenum">
              <a:rPr lang="en-US" smtClean="0"/>
              <a:t>27</a:t>
            </a:fld>
            <a:endParaRPr lang="en-US"/>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44" y="38101"/>
            <a:ext cx="1369176" cy="37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smtClean="0">
                <a:solidFill>
                  <a:prstClr val="black"/>
                </a:solidFill>
                <a:latin typeface="Times New Roman" panose="02020603050405020304" pitchFamily="18" charset="0"/>
                <a:cs typeface="Times New Roman" panose="02020603050405020304" pitchFamily="18" charset="0"/>
              </a:rPr>
              <a:t>DESCRIPTION OF ATTENTION </a:t>
            </a:r>
            <a:r>
              <a:rPr lang="en-IN" sz="2800" b="1" dirty="0">
                <a:solidFill>
                  <a:prstClr val="black"/>
                </a:solidFill>
                <a:latin typeface="Times New Roman" panose="02020603050405020304" pitchFamily="18" charset="0"/>
                <a:cs typeface="Times New Roman" panose="02020603050405020304" pitchFamily="18" charset="0"/>
              </a:rPr>
              <a:t>U-N</a:t>
            </a:r>
            <a:r>
              <a:rPr lang="en-US" altLang="en-IN" sz="2800" b="1" dirty="0">
                <a:solidFill>
                  <a:prstClr val="black"/>
                </a:solidFill>
                <a:latin typeface="Times New Roman" panose="02020603050405020304" pitchFamily="18" charset="0"/>
                <a:cs typeface="Times New Roman" panose="02020603050405020304" pitchFamily="18" charset="0"/>
              </a:rPr>
              <a:t>ET</a:t>
            </a:r>
            <a:r>
              <a:rPr lang="en-IN" sz="2800" b="1" dirty="0">
                <a:solidFill>
                  <a:prstClr val="black"/>
                </a:solidFill>
                <a:latin typeface="Times New Roman" panose="02020603050405020304" pitchFamily="18" charset="0"/>
                <a:cs typeface="Times New Roman" panose="02020603050405020304" pitchFamily="18" charset="0"/>
              </a:rPr>
              <a:t> ARCHITECTURE FOR THE MODEL</a:t>
            </a:r>
            <a:endParaRPr lang="en-IN" dirty="0"/>
          </a:p>
        </p:txBody>
      </p:sp>
      <p:sp>
        <p:nvSpPr>
          <p:cNvPr id="3" name="Content Placeholder 2"/>
          <p:cNvSpPr>
            <a:spLocks noGrp="1"/>
          </p:cNvSpPr>
          <p:nvPr>
            <p:ph sz="half" idx="1"/>
          </p:nvPr>
        </p:nvSpPr>
        <p:spPr>
          <a:xfrm>
            <a:off x="81280" y="1666875"/>
            <a:ext cx="5554980" cy="5054600"/>
          </a:xfrm>
        </p:spPr>
        <p:txBody>
          <a:bodyPr>
            <a:normAutofit/>
          </a:bodyPr>
          <a:lstStyle/>
          <a:p>
            <a:pPr marL="457200" lvl="1" indent="0">
              <a:buNone/>
            </a:pPr>
            <a:r>
              <a:rPr lang="en-US" altLang="en-US" sz="1800" b="1" dirty="0">
                <a:latin typeface="Times New Roman Bold" panose="02020603050405020304" charset="0"/>
                <a:cs typeface="Times New Roman Bold" panose="02020603050405020304" charset="0"/>
                <a:sym typeface="+mn-ea"/>
              </a:rPr>
              <a:t>4. Decoder – Reconstruction:</a:t>
            </a:r>
            <a:endParaRPr lang="en-US" altLang="en-US" sz="1800" b="1" dirty="0">
              <a:latin typeface="Times New Roman Bold" panose="02020603050405020304" charset="0"/>
              <a:cs typeface="Times New Roman Bold" panose="02020603050405020304" charset="0"/>
            </a:endParaRPr>
          </a:p>
          <a:p>
            <a:pPr lvl="1">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Gradually restores image resolution.</a:t>
            </a:r>
            <a:endParaRPr lang="en-US" altLang="en-US" sz="1800" dirty="0">
              <a:latin typeface="Times New Roman Regular" panose="02020603050405020304" charset="0"/>
              <a:cs typeface="Times New Roman Regular" panose="02020603050405020304" charset="0"/>
            </a:endParaRPr>
          </a:p>
          <a:p>
            <a:pPr lvl="1">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Uses:</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Upsampling ×2</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Skip Connections to recover fine details</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Concatenation with encoder features</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3×3 Convolutions + ReLU</a:t>
            </a:r>
            <a:endParaRPr lang="en-US" altLang="en-US" sz="1800" dirty="0">
              <a:latin typeface="Times New Roman Regular" panose="02020603050405020304" charset="0"/>
              <a:cs typeface="Times New Roman Regular" panose="02020603050405020304" charset="0"/>
            </a:endParaRPr>
          </a:p>
          <a:p>
            <a:pPr lvl="1">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Filter progression:</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128 → 64 → 32 → 16</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Produces clean, sharp landslide boundaries.</a:t>
            </a:r>
            <a:endParaRPr lang="en-US" altLang="en-US" sz="1800" dirty="0">
              <a:latin typeface="Times New Roman Regular" panose="02020603050405020304" charset="0"/>
              <a:cs typeface="Times New Roman Regular" panose="02020603050405020304" charset="0"/>
            </a:endParaRPr>
          </a:p>
          <a:p>
            <a:pPr marL="0" indent="0">
              <a:buNone/>
            </a:pPr>
            <a:endParaRPr lang="en-US" altLang="en-US" sz="1800" dirty="0">
              <a:latin typeface="Times New Roman Regular" panose="02020603050405020304" charset="0"/>
              <a:cs typeface="Times New Roman Regular" panose="02020603050405020304" charset="0"/>
            </a:endParaRPr>
          </a:p>
        </p:txBody>
      </p:sp>
      <p:sp>
        <p:nvSpPr>
          <p:cNvPr id="4" name="Content Placeholder 3"/>
          <p:cNvSpPr>
            <a:spLocks noGrp="1"/>
          </p:cNvSpPr>
          <p:nvPr>
            <p:ph sz="half" idx="2"/>
          </p:nvPr>
        </p:nvSpPr>
        <p:spPr>
          <a:xfrm>
            <a:off x="5636260" y="1667510"/>
            <a:ext cx="6555740" cy="4947920"/>
          </a:xfrm>
        </p:spPr>
        <p:txBody>
          <a:bodyPr>
            <a:noAutofit/>
          </a:bodyPr>
          <a:lstStyle/>
          <a:p>
            <a:pPr marL="457200" lvl="1" indent="0">
              <a:buNone/>
            </a:pPr>
            <a:r>
              <a:rPr lang="en-US" altLang="en-US" sz="1800" b="1" dirty="0">
                <a:latin typeface="Times New Roman Bold" panose="02020603050405020304" charset="0"/>
                <a:cs typeface="Times New Roman Bold" panose="02020603050405020304" charset="0"/>
                <a:sym typeface="+mn-ea"/>
              </a:rPr>
              <a:t>5. Output Layer:</a:t>
            </a:r>
            <a:endParaRPr lang="en-US" altLang="en-US" sz="1800" b="1" dirty="0">
              <a:latin typeface="Times New Roman Bold" panose="02020603050405020304" charset="0"/>
              <a:cs typeface="Times New Roman Bold" panose="02020603050405020304" charset="0"/>
            </a:endParaRPr>
          </a:p>
          <a:p>
            <a:pPr lvl="1">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1×1 Convolution + Sigmoid</a:t>
            </a:r>
            <a:endParaRPr lang="en-US" altLang="en-US" sz="1800" dirty="0">
              <a:latin typeface="Times New Roman Regular" panose="02020603050405020304" charset="0"/>
              <a:cs typeface="Times New Roman Regular" panose="02020603050405020304" charset="0"/>
            </a:endParaRPr>
          </a:p>
          <a:p>
            <a:pPr lvl="1">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Generates a binary mask:</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1 = Landslide pixel</a:t>
            </a:r>
            <a:endParaRPr lang="en-US" altLang="en-US" sz="1800" dirty="0">
              <a:latin typeface="Times New Roman Regular" panose="02020603050405020304" charset="0"/>
              <a:cs typeface="Times New Roman Regular" panose="02020603050405020304" charset="0"/>
            </a:endParaRPr>
          </a:p>
          <a:p>
            <a:pPr lvl="2">
              <a:buFont typeface="Arial" panose="020B0704020202020204" pitchFamily="34" charset="0"/>
              <a:buChar char="•"/>
            </a:pPr>
            <a:r>
              <a:rPr lang="en-US" altLang="en-US" sz="1800" dirty="0">
                <a:latin typeface="Times New Roman Regular" panose="02020603050405020304" charset="0"/>
                <a:cs typeface="Times New Roman Regular" panose="02020603050405020304" charset="0"/>
                <a:sym typeface="+mn-ea"/>
              </a:rPr>
              <a:t>0 = Non-landslide pixel</a:t>
            </a:r>
            <a:endParaRPr lang="en-US" altLang="en-US" sz="1800" dirty="0">
              <a:latin typeface="Times New Roman Regular" panose="02020603050405020304" charset="0"/>
              <a:cs typeface="Times New Roman Regular" panose="02020603050405020304" charset="0"/>
            </a:endParaRPr>
          </a:p>
        </p:txBody>
      </p:sp>
      <p:sp>
        <p:nvSpPr>
          <p:cNvPr id="5" name="Slide Number Placeholder 4"/>
          <p:cNvSpPr>
            <a:spLocks noGrp="1"/>
          </p:cNvSpPr>
          <p:nvPr>
            <p:ph type="sldNum" sz="quarter" idx="12"/>
          </p:nvPr>
        </p:nvSpPr>
        <p:spPr/>
        <p:txBody>
          <a:bodyPr/>
          <a:lstStyle/>
          <a:p>
            <a:fld id="{AE58FF4D-9703-46B8-851C-DA8FCFE4D55D}" type="slidenum">
              <a:rPr lang="en-US" smtClean="0"/>
              <a:t>28</a:t>
            </a:fld>
            <a:endParaRPr lang="en-US"/>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744" y="38101"/>
            <a:ext cx="1369176" cy="37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2504"/>
            <a:ext cx="10972800" cy="727075"/>
          </a:xfrm>
        </p:spPr>
        <p:txBody>
          <a:bodyPr/>
          <a:lstStyle/>
          <a:p>
            <a:r>
              <a:rPr lang="en-US" sz="2800" b="1" dirty="0">
                <a:latin typeface="Times New Roman Bold" panose="02020603050405020304" charset="0"/>
                <a:cs typeface="Times New Roman Bold" panose="02020603050405020304" charset="0"/>
              </a:rPr>
              <a:t>RESULT &amp; OUTCOME</a:t>
            </a:r>
          </a:p>
        </p:txBody>
      </p:sp>
      <p:sp>
        <p:nvSpPr>
          <p:cNvPr id="3" name="Content Placeholder 2"/>
          <p:cNvSpPr>
            <a:spLocks noGrp="1"/>
          </p:cNvSpPr>
          <p:nvPr>
            <p:ph sz="half" idx="1"/>
          </p:nvPr>
        </p:nvSpPr>
        <p:spPr>
          <a:xfrm>
            <a:off x="502920" y="674370"/>
            <a:ext cx="11557000" cy="5868670"/>
          </a:xfrm>
        </p:spPr>
        <p:txBody>
          <a:bodyPr>
            <a:noAutofit/>
          </a:bodyPr>
          <a:lstStyle/>
          <a:p>
            <a:pPr marL="0" indent="0">
              <a:buNone/>
            </a:pPr>
            <a:endParaRPr lang="en-US" altLang="en-US" sz="16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E58FF4D-9703-46B8-851C-DA8FCFE4D55D}" type="slidenum">
              <a:rPr lang="en-US" smtClean="0"/>
              <a:t>29</a:t>
            </a:fld>
            <a:endParaRPr lang="en-US"/>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1978776" cy="5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7" descr="Screenshot 2025-12-05 at 7.51.02 PM"/>
          <p:cNvPicPr>
            <a:picLocks noChangeAspect="1"/>
          </p:cNvPicPr>
          <p:nvPr/>
        </p:nvPicPr>
        <p:blipFill rotWithShape="1">
          <a:blip r:embed="rId3"/>
          <a:srcRect b="5206"/>
          <a:stretch>
            <a:fillRect/>
          </a:stretch>
        </p:blipFill>
        <p:spPr>
          <a:xfrm>
            <a:off x="5100418" y="4969002"/>
            <a:ext cx="3759200" cy="1817878"/>
          </a:xfrm>
          <a:prstGeom prst="rect">
            <a:avLst/>
          </a:prstGeom>
        </p:spPr>
      </p:pic>
      <p:graphicFrame>
        <p:nvGraphicFramePr>
          <p:cNvPr id="6" name="Table 5"/>
          <p:cNvGraphicFramePr/>
          <p:nvPr/>
        </p:nvGraphicFramePr>
        <p:xfrm>
          <a:off x="583184" y="685800"/>
          <a:ext cx="11450320" cy="3513455"/>
        </p:xfrm>
        <a:graphic>
          <a:graphicData uri="http://schemas.openxmlformats.org/drawingml/2006/table">
            <a:tbl>
              <a:tblPr/>
              <a:tblGrid>
                <a:gridCol w="2829560"/>
                <a:gridCol w="8620760"/>
              </a:tblGrid>
              <a:tr h="234315">
                <a:tc>
                  <a:txBody>
                    <a:bodyPr/>
                    <a:lstStyle/>
                    <a:p>
                      <a:pPr algn="ctr">
                        <a:lnSpc>
                          <a:spcPct val="120000"/>
                        </a:lnSpc>
                        <a:spcBef>
                          <a:spcPct val="0"/>
                        </a:spcBef>
                        <a:spcAft>
                          <a:spcPct val="0"/>
                        </a:spcAft>
                      </a:pPr>
                      <a:r>
                        <a:rPr sz="1200" b="1" dirty="0">
                          <a:latin typeface="Times New Roman" panose="02020603050405020304" pitchFamily="18" charset="0"/>
                          <a:ea typeface="SimSun"/>
                          <a:cs typeface="Times New Roman" panose="02020603050405020304" pitchFamily="18" charset="0"/>
                        </a:rPr>
                        <a:t>Aspect Evaluated</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algn="ctr">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Observation / Discussion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8630">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Training Behavior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Training loss dropped steadily from 0.70 to 0.10, showing the model learned features effectively without instability.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8630">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Validation Behavior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a:latin typeface="Times New Roman" panose="02020603050405020304" pitchFamily="18" charset="0"/>
                          <a:ea typeface="SimSun"/>
                          <a:cs typeface="Times New Roman" panose="02020603050405020304" pitchFamily="18" charset="0"/>
                        </a:rPr>
                        <a:t>Validation loss reduced from ~0.67 to ~0.19 across epochs, indicating that the model generalized well and avoided overfitting.</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7995">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Precision Trend</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Precision improved from ~0.26 in early epochs to peaks of ~0.72, meaning fewer false positives as training progressed.</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8630">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Recall Trend</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Recall reached as high as ~0.80, showing that the model became effective at detecting most landslide pixels.</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8630">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F1-Score Performance</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The best F1-score achieved was </a:t>
                      </a:r>
                      <a:r>
                        <a:rPr sz="1200" b="1" dirty="0">
                          <a:latin typeface="Times New Roman" panose="02020603050405020304" pitchFamily="18" charset="0"/>
                          <a:ea typeface="SimSun"/>
                          <a:cs typeface="Times New Roman" panose="02020603050405020304" pitchFamily="18" charset="0"/>
                        </a:rPr>
                        <a:t>~0.685</a:t>
                      </a:r>
                      <a:r>
                        <a:rPr sz="1200" dirty="0">
                          <a:latin typeface="Times New Roman" panose="02020603050405020304" pitchFamily="18" charset="0"/>
                          <a:ea typeface="SimSun"/>
                          <a:cs typeface="Times New Roman" panose="02020603050405020304" pitchFamily="18" charset="0"/>
                        </a:rPr>
                        <a:t>, demonstrating a strong balance between precision and recall for this dataset.</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7995">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Model Quality</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Attention U-Net produced smoother boundaries and clearer segmentation compared to the vanilla U-Net version, especially in complex terrain.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468630">
                <a:tc>
                  <a:txBody>
                    <a:bodyPr/>
                    <a:lstStyle/>
                    <a:p>
                      <a:pPr algn="just">
                        <a:lnSpc>
                          <a:spcPct val="120000"/>
                        </a:lnSpc>
                        <a:spcBef>
                          <a:spcPct val="0"/>
                        </a:spcBef>
                        <a:spcAft>
                          <a:spcPct val="0"/>
                        </a:spcAft>
                      </a:pPr>
                      <a:r>
                        <a:rPr sz="1200" b="1">
                          <a:latin typeface="Times New Roman" panose="02020603050405020304" pitchFamily="18" charset="0"/>
                          <a:ea typeface="SimSun"/>
                          <a:cs typeface="Times New Roman" panose="02020603050405020304" pitchFamily="18" charset="0"/>
                        </a:rPr>
                        <a:t>Visual Evaluation</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just">
                        <a:lnSpc>
                          <a:spcPct val="120000"/>
                        </a:lnSpc>
                        <a:spcBef>
                          <a:spcPct val="0"/>
                        </a:spcBef>
                        <a:spcAft>
                          <a:spcPct val="0"/>
                        </a:spcAft>
                      </a:pPr>
                      <a:r>
                        <a:rPr sz="1200" dirty="0">
                          <a:latin typeface="Times New Roman" panose="02020603050405020304" pitchFamily="18" charset="0"/>
                          <a:ea typeface="SimSun"/>
                          <a:cs typeface="Times New Roman" panose="02020603050405020304" pitchFamily="18" charset="0"/>
                        </a:rPr>
                        <a:t>Overlay results showed that the model accurately highlighted landslide regions, especially where soil exposure or slope patterns were clear.</a:t>
                      </a:r>
                    </a:p>
                  </a:txBody>
                  <a:tcPr marL="68580" marR="68580" marT="0" marB="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4" name="TextBox 3"/>
          <p:cNvSpPr txBox="1"/>
          <p:nvPr/>
        </p:nvSpPr>
        <p:spPr>
          <a:xfrm>
            <a:off x="1012132" y="4340135"/>
            <a:ext cx="11021372"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Table no. 1.1</a:t>
            </a:r>
            <a:r>
              <a:rPr lang="en-US" dirty="0">
                <a:latin typeface="Times New Roman" panose="02020603050405020304" pitchFamily="18" charset="0"/>
                <a:cs typeface="Times New Roman" panose="02020603050405020304" pitchFamily="18" charset="0"/>
              </a:rPr>
              <a:t> : This table summarizes the model’s training and validation behavior, precision–recall trends, F1-score performance, and visual quality, showing how the Attention U-Net improved accuracy, reduced losses, and produced clearer landslide segmentation results.</a:t>
            </a:r>
            <a:endParaRPr lang="en-IN" dirty="0">
              <a:latin typeface="Times New Roman" panose="02020603050405020304" pitchFamily="18" charset="0"/>
              <a:cs typeface="Times New Roman" panose="02020603050405020304" pitchFamily="18" charset="0"/>
            </a:endParaRPr>
          </a:p>
          <a:p>
            <a:r>
              <a:rPr lang="en-US" b="1" dirty="0"/>
              <a:t> </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655320"/>
          </a:xfrm>
        </p:spPr>
        <p:txBody>
          <a:bodyPr>
            <a:normAutofit/>
          </a:bodyPr>
          <a:lstStyle/>
          <a:p>
            <a:r>
              <a:rPr lang="en-US" sz="2800" b="1">
                <a:latin typeface="Times New Roman Bold" panose="02020603050405020304" charset="0"/>
                <a:cs typeface="Times New Roman Bold" panose="02020603050405020304" charset="0"/>
              </a:rPr>
              <a:t>GRAPHICAL REPRESENTATION</a:t>
            </a:r>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
        <p:nvSpPr>
          <p:cNvPr id="5" name="Slide Number Placeholder 4"/>
          <p:cNvSpPr>
            <a:spLocks noGrp="1"/>
          </p:cNvSpPr>
          <p:nvPr>
            <p:ph type="sldNum" sz="quarter" idx="12"/>
          </p:nvPr>
        </p:nvSpPr>
        <p:spPr/>
        <p:txBody>
          <a:bodyPr/>
          <a:lstStyle/>
          <a:p>
            <a:fld id="{AE58FF4D-9703-46B8-851C-DA8FCFE4D55D}" type="slidenum">
              <a:rPr lang="en-US" smtClean="0"/>
              <a:t>30</a:t>
            </a:fld>
            <a:endParaRPr lang="en-US"/>
          </a:p>
        </p:txBody>
      </p:sp>
      <p:pic>
        <p:nvPicPr>
          <p:cNvPr id="6" name="Content Placeholder 5" descr="Screenshot 2025-11-26 at 12.49.41 AM"/>
          <p:cNvPicPr>
            <a:picLocks noGrp="1"/>
          </p:cNvPicPr>
          <p:nvPr/>
        </p:nvPicPr>
        <p:blipFill>
          <a:blip r:embed="rId2" cstate="print">
            <a:extLst>
              <a:ext uri="{28A0092B-C50C-407E-A947-70E740481C1C}">
                <a14:useLocalDpi xmlns:a14="http://schemas.microsoft.com/office/drawing/2010/main" val="0"/>
              </a:ext>
            </a:extLst>
          </a:blip>
          <a:stretch>
            <a:fillRect/>
          </a:stretch>
        </p:blipFill>
        <p:spPr>
          <a:xfrm>
            <a:off x="246380" y="793750"/>
            <a:ext cx="5203444" cy="3961130"/>
          </a:xfrm>
          <a:prstGeom prst="rect">
            <a:avLst/>
          </a:prstGeom>
        </p:spPr>
      </p:pic>
      <p:pic>
        <p:nvPicPr>
          <p:cNvPr id="9" name="Picture 8" descr="Screenshot 2025-11-26 at 12.50.02 AM"/>
          <p:cNvPicPr/>
          <p:nvPr/>
        </p:nvPicPr>
        <p:blipFill>
          <a:blip r:embed="rId3" cstate="print">
            <a:extLst>
              <a:ext uri="{28A0092B-C50C-407E-A947-70E740481C1C}">
                <a14:useLocalDpi xmlns:a14="http://schemas.microsoft.com/office/drawing/2010/main" val="0"/>
              </a:ext>
            </a:extLst>
          </a:blip>
          <a:srcRect l="1" r="1683"/>
          <a:stretch>
            <a:fillRect/>
          </a:stretch>
        </p:blipFill>
        <p:spPr>
          <a:xfrm>
            <a:off x="5959475" y="929641"/>
            <a:ext cx="5452237" cy="3825240"/>
          </a:xfrm>
          <a:prstGeom prst="rect">
            <a:avLst/>
          </a:prstGeom>
          <a:ln>
            <a:noFill/>
          </a:ln>
        </p:spPr>
      </p:pic>
      <p:sp>
        <p:nvSpPr>
          <p:cNvPr id="7" name="Text Box 6"/>
          <p:cNvSpPr txBox="1"/>
          <p:nvPr/>
        </p:nvSpPr>
        <p:spPr>
          <a:xfrm>
            <a:off x="246381" y="4754880"/>
            <a:ext cx="5496052" cy="2308324"/>
          </a:xfrm>
          <a:prstGeom prst="rect">
            <a:avLst/>
          </a:prstGeom>
          <a:noFill/>
        </p:spPr>
        <p:txBody>
          <a:bodyPr wrap="square" rtlCol="0" anchor="t">
            <a:spAutoFit/>
          </a:bodyPr>
          <a:lstStyle/>
          <a:p>
            <a:pPr algn="just"/>
            <a:r>
              <a:rPr lang="en-IN" sz="1600" dirty="0" smtClean="0">
                <a:effectLst/>
                <a:latin typeface="Times New Roman" panose="02020603050405020304" pitchFamily="18" charset="0"/>
                <a:ea typeface="Times New Roman" panose="02020603050405020304"/>
                <a:cs typeface="Times New Roman" panose="02020603050405020304" pitchFamily="18" charset="0"/>
                <a:sym typeface="+mn-ea"/>
              </a:rPr>
              <a:t> </a:t>
            </a:r>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Fig:</a:t>
            </a:r>
            <a:r>
              <a:rPr lang="en-US" sz="1600" dirty="0" smtClean="0">
                <a:effectLst/>
                <a:latin typeface="Times New Roman" panose="02020603050405020304" pitchFamily="18" charset="0"/>
                <a:ea typeface="Times New Roman" panose="02020603050405020304"/>
                <a:cs typeface="Times New Roman" panose="02020603050405020304" pitchFamily="18" charset="0"/>
                <a:sym typeface="+mn-ea"/>
              </a:rPr>
              <a:t>5 </a:t>
            </a:r>
            <a:r>
              <a:rPr lang="en-IN" sz="1600" dirty="0">
                <a:latin typeface="Times New Roman" panose="02020603050405020304" pitchFamily="18" charset="0"/>
                <a:cs typeface="Times New Roman" panose="02020603050405020304" pitchFamily="18" charset="0"/>
              </a:rPr>
              <a:t>Graphical representation of the </a:t>
            </a:r>
            <a:r>
              <a:rPr lang="en-US" sz="1600" b="1" dirty="0">
                <a:latin typeface="Times New Roman" panose="02020603050405020304" pitchFamily="18" charset="0"/>
                <a:cs typeface="Times New Roman" panose="02020603050405020304" pitchFamily="18" charset="0"/>
              </a:rPr>
              <a:t>Precision Curve:</a:t>
            </a:r>
            <a:r>
              <a:rPr lang="en-US" sz="1600" dirty="0">
                <a:latin typeface="Times New Roman" panose="02020603050405020304" pitchFamily="18" charset="0"/>
                <a:cs typeface="Times New Roman" panose="02020603050405020304" pitchFamily="18" charset="0"/>
              </a:rPr>
              <a:t> The precision steadily rises from about 0.28–0.35 in early epochs to roughly 0.70–0.73 by the end, with some mid-training oscillations; this shows the model progressively makes fewer false-positive pixel predictions as training proceeds, indicating improved confidence in predicted landslide pixels while still experiencing short-term variability during learning.</a:t>
            </a:r>
            <a:r>
              <a:rPr lang="en-IN" sz="1600" dirty="0">
                <a:latin typeface="Times New Roman" panose="02020603050405020304" pitchFamily="18" charset="0"/>
                <a:cs typeface="Times New Roman" panose="02020603050405020304" pitchFamily="18" charset="0"/>
              </a:rPr>
              <a:t> </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a:spcAft>
                <a:spcPts val="0"/>
              </a:spcAft>
            </a:pPr>
            <a:endParaRPr lang="en-IN" sz="1600" dirty="0">
              <a:effectLst/>
              <a:latin typeface="Times New Roman" panose="02020603050405020304"/>
              <a:ea typeface="Times New Roman" panose="02020603050405020304"/>
              <a:sym typeface="+mn-ea"/>
            </a:endParaRPr>
          </a:p>
        </p:txBody>
      </p:sp>
      <p:sp>
        <p:nvSpPr>
          <p:cNvPr id="8" name="Text Box 7"/>
          <p:cNvSpPr txBox="1"/>
          <p:nvPr/>
        </p:nvSpPr>
        <p:spPr>
          <a:xfrm>
            <a:off x="6496050" y="4754880"/>
            <a:ext cx="5464302" cy="1815882"/>
          </a:xfrm>
          <a:prstGeom prst="rect">
            <a:avLst/>
          </a:prstGeom>
          <a:noFill/>
        </p:spPr>
        <p:txBody>
          <a:bodyPr wrap="square" rtlCol="0" anchor="t">
            <a:spAutoFit/>
          </a:bodyPr>
          <a:lstStyle/>
          <a:p>
            <a:pPr algn="just"/>
            <a:r>
              <a:rPr lang="en-IN" sz="1600" dirty="0">
                <a:latin typeface="Times New Roman" panose="02020603050405020304" pitchFamily="18" charset="0"/>
                <a:cs typeface="Times New Roman" panose="02020603050405020304" pitchFamily="18" charset="0"/>
                <a:sym typeface="+mn-ea"/>
              </a:rPr>
              <a:t>Fig: </a:t>
            </a:r>
            <a:r>
              <a:rPr lang="en-US" sz="1600" dirty="0">
                <a:latin typeface="Times New Roman" panose="02020603050405020304" pitchFamily="18" charset="0"/>
                <a:cs typeface="Times New Roman" panose="02020603050405020304" pitchFamily="18" charset="0"/>
                <a:sym typeface="+mn-ea"/>
              </a:rPr>
              <a:t>5</a:t>
            </a:r>
            <a:r>
              <a:rPr lang="en-IN" sz="1600" dirty="0" smtClean="0">
                <a:latin typeface="Times New Roman" panose="02020603050405020304" pitchFamily="18" charset="0"/>
                <a:cs typeface="Times New Roman" panose="02020603050405020304" pitchFamily="18" charset="0"/>
                <a:sym typeface="+mn-ea"/>
              </a:rPr>
              <a:t>.2</a:t>
            </a:r>
            <a:r>
              <a:rPr lang="en-IN" sz="1600" b="1" dirty="0">
                <a:latin typeface="Times New Roman" panose="02020603050405020304" pitchFamily="18" charset="0"/>
                <a:cs typeface="Times New Roman" panose="02020603050405020304" pitchFamily="18" charset="0"/>
              </a:rPr>
              <a:t>2 </a:t>
            </a:r>
            <a:r>
              <a:rPr lang="en-IN" sz="1600" dirty="0">
                <a:latin typeface="Times New Roman" panose="02020603050405020304" pitchFamily="18" charset="0"/>
                <a:cs typeface="Times New Roman" panose="02020603050405020304" pitchFamily="18" charset="0"/>
              </a:rPr>
              <a:t>  Graphical representation of the F1 Score Curve </a:t>
            </a:r>
            <a:r>
              <a:rPr lang="en-US" sz="1600" b="1" dirty="0">
                <a:latin typeface="Times New Roman" panose="02020603050405020304" pitchFamily="18" charset="0"/>
                <a:cs typeface="Times New Roman" panose="02020603050405020304" pitchFamily="18" charset="0"/>
              </a:rPr>
              <a:t>F1 Score Curve:</a:t>
            </a:r>
            <a:r>
              <a:rPr lang="en-US" sz="1600" dirty="0">
                <a:latin typeface="Times New Roman" panose="02020603050405020304" pitchFamily="18" charset="0"/>
                <a:cs typeface="Times New Roman" panose="02020603050405020304" pitchFamily="18" charset="0"/>
              </a:rPr>
              <a:t> The F1 score climbs from ≈0.30 to ≈0.66–0.68 across epochs, following a generally smooth upward trend; this improvement reflects a balanced gain in both precision and recall over training, with the curve’s later plateau suggesting the model is approaching its best trade-off between false positives and false negatives</a:t>
            </a:r>
            <a:endParaRPr lang="en-IN" sz="1600" dirty="0">
              <a:latin typeface="Times New Roman" panose="02020603050405020304" pitchFamily="18" charset="0"/>
              <a:cs typeface="Times New Roman" panose="02020603050405020304" pitchFamily="18" charset="0"/>
            </a:endParaRPr>
          </a:p>
        </p:txBody>
      </p:sp>
      <p:pic>
        <p:nvPicPr>
          <p:cNvPr id="1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4" y="38100"/>
            <a:ext cx="1978776" cy="5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 name="Content Placeholder 14" descr="Screenshot 2025-11-26 at 12.49.16 AM"/>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98806" y="133155"/>
            <a:ext cx="5621909" cy="4441167"/>
          </a:xfrm>
          <a:prstGeom prst="rect">
            <a:avLst/>
          </a:prstGeom>
        </p:spPr>
      </p:pic>
      <p:sp>
        <p:nvSpPr>
          <p:cNvPr id="4" name="Content Placeholder 3"/>
          <p:cNvSpPr>
            <a:spLocks noGrp="1"/>
          </p:cNvSpPr>
          <p:nvPr>
            <p:ph sz="half" idx="2"/>
          </p:nvPr>
        </p:nvSpPr>
        <p:spPr/>
        <p:txBody>
          <a:bodyPr/>
          <a:lstStyle/>
          <a:p>
            <a:endParaRPr lang="en-US"/>
          </a:p>
        </p:txBody>
      </p:sp>
      <p:sp>
        <p:nvSpPr>
          <p:cNvPr id="5" name="Slide Number Placeholder 4"/>
          <p:cNvSpPr>
            <a:spLocks noGrp="1"/>
          </p:cNvSpPr>
          <p:nvPr>
            <p:ph type="sldNum" sz="quarter" idx="12"/>
          </p:nvPr>
        </p:nvSpPr>
        <p:spPr/>
        <p:txBody>
          <a:bodyPr/>
          <a:lstStyle/>
          <a:p>
            <a:fld id="{AE58FF4D-9703-46B8-851C-DA8FCFE4D55D}" type="slidenum">
              <a:rPr lang="en-US" smtClean="0"/>
              <a:t>31</a:t>
            </a:fld>
            <a:endParaRPr lang="en-US"/>
          </a:p>
        </p:txBody>
      </p:sp>
      <p:pic>
        <p:nvPicPr>
          <p:cNvPr id="11" name="Picture 10" descr="Screenshot 2025-11-26 at 12.49.51 AM"/>
          <p:cNvPicPr/>
          <p:nvPr/>
        </p:nvPicPr>
        <p:blipFill>
          <a:blip r:embed="rId3" cstate="print">
            <a:extLst>
              <a:ext uri="{28A0092B-C50C-407E-A947-70E740481C1C}">
                <a14:useLocalDpi xmlns:a14="http://schemas.microsoft.com/office/drawing/2010/main" val="0"/>
              </a:ext>
            </a:extLst>
          </a:blip>
          <a:stretch>
            <a:fillRect/>
          </a:stretch>
        </p:blipFill>
        <p:spPr>
          <a:xfrm>
            <a:off x="5720715" y="166482"/>
            <a:ext cx="6289675" cy="4374515"/>
          </a:xfrm>
          <a:prstGeom prst="rect">
            <a:avLst/>
          </a:prstGeom>
        </p:spPr>
      </p:pic>
      <p:sp>
        <p:nvSpPr>
          <p:cNvPr id="6" name="Text Box 5"/>
          <p:cNvSpPr txBox="1"/>
          <p:nvPr/>
        </p:nvSpPr>
        <p:spPr>
          <a:xfrm>
            <a:off x="295275" y="4623831"/>
            <a:ext cx="5425440" cy="2308324"/>
          </a:xfrm>
          <a:prstGeom prst="rect">
            <a:avLst/>
          </a:prstGeom>
          <a:noFill/>
        </p:spPr>
        <p:txBody>
          <a:bodyPr wrap="square" rtlCol="0" anchor="t">
            <a:spAutoFit/>
          </a:bodyPr>
          <a:lstStyle/>
          <a:p>
            <a:pPr algn="just"/>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Fig: </a:t>
            </a:r>
            <a:r>
              <a:rPr lang="en-US" sz="1600" dirty="0">
                <a:effectLst/>
                <a:latin typeface="Times New Roman" panose="02020603050405020304" pitchFamily="18" charset="0"/>
                <a:ea typeface="Times New Roman" panose="02020603050405020304"/>
                <a:cs typeface="Times New Roman" panose="02020603050405020304" pitchFamily="18" charset="0"/>
                <a:sym typeface="+mn-ea"/>
              </a:rPr>
              <a:t>5</a:t>
            </a:r>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a:t>
            </a:r>
            <a:r>
              <a:rPr lang="en-US" sz="1600" dirty="0" smtClean="0">
                <a:effectLst/>
                <a:latin typeface="Times New Roman" panose="02020603050405020304" pitchFamily="18" charset="0"/>
                <a:ea typeface="Times New Roman" panose="02020603050405020304"/>
                <a:cs typeface="Times New Roman" panose="02020603050405020304" pitchFamily="18" charset="0"/>
                <a:sym typeface="+mn-ea"/>
              </a:rPr>
              <a:t>5  </a:t>
            </a:r>
            <a:r>
              <a:rPr lang="en-IN" sz="1600" dirty="0" smtClean="0">
                <a:latin typeface="Times New Roman" panose="02020603050405020304" pitchFamily="18" charset="0"/>
                <a:cs typeface="Times New Roman" panose="02020603050405020304" pitchFamily="18" charset="0"/>
              </a:rPr>
              <a:t>Graphical </a:t>
            </a:r>
            <a:r>
              <a:rPr lang="en-IN" sz="1600" dirty="0">
                <a:latin typeface="Times New Roman" panose="02020603050405020304" pitchFamily="18" charset="0"/>
                <a:cs typeface="Times New Roman" panose="02020603050405020304" pitchFamily="18" charset="0"/>
              </a:rPr>
              <a:t>representation of the  Train Loss  Curve: </a:t>
            </a:r>
            <a:br>
              <a:rPr lang="en-IN"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Train Loss Curve:</a:t>
            </a:r>
            <a:r>
              <a:rPr lang="en-US" sz="1600" dirty="0">
                <a:latin typeface="Times New Roman" panose="02020603050405020304" pitchFamily="18" charset="0"/>
                <a:cs typeface="Times New Roman" panose="02020603050405020304" pitchFamily="18" charset="0"/>
              </a:rPr>
              <a:t> Training loss decreases smoothly and monotonically from about 0.7 down to ~0.10 by the final epochs, showing consistent learning and weight updates; the gap between train and validation loss is small in later epochs, which supports that training is stable and the model is not severely </a:t>
            </a:r>
            <a:r>
              <a:rPr lang="en-US" sz="1600" dirty="0" err="1">
                <a:latin typeface="Times New Roman" panose="02020603050405020304" pitchFamily="18" charset="0"/>
                <a:cs typeface="Times New Roman" panose="02020603050405020304" pitchFamily="18" charset="0"/>
              </a:rPr>
              <a:t>overfitting</a:t>
            </a: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spcAft>
                <a:spcPts val="0"/>
              </a:spcAft>
            </a:pPr>
            <a:endParaRPr lang="en-IN" sz="1600" dirty="0">
              <a:effectLst/>
              <a:latin typeface="Times New Roman" panose="02020603050405020304"/>
              <a:ea typeface="Times New Roman" panose="02020603050405020304"/>
            </a:endParaRPr>
          </a:p>
          <a:p>
            <a:pPr>
              <a:spcAft>
                <a:spcPts val="0"/>
              </a:spcAft>
            </a:pPr>
            <a:r>
              <a:rPr lang="en-IN" sz="1600" dirty="0">
                <a:effectLst/>
                <a:latin typeface="Times New Roman" panose="02020603050405020304"/>
                <a:ea typeface="Times New Roman" panose="02020603050405020304"/>
                <a:sym typeface="+mn-ea"/>
              </a:rPr>
              <a:t> </a:t>
            </a:r>
          </a:p>
        </p:txBody>
      </p:sp>
      <p:sp>
        <p:nvSpPr>
          <p:cNvPr id="7" name="Text Box 6"/>
          <p:cNvSpPr txBox="1"/>
          <p:nvPr/>
        </p:nvSpPr>
        <p:spPr>
          <a:xfrm>
            <a:off x="6475222" y="4540997"/>
            <a:ext cx="5535168" cy="2308324"/>
          </a:xfrm>
          <a:prstGeom prst="rect">
            <a:avLst/>
          </a:prstGeom>
          <a:noFill/>
        </p:spPr>
        <p:txBody>
          <a:bodyPr wrap="square" rtlCol="0" anchor="t">
            <a:spAutoFit/>
          </a:bodyPr>
          <a:lstStyle/>
          <a:p>
            <a:pPr algn="just"/>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Fig: </a:t>
            </a:r>
            <a:r>
              <a:rPr lang="en-US" sz="1600" dirty="0">
                <a:effectLst/>
                <a:latin typeface="Times New Roman" panose="02020603050405020304" pitchFamily="18" charset="0"/>
                <a:ea typeface="Times New Roman" panose="02020603050405020304"/>
                <a:cs typeface="Times New Roman" panose="02020603050405020304" pitchFamily="18" charset="0"/>
                <a:sym typeface="+mn-ea"/>
              </a:rPr>
              <a:t>5</a:t>
            </a:r>
            <a:r>
              <a:rPr lang="en-IN" sz="1600" dirty="0" smtClean="0">
                <a:effectLst/>
                <a:latin typeface="Times New Roman" panose="02020603050405020304" pitchFamily="18" charset="0"/>
                <a:ea typeface="Times New Roman" panose="02020603050405020304"/>
                <a:cs typeface="Times New Roman" panose="02020603050405020304" pitchFamily="18" charset="0"/>
                <a:sym typeface="+mn-ea"/>
              </a:rPr>
              <a:t>.3 </a:t>
            </a:r>
            <a:r>
              <a:rPr lang="en-IN" sz="1600" dirty="0">
                <a:latin typeface="Times New Roman" panose="02020603050405020304" pitchFamily="18" charset="0"/>
                <a:cs typeface="Times New Roman" panose="02020603050405020304" pitchFamily="18" charset="0"/>
              </a:rPr>
              <a:t>Graphical representation of the </a:t>
            </a:r>
            <a:r>
              <a:rPr lang="en-US" sz="1600" dirty="0">
                <a:latin typeface="Times New Roman" panose="02020603050405020304" pitchFamily="18" charset="0"/>
                <a:cs typeface="Times New Roman" panose="02020603050405020304" pitchFamily="18" charset="0"/>
              </a:rPr>
              <a:t>Recall</a:t>
            </a:r>
            <a:r>
              <a:rPr lang="en-IN" sz="1600" dirty="0">
                <a:latin typeface="Times New Roman" panose="02020603050405020304" pitchFamily="18" charset="0"/>
                <a:cs typeface="Times New Roman" panose="02020603050405020304" pitchFamily="18" charset="0"/>
              </a:rPr>
              <a:t> Curve </a:t>
            </a:r>
            <a:r>
              <a:rPr lang="en-US" sz="1600" b="1" dirty="0">
                <a:latin typeface="Times New Roman" panose="02020603050405020304" pitchFamily="18" charset="0"/>
                <a:cs typeface="Times New Roman" panose="02020603050405020304" pitchFamily="18" charset="0"/>
              </a:rPr>
              <a:t>Recall Curve:</a:t>
            </a:r>
            <a:r>
              <a:rPr lang="en-US" sz="1600" dirty="0">
                <a:latin typeface="Times New Roman" panose="02020603050405020304" pitchFamily="18" charset="0"/>
                <a:cs typeface="Times New Roman" panose="02020603050405020304" pitchFamily="18" charset="0"/>
              </a:rPr>
              <a:t> Recall rises quickly in early epochs then fluctuates between about 0.55 and 0.72 throughout training, showing the model often succeeds in finding true landslide pixels but remains somewhat unstable in consistently capturing all positive pixels—this variability means the model sometimes trades off detection sensitivity for fewer false positives.</a:t>
            </a:r>
            <a:endParaRPr lang="en-IN" sz="1600" dirty="0">
              <a:latin typeface="Times New Roman" panose="02020603050405020304" pitchFamily="18" charset="0"/>
              <a:cs typeface="Times New Roman" panose="02020603050405020304" pitchFamily="18" charset="0"/>
            </a:endParaRPr>
          </a:p>
          <a:p>
            <a:pPr>
              <a:spcAft>
                <a:spcPts val="0"/>
              </a:spcAft>
            </a:pPr>
            <a:endParaRPr lang="en-IN" sz="1600" dirty="0">
              <a:effectLst/>
              <a:latin typeface="Times New Roman" panose="02020603050405020304"/>
              <a:ea typeface="Times New Roman" panose="02020603050405020304"/>
            </a:endParaRPr>
          </a:p>
          <a:p>
            <a:pPr>
              <a:spcAft>
                <a:spcPts val="0"/>
              </a:spcAft>
            </a:pPr>
            <a:r>
              <a:rPr lang="en-IN" sz="1600" dirty="0">
                <a:effectLst/>
                <a:latin typeface="Times New Roman" panose="02020603050405020304"/>
                <a:ea typeface="Times New Roman" panose="02020603050405020304"/>
                <a:sym typeface="+mn-ea"/>
              </a:rPr>
              <a:t>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dirty="0"/>
          </a:p>
        </p:txBody>
      </p:sp>
      <p:sp>
        <p:nvSpPr>
          <p:cNvPr id="4" name="Content Placeholder 3"/>
          <p:cNvSpPr>
            <a:spLocks noGrp="1"/>
          </p:cNvSpPr>
          <p:nvPr>
            <p:ph sz="half" idx="2"/>
          </p:nvPr>
        </p:nvSpPr>
        <p:spPr/>
        <p:txBody>
          <a:bodyPr/>
          <a:lstStyle/>
          <a:p>
            <a:endParaRPr lang="en-US" dirty="0"/>
          </a:p>
        </p:txBody>
      </p:sp>
      <p:sp>
        <p:nvSpPr>
          <p:cNvPr id="5" name="Slide Number Placeholder 4"/>
          <p:cNvSpPr>
            <a:spLocks noGrp="1"/>
          </p:cNvSpPr>
          <p:nvPr>
            <p:ph type="sldNum" sz="quarter" idx="12"/>
          </p:nvPr>
        </p:nvSpPr>
        <p:spPr/>
        <p:txBody>
          <a:bodyPr/>
          <a:lstStyle/>
          <a:p>
            <a:fld id="{AE58FF4D-9703-46B8-851C-DA8FCFE4D55D}" type="slidenum">
              <a:rPr lang="en-US" smtClean="0"/>
              <a:t>32</a:t>
            </a:fld>
            <a:endParaRPr lang="en-US"/>
          </a:p>
        </p:txBody>
      </p:sp>
      <p:pic>
        <p:nvPicPr>
          <p:cNvPr id="13" name="Picture 12" descr="Screenshot 2025-11-26 at 12.49.26 AM"/>
          <p:cNvPicPr/>
          <p:nvPr/>
        </p:nvPicPr>
        <p:blipFill>
          <a:blip r:embed="rId2" cstate="print">
            <a:extLst>
              <a:ext uri="{28A0092B-C50C-407E-A947-70E740481C1C}">
                <a14:useLocalDpi xmlns:a14="http://schemas.microsoft.com/office/drawing/2010/main" val="0"/>
              </a:ext>
            </a:extLst>
          </a:blip>
          <a:srcRect r="1751"/>
          <a:stretch>
            <a:fillRect/>
          </a:stretch>
        </p:blipFill>
        <p:spPr>
          <a:xfrm>
            <a:off x="132077" y="265104"/>
            <a:ext cx="5413375" cy="4526915"/>
          </a:xfrm>
          <a:prstGeom prst="rect">
            <a:avLst/>
          </a:prstGeom>
          <a:ln>
            <a:noFill/>
          </a:ln>
        </p:spPr>
      </p:pic>
      <p:pic>
        <p:nvPicPr>
          <p:cNvPr id="17" name="Picture 16" descr="Screenshot 2025-11-26 at 12.50.18 AM"/>
          <p:cNvPicPr/>
          <p:nvPr/>
        </p:nvPicPr>
        <p:blipFill>
          <a:blip r:embed="rId3" cstate="print">
            <a:extLst>
              <a:ext uri="{28A0092B-C50C-407E-A947-70E740481C1C}">
                <a14:useLocalDpi xmlns:a14="http://schemas.microsoft.com/office/drawing/2010/main" val="0"/>
              </a:ext>
            </a:extLst>
          </a:blip>
          <a:srcRect t="2370" r="6910"/>
          <a:stretch>
            <a:fillRect/>
          </a:stretch>
        </p:blipFill>
        <p:spPr>
          <a:xfrm>
            <a:off x="6012688" y="481963"/>
            <a:ext cx="5757290" cy="4132707"/>
          </a:xfrm>
          <a:prstGeom prst="rect">
            <a:avLst/>
          </a:prstGeom>
          <a:ln>
            <a:noFill/>
          </a:ln>
        </p:spPr>
      </p:pic>
      <p:sp>
        <p:nvSpPr>
          <p:cNvPr id="6" name="Text Box 5"/>
          <p:cNvSpPr txBox="1"/>
          <p:nvPr/>
        </p:nvSpPr>
        <p:spPr>
          <a:xfrm>
            <a:off x="396238" y="4692263"/>
            <a:ext cx="5149215" cy="2554545"/>
          </a:xfrm>
          <a:prstGeom prst="rect">
            <a:avLst/>
          </a:prstGeom>
          <a:noFill/>
        </p:spPr>
        <p:txBody>
          <a:bodyPr wrap="square" rtlCol="0" anchor="t">
            <a:spAutoFit/>
          </a:bodyPr>
          <a:lstStyle/>
          <a:p>
            <a:pPr algn="just"/>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Fig: </a:t>
            </a:r>
            <a:r>
              <a:rPr lang="en-US" sz="1600" dirty="0">
                <a:effectLst/>
                <a:latin typeface="Times New Roman" panose="02020603050405020304" pitchFamily="18" charset="0"/>
                <a:ea typeface="Times New Roman" panose="02020603050405020304"/>
                <a:cs typeface="Times New Roman" panose="02020603050405020304" pitchFamily="18" charset="0"/>
                <a:sym typeface="+mn-ea"/>
              </a:rPr>
              <a:t>5</a:t>
            </a:r>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.4   </a:t>
            </a:r>
            <a:r>
              <a:rPr lang="en-IN" sz="1600" dirty="0" smtClean="0">
                <a:effectLst/>
                <a:latin typeface="Times New Roman" panose="02020603050405020304" pitchFamily="18" charset="0"/>
                <a:ea typeface="Times New Roman" panose="02020603050405020304"/>
                <a:cs typeface="Times New Roman" panose="02020603050405020304" pitchFamily="18" charset="0"/>
                <a:sym typeface="+mn-ea"/>
              </a:rPr>
              <a:t> </a:t>
            </a:r>
            <a:r>
              <a:rPr lang="en-IN" sz="1600" dirty="0">
                <a:latin typeface="Times New Roman" panose="02020603050405020304" pitchFamily="18" charset="0"/>
                <a:cs typeface="Times New Roman" panose="02020603050405020304" pitchFamily="18" charset="0"/>
              </a:rPr>
              <a:t>Graphical representation of the</a:t>
            </a:r>
            <a:r>
              <a:rPr lang="en-US" sz="1600" dirty="0">
                <a:latin typeface="Times New Roman" panose="02020603050405020304" pitchFamily="18" charset="0"/>
                <a:cs typeface="Times New Roman" panose="02020603050405020304" pitchFamily="18" charset="0"/>
              </a:rPr>
              <a:t> Validation Loss</a:t>
            </a:r>
            <a:r>
              <a:rPr lang="en-IN" sz="1600" dirty="0">
                <a:latin typeface="Times New Roman" panose="02020603050405020304" pitchFamily="18" charset="0"/>
                <a:cs typeface="Times New Roman" panose="02020603050405020304" pitchFamily="18" charset="0"/>
              </a:rPr>
              <a:t> Curve:  </a:t>
            </a:r>
            <a:r>
              <a:rPr lang="en-US" sz="1600" b="1" dirty="0">
                <a:latin typeface="Times New Roman" panose="02020603050405020304" pitchFamily="18" charset="0"/>
                <a:cs typeface="Times New Roman" panose="02020603050405020304" pitchFamily="18" charset="0"/>
              </a:rPr>
              <a:t>Validation Loss Curve:</a:t>
            </a:r>
            <a:r>
              <a:rPr lang="en-US" sz="1600" dirty="0">
                <a:latin typeface="Times New Roman" panose="02020603050405020304" pitchFamily="18" charset="0"/>
                <a:cs typeface="Times New Roman" panose="02020603050405020304" pitchFamily="18" charset="0"/>
              </a:rPr>
              <a:t> Validation loss drops sharply from ~0.68 to ~0.25 within the first 10 epochs and then slowly declines and stabilizes around ~0.18–0.22, indicating rapid early learning and then steady convergence with no large late increases — a sign the model is generalizing well to unseen validation data rather than </a:t>
            </a:r>
            <a:r>
              <a:rPr lang="en-US" sz="1600" dirty="0" err="1">
                <a:latin typeface="Times New Roman" panose="02020603050405020304" pitchFamily="18" charset="0"/>
                <a:cs typeface="Times New Roman" panose="02020603050405020304" pitchFamily="18" charset="0"/>
              </a:rPr>
              <a:t>overfitting</a:t>
            </a:r>
            <a:r>
              <a:rPr lang="en-US" sz="16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p>
          <a:p>
            <a:pPr>
              <a:spcAft>
                <a:spcPts val="0"/>
              </a:spcAft>
            </a:pPr>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 </a:t>
            </a:r>
          </a:p>
        </p:txBody>
      </p:sp>
      <p:sp>
        <p:nvSpPr>
          <p:cNvPr id="7" name="Text Box 6"/>
          <p:cNvSpPr txBox="1"/>
          <p:nvPr/>
        </p:nvSpPr>
        <p:spPr>
          <a:xfrm>
            <a:off x="5870445" y="4631489"/>
            <a:ext cx="6240275" cy="2062103"/>
          </a:xfrm>
          <a:prstGeom prst="rect">
            <a:avLst/>
          </a:prstGeom>
          <a:noFill/>
        </p:spPr>
        <p:txBody>
          <a:bodyPr wrap="square" rtlCol="0" anchor="t">
            <a:spAutoFit/>
          </a:bodyPr>
          <a:lstStyle/>
          <a:p>
            <a:pPr algn="just">
              <a:spcAft>
                <a:spcPts val="0"/>
              </a:spcAft>
            </a:pPr>
            <a:r>
              <a:rPr lang="en-IN" sz="1600" dirty="0">
                <a:effectLst/>
                <a:latin typeface="Times New Roman" panose="02020603050405020304" pitchFamily="18" charset="0"/>
                <a:ea typeface="Times New Roman" panose="02020603050405020304"/>
                <a:cs typeface="Times New Roman" panose="02020603050405020304" pitchFamily="18" charset="0"/>
                <a:sym typeface="+mn-ea"/>
              </a:rPr>
              <a:t>Fig: </a:t>
            </a:r>
            <a:r>
              <a:rPr lang="en-US" sz="1600" dirty="0" smtClean="0">
                <a:effectLst/>
                <a:latin typeface="Times New Roman" panose="02020603050405020304" pitchFamily="18" charset="0"/>
                <a:ea typeface="Times New Roman" panose="02020603050405020304"/>
                <a:cs typeface="Times New Roman" panose="02020603050405020304" pitchFamily="18" charset="0"/>
                <a:sym typeface="+mn-ea"/>
              </a:rPr>
              <a:t>5.6   </a:t>
            </a:r>
            <a:r>
              <a:rPr lang="en-IN" sz="1600" dirty="0" err="1">
                <a:latin typeface="Times New Roman" panose="02020603050405020304" pitchFamily="18" charset="0"/>
                <a:cs typeface="Times New Roman" panose="02020603050405020304" pitchFamily="18" charset="0"/>
              </a:rPr>
              <a:t>compararive</a:t>
            </a:r>
            <a:r>
              <a:rPr lang="en-IN" sz="1600" dirty="0">
                <a:latin typeface="Times New Roman" panose="02020603050405020304" pitchFamily="18" charset="0"/>
                <a:cs typeface="Times New Roman" panose="02020603050405020304" pitchFamily="18" charset="0"/>
              </a:rPr>
              <a:t> analysis Graphical representation of the Precision curve</a:t>
            </a:r>
            <a:r>
              <a:rPr lang="en-US"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F1 Score Curve </a:t>
            </a:r>
            <a:r>
              <a:rPr lang="en-US" sz="1600" dirty="0">
                <a:latin typeface="Times New Roman" panose="02020603050405020304" pitchFamily="18" charset="0"/>
                <a:cs typeface="Times New Roman" panose="02020603050405020304" pitchFamily="18" charset="0"/>
              </a:rPr>
              <a:t>and Recall : </a:t>
            </a:r>
            <a:r>
              <a:rPr lang="en-US" sz="1600" b="1" dirty="0">
                <a:latin typeface="Times New Roman" panose="02020603050405020304" pitchFamily="18" charset="0"/>
                <a:cs typeface="Times New Roman" panose="02020603050405020304" pitchFamily="18" charset="0"/>
              </a:rPr>
              <a:t>Precision </a:t>
            </a:r>
            <a:r>
              <a:rPr lang="en-US" sz="1600" b="1" dirty="0" err="1">
                <a:latin typeface="Times New Roman" panose="02020603050405020304" pitchFamily="18" charset="0"/>
                <a:cs typeface="Times New Roman" panose="02020603050405020304" pitchFamily="18" charset="0"/>
              </a:rPr>
              <a:t>vs</a:t>
            </a:r>
            <a:r>
              <a:rPr lang="en-US" sz="1600" b="1" dirty="0">
                <a:latin typeface="Times New Roman" panose="02020603050405020304" pitchFamily="18" charset="0"/>
                <a:cs typeface="Times New Roman" panose="02020603050405020304" pitchFamily="18" charset="0"/>
              </a:rPr>
              <a:t> Recall </a:t>
            </a:r>
            <a:r>
              <a:rPr lang="en-US" sz="1600" b="1" dirty="0" err="1">
                <a:latin typeface="Times New Roman" panose="02020603050405020304" pitchFamily="18" charset="0"/>
                <a:cs typeface="Times New Roman" panose="02020603050405020304" pitchFamily="18" charset="0"/>
              </a:rPr>
              <a:t>vs</a:t>
            </a:r>
            <a:r>
              <a:rPr lang="en-US" sz="1600" b="1" dirty="0">
                <a:latin typeface="Times New Roman" panose="02020603050405020304" pitchFamily="18" charset="0"/>
                <a:cs typeface="Times New Roman" panose="02020603050405020304" pitchFamily="18" charset="0"/>
              </a:rPr>
              <a:t> F1 Comparison Curve:</a:t>
            </a:r>
            <a:r>
              <a:rPr lang="en-US" sz="1600" dirty="0">
                <a:latin typeface="Times New Roman" panose="02020603050405020304" pitchFamily="18" charset="0"/>
                <a:cs typeface="Times New Roman" panose="02020603050405020304" pitchFamily="18" charset="0"/>
              </a:rPr>
              <a:t> The combined plot shows precision (blue), recall (orange) and F1 (green) beginning apart but converging toward ~0.65–0.72 in later epochs; this convergence indicates the model’s metrics are harmonizing (better balance between identifying true landslides and avoiding false alarms), with F1 tracking between precision and recall as the balanced summary metric</a:t>
            </a:r>
            <a:endParaRPr lang="en-IN" sz="1600" dirty="0">
              <a:effectLst/>
              <a:latin typeface="Times New Roman" panose="02020603050405020304" pitchFamily="18" charset="0"/>
              <a:ea typeface="Times New Roman" panose="02020603050405020304"/>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955"/>
            <a:ext cx="10972800" cy="787400"/>
          </a:xfrm>
        </p:spPr>
        <p:txBody>
          <a:bodyPr/>
          <a:lstStyle/>
          <a:p>
            <a:r>
              <a:rPr lang="en-US" altLang="en-GB" sz="2800" b="1">
                <a:latin typeface="Times New Roman" panose="02020603050405020304" pitchFamily="18" charset="0"/>
                <a:cs typeface="Times New Roman" panose="02020603050405020304" pitchFamily="18" charset="0"/>
              </a:rPr>
              <a:t>DISCUSSION</a:t>
            </a:r>
          </a:p>
        </p:txBody>
      </p:sp>
      <p:sp>
        <p:nvSpPr>
          <p:cNvPr id="3" name="Content Placeholder 2"/>
          <p:cNvSpPr>
            <a:spLocks noGrp="1"/>
          </p:cNvSpPr>
          <p:nvPr>
            <p:ph sz="half" idx="1"/>
          </p:nvPr>
        </p:nvSpPr>
        <p:spPr>
          <a:xfrm>
            <a:off x="382270" y="1083310"/>
            <a:ext cx="11084560" cy="5774055"/>
          </a:xfrm>
        </p:spPr>
        <p:txBody>
          <a:bodyPr/>
          <a:lstStyle/>
          <a:p>
            <a:pPr marL="0" indent="0">
              <a:buNone/>
            </a:pPr>
            <a:endParaRPr lang="en-GB" altLang="en-US"/>
          </a:p>
        </p:txBody>
      </p:sp>
      <p:sp>
        <p:nvSpPr>
          <p:cNvPr id="5" name="Slide Number Placeholder 4"/>
          <p:cNvSpPr>
            <a:spLocks noGrp="1"/>
          </p:cNvSpPr>
          <p:nvPr>
            <p:ph type="sldNum" sz="quarter" idx="12"/>
          </p:nvPr>
        </p:nvSpPr>
        <p:spPr/>
        <p:txBody>
          <a:bodyPr/>
          <a:lstStyle/>
          <a:p>
            <a:fld id="{AE58FF4D-9703-46B8-851C-DA8FCFE4D55D}" type="slidenum">
              <a:rPr lang="en-US" smtClean="0"/>
              <a:t>33</a:t>
            </a:fld>
            <a:endParaRPr lang="en-US"/>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 y="38100"/>
            <a:ext cx="262699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Screenshot 2025-11-26 000311"/>
          <p:cNvPicPr>
            <a:picLocks noChangeAspect="1"/>
          </p:cNvPicPr>
          <p:nvPr/>
        </p:nvPicPr>
        <p:blipFill>
          <a:blip r:embed="rId3"/>
          <a:stretch>
            <a:fillRect/>
          </a:stretch>
        </p:blipFill>
        <p:spPr>
          <a:xfrm>
            <a:off x="381635" y="1155065"/>
            <a:ext cx="7319010" cy="2525395"/>
          </a:xfrm>
          <a:prstGeom prst="rect">
            <a:avLst/>
          </a:prstGeom>
        </p:spPr>
      </p:pic>
      <p:pic>
        <p:nvPicPr>
          <p:cNvPr id="7" name="Picture 6" descr="Screenshot 2025-11-26 000339"/>
          <p:cNvPicPr>
            <a:picLocks noChangeAspect="1"/>
          </p:cNvPicPr>
          <p:nvPr/>
        </p:nvPicPr>
        <p:blipFill>
          <a:blip r:embed="rId4"/>
          <a:stretch>
            <a:fillRect/>
          </a:stretch>
        </p:blipFill>
        <p:spPr>
          <a:xfrm>
            <a:off x="381635" y="3680460"/>
            <a:ext cx="7609205" cy="2998470"/>
          </a:xfrm>
          <a:prstGeom prst="rect">
            <a:avLst/>
          </a:prstGeom>
        </p:spPr>
      </p:pic>
      <p:sp>
        <p:nvSpPr>
          <p:cNvPr id="4" name="Text Box 3"/>
          <p:cNvSpPr txBox="1"/>
          <p:nvPr/>
        </p:nvSpPr>
        <p:spPr>
          <a:xfrm>
            <a:off x="8453120" y="1458595"/>
            <a:ext cx="2204085" cy="398780"/>
          </a:xfrm>
          <a:prstGeom prst="rect">
            <a:avLst/>
          </a:prstGeom>
          <a:noFill/>
        </p:spPr>
        <p:txBody>
          <a:bodyPr wrap="square" rtlCol="0">
            <a:spAutoFit/>
          </a:bodyPr>
          <a:lstStyle/>
          <a:p>
            <a:r>
              <a:rPr lang="en-US" altLang="en-GB" sz="2000" b="1">
                <a:latin typeface="Times New Roman" panose="02020603050405020304" pitchFamily="18" charset="0"/>
                <a:cs typeface="Times New Roman" panose="02020603050405020304" pitchFamily="18" charset="0"/>
              </a:rPr>
              <a:t>TP - True Postive </a:t>
            </a:r>
          </a:p>
        </p:txBody>
      </p:sp>
      <p:sp>
        <p:nvSpPr>
          <p:cNvPr id="9" name="Text Box 8"/>
          <p:cNvSpPr txBox="1"/>
          <p:nvPr/>
        </p:nvSpPr>
        <p:spPr>
          <a:xfrm>
            <a:off x="8453120" y="1990725"/>
            <a:ext cx="2513965" cy="398780"/>
          </a:xfrm>
          <a:prstGeom prst="rect">
            <a:avLst/>
          </a:prstGeom>
          <a:noFill/>
        </p:spPr>
        <p:txBody>
          <a:bodyPr wrap="square" rtlCol="0">
            <a:spAutoFit/>
          </a:bodyPr>
          <a:lstStyle/>
          <a:p>
            <a:r>
              <a:rPr lang="en-US" altLang="en-GB" sz="2000" b="1">
                <a:latin typeface="Times New Roman" panose="02020603050405020304" pitchFamily="18" charset="0"/>
                <a:cs typeface="Times New Roman" panose="02020603050405020304" pitchFamily="18" charset="0"/>
              </a:rPr>
              <a:t>TN-True Negative</a:t>
            </a:r>
          </a:p>
        </p:txBody>
      </p:sp>
      <p:sp>
        <p:nvSpPr>
          <p:cNvPr id="10" name="Text Box 9"/>
          <p:cNvSpPr txBox="1"/>
          <p:nvPr/>
        </p:nvSpPr>
        <p:spPr>
          <a:xfrm>
            <a:off x="8453120" y="2522855"/>
            <a:ext cx="2246630" cy="398780"/>
          </a:xfrm>
          <a:prstGeom prst="rect">
            <a:avLst/>
          </a:prstGeom>
          <a:noFill/>
        </p:spPr>
        <p:txBody>
          <a:bodyPr wrap="square" rtlCol="0">
            <a:spAutoFit/>
          </a:bodyPr>
          <a:lstStyle/>
          <a:p>
            <a:r>
              <a:rPr lang="en-US" altLang="en-GB" sz="2000" b="1">
                <a:latin typeface="Times New Roman" panose="02020603050405020304" pitchFamily="18" charset="0"/>
                <a:cs typeface="Times New Roman" panose="02020603050405020304" pitchFamily="18" charset="0"/>
              </a:rPr>
              <a:t>FP- False Positive</a:t>
            </a:r>
          </a:p>
        </p:txBody>
      </p:sp>
      <p:sp>
        <p:nvSpPr>
          <p:cNvPr id="11" name="Text Box 10"/>
          <p:cNvSpPr txBox="1"/>
          <p:nvPr/>
        </p:nvSpPr>
        <p:spPr>
          <a:xfrm>
            <a:off x="8453120" y="3054985"/>
            <a:ext cx="2321560" cy="398780"/>
          </a:xfrm>
          <a:prstGeom prst="rect">
            <a:avLst/>
          </a:prstGeom>
          <a:noFill/>
        </p:spPr>
        <p:txBody>
          <a:bodyPr wrap="square" rtlCol="0">
            <a:spAutoFit/>
          </a:bodyPr>
          <a:lstStyle/>
          <a:p>
            <a:r>
              <a:rPr lang="en-US" altLang="en-GB" sz="2000" b="1">
                <a:latin typeface="Times New Roman" panose="02020603050405020304" pitchFamily="18" charset="0"/>
                <a:cs typeface="Times New Roman" panose="02020603050405020304" pitchFamily="18" charset="0"/>
              </a:rPr>
              <a:t>FN-False Negative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965" y="38100"/>
            <a:ext cx="10972800" cy="725170"/>
          </a:xfrm>
        </p:spPr>
        <p:txBody>
          <a:bodyPr/>
          <a:lstStyle/>
          <a:p>
            <a:r>
              <a:rPr lang="en-US" altLang="en-GB" sz="2800" b="1" dirty="0">
                <a:latin typeface="Times New Roman" panose="02020603050405020304" pitchFamily="18" charset="0"/>
                <a:cs typeface="Times New Roman" panose="02020603050405020304" pitchFamily="18" charset="0"/>
                <a:sym typeface="+mn-ea"/>
              </a:rPr>
              <a:t>DISCUSSION</a:t>
            </a:r>
            <a:endParaRPr lang="en-US" altLang="en-GB"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97205" y="1110615"/>
            <a:ext cx="5678805" cy="5814695"/>
          </a:xfrm>
        </p:spPr>
        <p:txBody>
          <a:bodyPr>
            <a:noAutofit/>
          </a:bodyPr>
          <a:lstStyle/>
          <a:p>
            <a:pPr marL="0" indent="0" algn="l">
              <a:buNone/>
            </a:pPr>
            <a:r>
              <a:rPr lang="en-US" altLang="en-GB" sz="1800" b="1" u="sng" dirty="0">
                <a:latin typeface="Times New Roman" panose="02020603050405020304" pitchFamily="18" charset="0"/>
                <a:cs typeface="Times New Roman" panose="02020603050405020304" pitchFamily="18" charset="0"/>
              </a:rPr>
              <a:t>Precision </a:t>
            </a:r>
            <a:endParaRPr lang="en-US" altLang="en-GB" sz="1800" u="sng" dirty="0">
              <a:latin typeface="Times New Roman" panose="02020603050405020304" pitchFamily="18" charset="0"/>
              <a:cs typeface="Times New Roman" panose="02020603050405020304" pitchFamily="18" charset="0"/>
            </a:endParaRPr>
          </a:p>
          <a:p>
            <a:pPr marL="0" indent="0">
              <a:buNone/>
            </a:pPr>
            <a:r>
              <a:rPr lang="en-US" altLang="en-GB" sz="1800" dirty="0">
                <a:latin typeface="Times New Roman" panose="02020603050405020304" pitchFamily="18" charset="0"/>
                <a:cs typeface="Times New Roman" panose="02020603050405020304" pitchFamily="18" charset="0"/>
              </a:rPr>
              <a:t>Precision tells how many of the pixels that the model predicted as object were actually correct.</a:t>
            </a:r>
          </a:p>
          <a:p>
            <a:pPr marL="0" indent="0">
              <a:buNone/>
            </a:pPr>
            <a:r>
              <a:rPr lang="en-US" altLang="en-GB" sz="1800" dirty="0">
                <a:latin typeface="Times New Roman" panose="02020603050405020304" pitchFamily="18" charset="0"/>
                <a:cs typeface="Times New Roman" panose="02020603050405020304" pitchFamily="18" charset="0"/>
              </a:rPr>
              <a:t>It measures the model’s accuracy in positive predictions, meaning it shows how few false alarms the model makes.</a:t>
            </a:r>
          </a:p>
          <a:p>
            <a:pPr marL="0" indent="0">
              <a:buNone/>
            </a:pPr>
            <a:endParaRPr lang="en-US" altLang="en-GB" sz="1800" dirty="0">
              <a:latin typeface="Times New Roman" panose="02020603050405020304" pitchFamily="18" charset="0"/>
              <a:cs typeface="Times New Roman" panose="02020603050405020304" pitchFamily="18" charset="0"/>
            </a:endParaRPr>
          </a:p>
          <a:p>
            <a:pPr marL="0" indent="0">
              <a:buNone/>
            </a:pPr>
            <a:r>
              <a:rPr lang="en-US" altLang="en-GB" sz="1800" b="1" u="sng" dirty="0">
                <a:latin typeface="Times New Roman" panose="02020603050405020304" pitchFamily="18" charset="0"/>
                <a:cs typeface="Times New Roman" panose="02020603050405020304" pitchFamily="18" charset="0"/>
              </a:rPr>
              <a:t>Recall </a:t>
            </a:r>
          </a:p>
          <a:p>
            <a:pPr marL="0" indent="0">
              <a:buNone/>
            </a:pPr>
            <a:r>
              <a:rPr lang="en-US" altLang="en-GB" sz="1800" dirty="0">
                <a:latin typeface="Times New Roman" panose="02020603050405020304" pitchFamily="18" charset="0"/>
                <a:cs typeface="Times New Roman" panose="02020603050405020304" pitchFamily="18" charset="0"/>
              </a:rPr>
              <a:t>Recall tells how many of the actual object pixels the model successfully detected.</a:t>
            </a:r>
          </a:p>
          <a:p>
            <a:pPr marL="0" indent="0">
              <a:buNone/>
            </a:pPr>
            <a:r>
              <a:rPr lang="en-US" altLang="en-GB" sz="1800" dirty="0">
                <a:latin typeface="Times New Roman" panose="02020603050405020304" pitchFamily="18" charset="0"/>
                <a:cs typeface="Times New Roman" panose="02020603050405020304" pitchFamily="18" charset="0"/>
              </a:rPr>
              <a:t>It measures the model’s ability to find all relevant pixels without missing anything.</a:t>
            </a:r>
          </a:p>
          <a:p>
            <a:pPr marL="0" indent="0">
              <a:buNone/>
            </a:pPr>
            <a:endParaRPr lang="en-US" altLang="en-GB" sz="1800" dirty="0">
              <a:latin typeface="Times New Roman" panose="02020603050405020304" pitchFamily="18" charset="0"/>
              <a:cs typeface="Times New Roman" panose="02020603050405020304" pitchFamily="18" charset="0"/>
            </a:endParaRPr>
          </a:p>
          <a:p>
            <a:pPr marL="0" indent="0">
              <a:buNone/>
            </a:pPr>
            <a:r>
              <a:rPr lang="en-US" altLang="en-GB" sz="1800" b="1" u="sng" dirty="0">
                <a:latin typeface="Times New Roman" panose="02020603050405020304" pitchFamily="18" charset="0"/>
                <a:cs typeface="Times New Roman" panose="02020603050405020304" pitchFamily="18" charset="0"/>
              </a:rPr>
              <a:t>F1 Score</a:t>
            </a:r>
          </a:p>
          <a:p>
            <a:pPr marL="0" indent="0">
              <a:buNone/>
            </a:pPr>
            <a:r>
              <a:rPr lang="en-US" altLang="en-GB" sz="1800" dirty="0">
                <a:latin typeface="Times New Roman" panose="02020603050405020304" pitchFamily="18" charset="0"/>
                <a:cs typeface="Times New Roman" panose="02020603050405020304" pitchFamily="18" charset="0"/>
              </a:rPr>
              <a:t>F1 Score gives a single value that balances both precision and recall.</a:t>
            </a:r>
          </a:p>
          <a:p>
            <a:pPr marL="0" indent="0">
              <a:buNone/>
            </a:pPr>
            <a:r>
              <a:rPr lang="en-US" altLang="en-GB" sz="1800" dirty="0">
                <a:latin typeface="Times New Roman" panose="02020603050405020304" pitchFamily="18" charset="0"/>
                <a:cs typeface="Times New Roman" panose="02020603050405020304" pitchFamily="18" charset="0"/>
              </a:rPr>
              <a:t>It shows the overall performance of the model when one metric is high and the other is low.</a:t>
            </a:r>
          </a:p>
          <a:p>
            <a:pPr marL="0" indent="0">
              <a:buNone/>
            </a:pPr>
            <a:endParaRPr lang="en-US" altLang="en-GB" sz="1800" dirty="0">
              <a:latin typeface="Times New Roman" panose="02020603050405020304" pitchFamily="18" charset="0"/>
              <a:cs typeface="Times New Roman" panose="02020603050405020304" pitchFamily="18" charset="0"/>
            </a:endParaRPr>
          </a:p>
          <a:p>
            <a:pPr marL="0" indent="0">
              <a:buNone/>
            </a:pPr>
            <a:endParaRPr lang="en-US" altLang="en-GB"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E58FF4D-9703-46B8-851C-DA8FCFE4D55D}" type="slidenum">
              <a:rPr lang="en-US" smtClean="0"/>
              <a:t>34</a:t>
            </a:fld>
            <a:endParaRPr lang="en-US"/>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 y="38100"/>
            <a:ext cx="2626995" cy="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
          <p:cNvSpPr txBox="1"/>
          <p:nvPr/>
        </p:nvSpPr>
        <p:spPr>
          <a:xfrm>
            <a:off x="6176010" y="1110615"/>
            <a:ext cx="5405755" cy="5391150"/>
          </a:xfrm>
          <a:prstGeom prst="rect">
            <a:avLst/>
          </a:prstGeom>
          <a:noFill/>
        </p:spPr>
        <p:txBody>
          <a:bodyPr wrap="square" rtlCol="0">
            <a:noAutofit/>
          </a:bodyPr>
          <a:lstStyle/>
          <a:p>
            <a:pPr marL="0" indent="0">
              <a:buNone/>
            </a:pPr>
            <a:r>
              <a:rPr lang="en-US" altLang="en-GB" b="1" u="sng">
                <a:latin typeface="Times New Roman" panose="02020603050405020304" pitchFamily="18" charset="0"/>
                <a:cs typeface="Times New Roman" panose="02020603050405020304" pitchFamily="18" charset="0"/>
                <a:sym typeface="+mn-ea"/>
              </a:rPr>
              <a:t>Dice Coefficient </a:t>
            </a:r>
            <a:endParaRPr lang="en-US" altLang="en-GB" b="1" u="sng">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Dice score measures how much the model’s predicted mask overlaps with the ground-truth mask.</a:t>
            </a:r>
            <a:endParaRPr lang="en-US" altLang="en-GB">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Higher Dice means the model’s segmentation is more accurate and similar to the real shape.</a:t>
            </a:r>
            <a:endParaRPr lang="en-US" altLang="en-GB" b="1" u="sng">
              <a:latin typeface="Times New Roman" panose="02020603050405020304" pitchFamily="18" charset="0"/>
              <a:cs typeface="Times New Roman" panose="02020603050405020304" pitchFamily="18" charset="0"/>
              <a:sym typeface="+mn-ea"/>
            </a:endParaRPr>
          </a:p>
          <a:p>
            <a:pPr marL="0" indent="0">
              <a:buNone/>
            </a:pPr>
            <a:endParaRPr lang="en-US" altLang="en-GB" b="1" u="sng">
              <a:latin typeface="Times New Roman" panose="02020603050405020304" pitchFamily="18" charset="0"/>
              <a:cs typeface="Times New Roman" panose="02020603050405020304" pitchFamily="18" charset="0"/>
              <a:sym typeface="+mn-ea"/>
            </a:endParaRPr>
          </a:p>
          <a:p>
            <a:pPr marL="0" indent="0">
              <a:buNone/>
            </a:pPr>
            <a:endParaRPr lang="en-US" altLang="en-GB" b="1" u="sng">
              <a:latin typeface="Times New Roman" panose="02020603050405020304" pitchFamily="18" charset="0"/>
              <a:cs typeface="Times New Roman" panose="02020603050405020304" pitchFamily="18" charset="0"/>
              <a:sym typeface="+mn-ea"/>
            </a:endParaRPr>
          </a:p>
          <a:p>
            <a:pPr marL="0" indent="0">
              <a:buNone/>
            </a:pPr>
            <a:r>
              <a:rPr lang="en-US" altLang="en-GB" b="1" u="sng">
                <a:latin typeface="Times New Roman" panose="02020603050405020304" pitchFamily="18" charset="0"/>
                <a:cs typeface="Times New Roman" panose="02020603050405020304" pitchFamily="18" charset="0"/>
                <a:sym typeface="+mn-ea"/>
              </a:rPr>
              <a:t>Pixel Accuracy </a:t>
            </a:r>
            <a:endParaRPr lang="en-US" altLang="en-GB" u="sng">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Pixel Accuracy shows the percentage of total pixels (object + background) that the model labeled correctly.</a:t>
            </a:r>
            <a:endParaRPr lang="en-US" altLang="en-GB">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It reflects overall pixel-level correctness across the entire image.</a:t>
            </a:r>
            <a:endParaRPr lang="en-US" altLang="en-GB">
              <a:latin typeface="Times New Roman" panose="02020603050405020304" pitchFamily="18" charset="0"/>
              <a:cs typeface="Times New Roman" panose="02020603050405020304" pitchFamily="18" charset="0"/>
            </a:endParaRPr>
          </a:p>
          <a:p>
            <a:pPr marL="0" indent="0">
              <a:buNone/>
            </a:pPr>
            <a:endParaRPr lang="en-US" altLang="en-GB">
              <a:latin typeface="Times New Roman" panose="02020603050405020304" pitchFamily="18" charset="0"/>
              <a:cs typeface="Times New Roman" panose="02020603050405020304" pitchFamily="18" charset="0"/>
            </a:endParaRPr>
          </a:p>
          <a:p>
            <a:pPr marL="0" indent="0">
              <a:buNone/>
            </a:pPr>
            <a:r>
              <a:rPr lang="en-US" altLang="en-GB" b="1" u="sng">
                <a:latin typeface="Times New Roman" panose="02020603050405020304" pitchFamily="18" charset="0"/>
                <a:cs typeface="Times New Roman" panose="02020603050405020304" pitchFamily="18" charset="0"/>
                <a:sym typeface="+mn-ea"/>
              </a:rPr>
              <a:t>Loss </a:t>
            </a:r>
            <a:endParaRPr lang="en-US" altLang="en-GB" b="1" u="sng">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Loss represents how much error the model is making while learning.</a:t>
            </a:r>
            <a:endParaRPr lang="en-US" altLang="en-GB">
              <a:latin typeface="Times New Roman" panose="02020603050405020304" pitchFamily="18" charset="0"/>
              <a:cs typeface="Times New Roman" panose="02020603050405020304" pitchFamily="18" charset="0"/>
            </a:endParaRPr>
          </a:p>
          <a:p>
            <a:pPr marL="0" indent="0">
              <a:buNone/>
            </a:pPr>
            <a:r>
              <a:rPr lang="en-US" altLang="en-GB">
                <a:latin typeface="Times New Roman" panose="02020603050405020304" pitchFamily="18" charset="0"/>
                <a:cs typeface="Times New Roman" panose="02020603050405020304" pitchFamily="18" charset="0"/>
                <a:sym typeface="+mn-ea"/>
              </a:rPr>
              <a:t>Lower loss means the model is improving and predicting closer to the ground truth.</a:t>
            </a:r>
          </a:p>
          <a:p>
            <a:pPr marL="0" indent="0">
              <a:buNone/>
            </a:pPr>
            <a:endParaRPr lang="en-US" altLang="en-GB">
              <a:latin typeface="Times New Roman" panose="02020603050405020304" pitchFamily="18" charset="0"/>
              <a:cs typeface="Times New Roman" panose="02020603050405020304" pitchFamily="18" charset="0"/>
              <a:sym typeface="+mn-ea"/>
            </a:endParaRPr>
          </a:p>
          <a:p>
            <a:pPr marL="0" indent="0">
              <a:buNone/>
            </a:pPr>
            <a:endParaRPr lang="en-US" altLang="en-GB">
              <a:latin typeface="Times New Roman" panose="02020603050405020304" pitchFamily="18" charset="0"/>
              <a:cs typeface="Times New Roman" panose="02020603050405020304" pitchFamily="18" charset="0"/>
            </a:endParaRPr>
          </a:p>
          <a:p>
            <a:endParaRPr lang="en-GB"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197081"/>
            <a:ext cx="10972800" cy="781050"/>
          </a:xfrm>
        </p:spPr>
        <p:txBody>
          <a:bodyPr/>
          <a:lstStyle/>
          <a:p>
            <a:r>
              <a:rPr lang="en-US" sz="2800" b="1" dirty="0">
                <a:latin typeface="Times New Roman Bold" panose="02020603050405020304" charset="0"/>
                <a:cs typeface="Times New Roman Bold" panose="02020603050405020304" charset="0"/>
              </a:rPr>
              <a:t>LIMITATION &amp; FUTURE SCOPE</a:t>
            </a:r>
          </a:p>
        </p:txBody>
      </p:sp>
      <p:sp>
        <p:nvSpPr>
          <p:cNvPr id="3" name="Content Placeholder 2"/>
          <p:cNvSpPr>
            <a:spLocks noGrp="1"/>
          </p:cNvSpPr>
          <p:nvPr>
            <p:ph sz="half" idx="1"/>
          </p:nvPr>
        </p:nvSpPr>
        <p:spPr>
          <a:xfrm>
            <a:off x="167640" y="740410"/>
            <a:ext cx="11765280" cy="4979670"/>
          </a:xfrm>
        </p:spPr>
        <p:txBody>
          <a:bodyPr>
            <a:noAutofit/>
          </a:bodyPr>
          <a:lstStyle/>
          <a:p>
            <a:pPr marL="0" indent="0">
              <a:lnSpc>
                <a:spcPct val="120000"/>
              </a:lnSpc>
              <a:buNone/>
            </a:pPr>
            <a:r>
              <a:rPr lang="en-IN" sz="1950" b="1" dirty="0">
                <a:latin typeface="Times New Roman" panose="02020603050405020304" pitchFamily="18" charset="0"/>
                <a:cs typeface="Times New Roman" panose="02020603050405020304" pitchFamily="18" charset="0"/>
              </a:rPr>
              <a:t>Image Quality </a:t>
            </a:r>
            <a:r>
              <a:rPr lang="en-IN" sz="1950" b="1" dirty="0" smtClean="0">
                <a:latin typeface="Times New Roman" panose="02020603050405020304" pitchFamily="18" charset="0"/>
                <a:cs typeface="Times New Roman" panose="02020603050405020304" pitchFamily="18" charset="0"/>
              </a:rPr>
              <a:t>Dependency: </a:t>
            </a:r>
            <a:r>
              <a:rPr lang="en-US" sz="1950" dirty="0" smtClean="0">
                <a:latin typeface="Times New Roman" panose="02020603050405020304" pitchFamily="18" charset="0"/>
                <a:cs typeface="Times New Roman" panose="02020603050405020304" pitchFamily="18" charset="0"/>
              </a:rPr>
              <a:t>Better </a:t>
            </a:r>
            <a:r>
              <a:rPr lang="en-US" sz="1950" dirty="0">
                <a:latin typeface="Times New Roman" panose="02020603050405020304" pitchFamily="18" charset="0"/>
                <a:cs typeface="Times New Roman" panose="02020603050405020304" pitchFamily="18" charset="0"/>
              </a:rPr>
              <a:t>preprocessing is required to handle lower-quality photographs because the model works well with clear, high-resolution images but struggles with fuzzy, dark, or low-resolution photos.</a:t>
            </a:r>
            <a:br>
              <a:rPr lang="en-US" sz="1950" dirty="0">
                <a:latin typeface="Times New Roman" panose="02020603050405020304" pitchFamily="18" charset="0"/>
                <a:cs typeface="Times New Roman" panose="02020603050405020304" pitchFamily="18" charset="0"/>
              </a:rPr>
            </a:br>
            <a:r>
              <a:rPr lang="en-US" sz="1950" dirty="0">
                <a:latin typeface="Times New Roman" panose="02020603050405020304" pitchFamily="18" charset="0"/>
                <a:cs typeface="Times New Roman" panose="02020603050405020304" pitchFamily="18" charset="0"/>
              </a:rPr>
              <a:t/>
            </a:r>
            <a:br>
              <a:rPr lang="en-US" sz="1950" dirty="0">
                <a:latin typeface="Times New Roman" panose="02020603050405020304" pitchFamily="18" charset="0"/>
                <a:cs typeface="Times New Roman" panose="02020603050405020304" pitchFamily="18" charset="0"/>
              </a:rPr>
            </a:br>
            <a:r>
              <a:rPr lang="en-IN" sz="1950" b="1" dirty="0">
                <a:latin typeface="Times New Roman" panose="02020603050405020304" pitchFamily="18" charset="0"/>
                <a:cs typeface="Times New Roman" panose="02020603050405020304" pitchFamily="18" charset="0"/>
              </a:rPr>
              <a:t>Challenging Terrain </a:t>
            </a:r>
            <a:r>
              <a:rPr lang="en-IN" sz="1950" b="1" dirty="0" smtClean="0">
                <a:latin typeface="Times New Roman" panose="02020603050405020304" pitchFamily="18" charset="0"/>
                <a:cs typeface="Times New Roman" panose="02020603050405020304" pitchFamily="18" charset="0"/>
              </a:rPr>
              <a:t>Impact: </a:t>
            </a:r>
            <a:r>
              <a:rPr lang="en-US" sz="1950" dirty="0" smtClean="0">
                <a:latin typeface="Times New Roman" panose="02020603050405020304" pitchFamily="18" charset="0"/>
                <a:cs typeface="Times New Roman" panose="02020603050405020304" pitchFamily="18" charset="0"/>
              </a:rPr>
              <a:t>Expanding </a:t>
            </a:r>
            <a:r>
              <a:rPr lang="en-US" sz="1950" dirty="0">
                <a:latin typeface="Times New Roman" panose="02020603050405020304" pitchFamily="18" charset="0"/>
                <a:cs typeface="Times New Roman" panose="02020603050405020304" pitchFamily="18" charset="0"/>
              </a:rPr>
              <a:t>training data to cover these difficult conditions increases accuracy since rocky, snowy, or heavily forested terrain might lead to misclassifications because of their visual resemblance to landslides.</a:t>
            </a:r>
            <a:br>
              <a:rPr lang="en-US" sz="1950" dirty="0">
                <a:latin typeface="Times New Roman" panose="02020603050405020304" pitchFamily="18" charset="0"/>
                <a:cs typeface="Times New Roman" panose="02020603050405020304" pitchFamily="18" charset="0"/>
              </a:rPr>
            </a:br>
            <a:r>
              <a:rPr lang="en-US" sz="1950" b="1" dirty="0">
                <a:latin typeface="Times New Roman" panose="02020603050405020304" pitchFamily="18" charset="0"/>
                <a:cs typeface="Times New Roman" panose="02020603050405020304" pitchFamily="18" charset="0"/>
              </a:rPr>
              <a:t/>
            </a:r>
            <a:br>
              <a:rPr lang="en-US" sz="1950" b="1" dirty="0">
                <a:latin typeface="Times New Roman" panose="02020603050405020304" pitchFamily="18" charset="0"/>
                <a:cs typeface="Times New Roman" panose="02020603050405020304" pitchFamily="18" charset="0"/>
              </a:rPr>
            </a:br>
            <a:r>
              <a:rPr lang="en-IN" sz="1950" b="1" dirty="0">
                <a:latin typeface="Times New Roman" panose="02020603050405020304" pitchFamily="18" charset="0"/>
                <a:cs typeface="Times New Roman" panose="02020603050405020304" pitchFamily="18" charset="0"/>
              </a:rPr>
              <a:t>Training Data </a:t>
            </a:r>
            <a:r>
              <a:rPr lang="en-IN" sz="1950" b="1" dirty="0" smtClean="0">
                <a:latin typeface="Times New Roman" panose="02020603050405020304" pitchFamily="18" charset="0"/>
                <a:cs typeface="Times New Roman" panose="02020603050405020304" pitchFamily="18" charset="0"/>
              </a:rPr>
              <a:t>Diversity: </a:t>
            </a:r>
            <a:r>
              <a:rPr lang="en-US" sz="1950" dirty="0" smtClean="0">
                <a:latin typeface="Times New Roman" panose="02020603050405020304" pitchFamily="18" charset="0"/>
                <a:cs typeface="Times New Roman" panose="02020603050405020304" pitchFamily="18" charset="0"/>
              </a:rPr>
              <a:t>The</a:t>
            </a:r>
            <a:r>
              <a:rPr lang="en-US" sz="1950" b="1" dirty="0" smtClean="0">
                <a:latin typeface="Times New Roman" panose="02020603050405020304" pitchFamily="18" charset="0"/>
                <a:cs typeface="Times New Roman" panose="02020603050405020304" pitchFamily="18" charset="0"/>
              </a:rPr>
              <a:t> </a:t>
            </a:r>
            <a:r>
              <a:rPr lang="en-US" sz="1950" dirty="0">
                <a:latin typeface="Times New Roman" panose="02020603050405020304" pitchFamily="18" charset="0"/>
                <a:cs typeface="Times New Roman" panose="02020603050405020304" pitchFamily="18" charset="0"/>
              </a:rPr>
              <a:t>variety of landslide types in the training set determines how effective the model is, highlighting the significance of including more varied landslide events and surroundings for improved generalization.</a:t>
            </a:r>
            <a:br>
              <a:rPr lang="en-US" sz="1950" dirty="0">
                <a:latin typeface="Times New Roman" panose="02020603050405020304" pitchFamily="18" charset="0"/>
                <a:cs typeface="Times New Roman" panose="02020603050405020304" pitchFamily="18" charset="0"/>
              </a:rPr>
            </a:br>
            <a:r>
              <a:rPr lang="en-US" sz="1950" dirty="0">
                <a:latin typeface="Times New Roman" panose="02020603050405020304" pitchFamily="18" charset="0"/>
                <a:cs typeface="Times New Roman" panose="02020603050405020304" pitchFamily="18" charset="0"/>
              </a:rPr>
              <a:t/>
            </a:r>
            <a:br>
              <a:rPr lang="en-US" sz="1950" dirty="0">
                <a:latin typeface="Times New Roman" panose="02020603050405020304" pitchFamily="18" charset="0"/>
                <a:cs typeface="Times New Roman" panose="02020603050405020304" pitchFamily="18" charset="0"/>
              </a:rPr>
            </a:br>
            <a:r>
              <a:rPr lang="en-IN" sz="1950" b="1" dirty="0">
                <a:latin typeface="Times New Roman" panose="02020603050405020304" pitchFamily="18" charset="0"/>
                <a:cs typeface="Times New Roman" panose="02020603050405020304" pitchFamily="18" charset="0"/>
              </a:rPr>
              <a:t>Computational Resource </a:t>
            </a:r>
            <a:r>
              <a:rPr lang="en-IN" sz="1950" b="1" dirty="0" smtClean="0">
                <a:latin typeface="Times New Roman" panose="02020603050405020304" pitchFamily="18" charset="0"/>
                <a:cs typeface="Times New Roman" panose="02020603050405020304" pitchFamily="18" charset="0"/>
              </a:rPr>
              <a:t>Needs:</a:t>
            </a:r>
            <a:r>
              <a:rPr lang="en-US" sz="1950" dirty="0" smtClean="0">
                <a:latin typeface="Times New Roman" panose="02020603050405020304" pitchFamily="18" charset="0"/>
                <a:cs typeface="Times New Roman" panose="02020603050405020304" pitchFamily="18" charset="0"/>
              </a:rPr>
              <a:t>High-performance </a:t>
            </a:r>
            <a:r>
              <a:rPr lang="en-US" sz="1950" dirty="0">
                <a:latin typeface="Times New Roman" panose="02020603050405020304" pitchFamily="18" charset="0"/>
                <a:cs typeface="Times New Roman" panose="02020603050405020304" pitchFamily="18" charset="0"/>
              </a:rPr>
              <a:t>GPUs are necessary for fast predictions, rendering the model slow on low-end devices, which calls for optimization to lower computing needs and allow deployment on resource-limited hardware.</a:t>
            </a:r>
            <a:br>
              <a:rPr lang="en-US" sz="1950" dirty="0">
                <a:latin typeface="Times New Roman" panose="02020603050405020304" pitchFamily="18" charset="0"/>
                <a:cs typeface="Times New Roman" panose="02020603050405020304" pitchFamily="18" charset="0"/>
              </a:rPr>
            </a:br>
            <a:r>
              <a:rPr lang="en-US" sz="1950" dirty="0">
                <a:latin typeface="Times New Roman" panose="02020603050405020304" pitchFamily="18" charset="0"/>
                <a:cs typeface="Times New Roman" panose="02020603050405020304" pitchFamily="18" charset="0"/>
              </a:rPr>
              <a:t/>
            </a:r>
            <a:br>
              <a:rPr lang="en-US" sz="1950" dirty="0">
                <a:latin typeface="Times New Roman" panose="02020603050405020304" pitchFamily="18" charset="0"/>
                <a:cs typeface="Times New Roman" panose="02020603050405020304" pitchFamily="18" charset="0"/>
              </a:rPr>
            </a:br>
            <a:r>
              <a:rPr lang="en-IN" sz="1950" b="1" dirty="0" smtClean="0">
                <a:latin typeface="Times New Roman" panose="02020603050405020304" pitchFamily="18" charset="0"/>
                <a:cs typeface="Times New Roman" panose="02020603050405020304" pitchFamily="18" charset="0"/>
              </a:rPr>
              <a:t>Surface-Only Detection Limitations:</a:t>
            </a:r>
            <a:r>
              <a:rPr lang="en-US" sz="1950" dirty="0" smtClean="0">
                <a:latin typeface="Times New Roman" panose="02020603050405020304" pitchFamily="18" charset="0"/>
                <a:cs typeface="Times New Roman" panose="02020603050405020304" pitchFamily="18" charset="0"/>
              </a:rPr>
              <a:t>Detection </a:t>
            </a:r>
            <a:r>
              <a:rPr lang="en-US" sz="1950" dirty="0">
                <a:latin typeface="Times New Roman" panose="02020603050405020304" pitchFamily="18" charset="0"/>
                <a:cs typeface="Times New Roman" panose="02020603050405020304" pitchFamily="18" charset="0"/>
              </a:rPr>
              <a:t>is limited to visible landslides on the surface, so incorporating additional data sources is crucial to find early warning indications and subsurface movements not recorded by the model.</a:t>
            </a:r>
          </a:p>
        </p:txBody>
      </p:sp>
      <p:sp>
        <p:nvSpPr>
          <p:cNvPr id="5" name="Slide Number Placeholder 4"/>
          <p:cNvSpPr>
            <a:spLocks noGrp="1"/>
          </p:cNvSpPr>
          <p:nvPr>
            <p:ph type="sldNum" sz="quarter" idx="12"/>
          </p:nvPr>
        </p:nvSpPr>
        <p:spPr/>
        <p:txBody>
          <a:bodyPr/>
          <a:lstStyle/>
          <a:p>
            <a:fld id="{AE58FF4D-9703-46B8-851C-DA8FCFE4D55D}" type="slidenum">
              <a:rPr lang="en-US" smtClean="0"/>
              <a:t>35</a:t>
            </a:fld>
            <a:endParaRPr lang="en-US" dirty="0"/>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1978776" cy="54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p:cNvSpPr>
            <a:spLocks noGrp="1"/>
          </p:cNvSpPr>
          <p:nvPr>
            <p:ph sz="half" idx="2"/>
          </p:nvPr>
        </p:nvSpPr>
        <p:spPr/>
        <p:txBody>
          <a:bodyPr/>
          <a:lstStyle/>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54610"/>
            <a:ext cx="10972800" cy="702310"/>
          </a:xfrm>
        </p:spPr>
        <p:txBody>
          <a:bodyPr/>
          <a:lstStyle/>
          <a:p>
            <a:r>
              <a:rPr lang="en-US" sz="2800" b="1" dirty="0">
                <a:effectLst/>
                <a:latin typeface="Times New Roman" panose="02020603050405020304" pitchFamily="18" charset="0"/>
                <a:cs typeface="Times New Roman" panose="02020603050405020304" pitchFamily="18" charset="0"/>
                <a:sym typeface="+mn-ea"/>
              </a:rPr>
              <a:t>GANTT CHART</a:t>
            </a:r>
          </a:p>
        </p:txBody>
      </p:sp>
      <p:sp>
        <p:nvSpPr>
          <p:cNvPr id="3" name="Content Placeholder 2"/>
          <p:cNvSpPr>
            <a:spLocks noGrp="1"/>
          </p:cNvSpPr>
          <p:nvPr>
            <p:ph idx="1"/>
          </p:nvPr>
        </p:nvSpPr>
        <p:spPr>
          <a:xfrm flipV="1">
            <a:off x="11506200" y="6126480"/>
            <a:ext cx="76200" cy="363220"/>
          </a:xfrm>
        </p:spPr>
        <p:txBody>
          <a:bodyPr>
            <a:normAutofit fontScale="62500" lnSpcReduction="20000"/>
          </a:bodyPr>
          <a:lstStyle/>
          <a:p>
            <a:endParaRPr lang="en-US" dirty="0"/>
          </a:p>
        </p:txBody>
      </p:sp>
      <p:sp>
        <p:nvSpPr>
          <p:cNvPr id="4" name="Slide Number Placeholder 3"/>
          <p:cNvSpPr>
            <a:spLocks noGrp="1"/>
          </p:cNvSpPr>
          <p:nvPr>
            <p:ph type="sldNum" sz="quarter" idx="12"/>
          </p:nvPr>
        </p:nvSpPr>
        <p:spPr/>
        <p:txBody>
          <a:bodyPr/>
          <a:lstStyle/>
          <a:p>
            <a:fld id="{AE58FF4D-9703-46B8-851C-DA8FCFE4D55D}" type="slidenum">
              <a:rPr lang="en-US" smtClean="0"/>
              <a:t>36</a:t>
            </a:fld>
            <a:endParaRPr lang="en-US"/>
          </a:p>
        </p:txBody>
      </p:sp>
      <p:graphicFrame>
        <p:nvGraphicFramePr>
          <p:cNvPr id="6" name="Table 5"/>
          <p:cNvGraphicFramePr>
            <a:graphicFrameLocks noGrp="1"/>
          </p:cNvGraphicFramePr>
          <p:nvPr/>
        </p:nvGraphicFramePr>
        <p:xfrm>
          <a:off x="1445260" y="1009650"/>
          <a:ext cx="9471251" cy="4713934"/>
        </p:xfrm>
        <a:graphic>
          <a:graphicData uri="http://schemas.openxmlformats.org/drawingml/2006/table">
            <a:tbl>
              <a:tblPr firstRow="1" firstCol="1" bandRow="1"/>
              <a:tblGrid>
                <a:gridCol w="1837055"/>
                <a:gridCol w="400050"/>
                <a:gridCol w="73660"/>
                <a:gridCol w="1318260"/>
                <a:gridCol w="796290"/>
                <a:gridCol w="796290"/>
                <a:gridCol w="251460"/>
                <a:gridCol w="534035"/>
                <a:gridCol w="665480"/>
                <a:gridCol w="789531"/>
                <a:gridCol w="208280"/>
                <a:gridCol w="208280"/>
                <a:gridCol w="245745"/>
                <a:gridCol w="281305"/>
                <a:gridCol w="1065530"/>
              </a:tblGrid>
              <a:tr h="317500">
                <a:tc rowSpan="2">
                  <a:txBody>
                    <a:bodyPr/>
                    <a:lstStyle/>
                    <a:p>
                      <a:pPr algn="ctr" fontAlgn="ctr">
                        <a:tabLst>
                          <a:tab pos="1759585" algn="l"/>
                        </a:tabLst>
                      </a:pPr>
                      <a:r>
                        <a:rPr lang="en-IN" sz="1200" b="1" i="0" u="none" strike="noStrike">
                          <a:solidFill>
                            <a:srgbClr val="000000"/>
                          </a:solidFill>
                          <a:effectLst/>
                          <a:latin typeface="Times New Roman" panose="02020603050405020304" pitchFamily="18" charset="0"/>
                          <a:ea typeface="Times New Roman" panose="02020603050405020304" pitchFamily="18" charset="0"/>
                        </a:rPr>
                        <a:t>ACTIVITY</a:t>
                      </a:r>
                    </a:p>
                  </a:txBody>
                  <a:tcPr marL="56495" marR="56495" marT="28247" marB="28247">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14">
                  <a:txBody>
                    <a:bodyPr/>
                    <a:lstStyle/>
                    <a:p>
                      <a:pPr algn="ctr" fontAlgn="t">
                        <a:tabLst>
                          <a:tab pos="1759585" algn="l"/>
                        </a:tabLst>
                      </a:pPr>
                      <a:r>
                        <a:rPr lang="en-IN" sz="1500" b="1" i="0" u="none" strike="noStrike">
                          <a:effectLst/>
                          <a:latin typeface="Times New Roman" panose="02020603050405020304" pitchFamily="18" charset="0"/>
                          <a:ea typeface="Times New Roman" panose="02020603050405020304" pitchFamily="18" charset="0"/>
                        </a:rPr>
                        <a:t>TIMEFRAME</a:t>
                      </a:r>
                    </a:p>
                  </a:txBody>
                  <a:tcPr marL="56495" marR="56495" marT="28247" marB="28247">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56495" marR="56495" marT="28247" marB="28247">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56495" marR="56495" marT="28247" marB="28247">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92735">
                <a:tc v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Aug 202</a:t>
                      </a:r>
                      <a:r>
                        <a:rPr lang="en-US" altLang="en-IN" sz="1200" b="1" i="0" u="none" strike="noStrike">
                          <a:effectLst/>
                          <a:latin typeface="Times New Roman" panose="02020603050405020304" pitchFamily="18" charset="0"/>
                          <a:ea typeface="Times New Roman" panose="02020603050405020304" pitchFamily="18" charset="0"/>
                        </a:rPr>
                        <a:t>5</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Sep 202</a:t>
                      </a:r>
                      <a:r>
                        <a:rPr lang="en-US" altLang="en-IN" sz="1200" b="1" i="0" u="none" strike="noStrike">
                          <a:effectLst/>
                          <a:latin typeface="Times New Roman" panose="02020603050405020304" pitchFamily="18" charset="0"/>
                          <a:ea typeface="Times New Roman" panose="02020603050405020304" pitchFamily="18" charset="0"/>
                        </a:rPr>
                        <a:t>5</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Oct 202</a:t>
                      </a:r>
                      <a:r>
                        <a:rPr lang="en-US" altLang="en-IN" sz="1200" b="1" i="0" u="none" strike="noStrike">
                          <a:effectLst/>
                          <a:latin typeface="Times New Roman" panose="02020603050405020304" pitchFamily="18" charset="0"/>
                          <a:ea typeface="Times New Roman" panose="02020603050405020304" pitchFamily="18" charset="0"/>
                        </a:rPr>
                        <a:t>5</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4">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Nov</a:t>
                      </a:r>
                      <a:r>
                        <a:rPr lang="en-US" altLang="en-IN" sz="1200" b="1" i="0" u="none" strike="noStrike">
                          <a:effectLst/>
                          <a:latin typeface="Times New Roman" panose="02020603050405020304" pitchFamily="18" charset="0"/>
                          <a:ea typeface="Times New Roman" panose="02020603050405020304" pitchFamily="18" charset="0"/>
                        </a:rPr>
                        <a:t> 2025</a:t>
                      </a:r>
                    </a:p>
                  </a:txBody>
                  <a:tcPr marL="7846" marR="7846" marT="7846" marB="28247" anchor="ctr" anchorCtr="1">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nchorCtr="1">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nchorCtr="1">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nchorCtr="1">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buNone/>
                        <a:tabLst>
                          <a:tab pos="1759585" algn="l"/>
                        </a:tabLst>
                      </a:pPr>
                      <a:r>
                        <a:rPr lang="en-US" altLang="en-IN" sz="1200" b="1" i="0" u="none" strike="noStrike">
                          <a:effectLst/>
                          <a:latin typeface="Times New Roman" panose="02020603050405020304" pitchFamily="18" charset="0"/>
                          <a:ea typeface="Times New Roman" panose="02020603050405020304" pitchFamily="18" charset="0"/>
                        </a:rPr>
                        <a:t>Dec 2025</a:t>
                      </a:r>
                    </a:p>
                  </a:txBody>
                  <a:tcPr marL="7846" marR="7846" marT="7846" marB="28247"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nchorCtr="1">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401320">
                <a:tc rowSpan="2">
                  <a:txBody>
                    <a:bodyPr/>
                    <a:lstStyle/>
                    <a:p>
                      <a:pPr algn="ctr" fontAlgn="ctr">
                        <a:tabLst>
                          <a:tab pos="1759585" algn="l"/>
                        </a:tabLst>
                      </a:pPr>
                      <a:r>
                        <a:rPr lang="en-IN" sz="1200" b="1" i="0" u="none" strike="noStrike">
                          <a:effectLst/>
                          <a:latin typeface="Times New Roman Bold" panose="02020603050405020304" charset="0"/>
                          <a:ea typeface="Times New Roman" panose="02020603050405020304" pitchFamily="18" charset="0"/>
                          <a:cs typeface="Times New Roman Bold" panose="02020603050405020304" charset="0"/>
                        </a:rPr>
                        <a:t>Literature Survey</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solidFill>
                            <a:srgbClr val="FF0000"/>
                          </a:solidFill>
                          <a:effectLst/>
                          <a:latin typeface="Times New Roman" panose="02020603050405020304" pitchFamily="18" charset="0"/>
                          <a:ea typeface="Times New Roman" panose="02020603050405020304" pitchFamily="18" charset="0"/>
                        </a:rPr>
                        <a:t> </a:t>
                      </a:r>
                    </a:p>
                    <a:p>
                      <a:pPr algn="ctr" fontAlgn="ctr">
                        <a:buClrTx/>
                        <a:buSzTx/>
                        <a:buFontTx/>
                        <a:tabLst>
                          <a:tab pos="1759585" algn="l"/>
                        </a:tabLst>
                      </a:pPr>
                      <a:r>
                        <a:rPr lang="en-IN" altLang="en-GB" sz="1200" i="0" u="none" strike="noStrike">
                          <a:effectLst/>
                          <a:latin typeface="Arial" panose="020B0704020202020204" pitchFamily="34" charset="0"/>
                        </a:rPr>
                        <a:t> </a:t>
                      </a:r>
                      <a:endParaRPr lang="en-IN" sz="120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ClrTx/>
                        <a:buSzTx/>
                        <a:buFontTx/>
                        <a:buNone/>
                        <a:tabLst>
                          <a:tab pos="1759585" algn="l"/>
                        </a:tabLst>
                      </a:pPr>
                      <a:r>
                        <a:rPr lang="en-IN" altLang="en-GB" sz="1200" b="1" i="0" u="none" strike="noStrike" dirty="0">
                          <a:solidFill>
                            <a:srgbClr val="FF0000"/>
                          </a:solidFill>
                          <a:effectLst/>
                          <a:latin typeface="Times New Roman" panose="02020603050405020304" pitchFamily="18" charset="0"/>
                          <a:ea typeface="Times New Roman" panose="02020603050405020304" pitchFamily="18" charset="0"/>
                        </a:rPr>
                        <a:t> </a:t>
                      </a:r>
                    </a:p>
                    <a:p>
                      <a:pPr algn="ctr" fontAlgn="ctr">
                        <a:buClrTx/>
                        <a:buSzTx/>
                        <a:buFontTx/>
                        <a:buNone/>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endParaRPr lang="en-IN" altLang="en-GB" sz="1200" b="1" i="0" u="none" strike="noStrike" dirty="0">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3">
                  <a:txBody>
                    <a:bodyPr/>
                    <a:lstStyle/>
                    <a:p>
                      <a:pPr algn="ctr" fontAlgn="ctr">
                        <a:tabLst>
                          <a:tab pos="1759585" algn="l"/>
                        </a:tabLst>
                      </a:pPr>
                      <a:r>
                        <a:rPr lang="en-IN" sz="1200" b="1" i="0" u="none" strike="noStrike" dirty="0">
                          <a:solidFill>
                            <a:srgbClr val="FF0000"/>
                          </a:solidFill>
                          <a:effectLst/>
                          <a:latin typeface="Times New Roman" panose="02020603050405020304" pitchFamily="18" charset="0"/>
                          <a:ea typeface="Times New Roman" panose="02020603050405020304" pitchFamily="18" charset="0"/>
                        </a:rPr>
                        <a:t> </a:t>
                      </a:r>
                    </a:p>
                    <a:p>
                      <a:pPr algn="ctr" fontAlgn="ctr">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endParaRPr lang="en-IN"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4">
                  <a:txBody>
                    <a:bodyPr/>
                    <a:lstStyle/>
                    <a:p>
                      <a:pPr algn="ctr" fontAlgn="ctr">
                        <a:tabLst>
                          <a:tab pos="1759585" algn="l"/>
                        </a:tabLst>
                      </a:pPr>
                      <a:r>
                        <a:rPr lang="en-IN" sz="1200" b="1" i="0" u="none" strike="noStrike" dirty="0">
                          <a:solidFill>
                            <a:srgbClr val="FF0000"/>
                          </a:solidFill>
                          <a:effectLst/>
                          <a:latin typeface="Times New Roman" panose="02020603050405020304" pitchFamily="18" charset="0"/>
                          <a:ea typeface="Times New Roman" panose="02020603050405020304" pitchFamily="18" charset="0"/>
                        </a:rPr>
                        <a:t> </a:t>
                      </a:r>
                    </a:p>
                    <a:p>
                      <a:pPr algn="ctr" fontAlgn="ctr">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endParaRPr lang="en-IN"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00355">
                <a:tc vMerge="1">
                  <a:txBody>
                    <a:bodyPr/>
                    <a:lstStyle/>
                    <a:p>
                      <a:endParaRPr lang="en-US"/>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2">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4">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ctr">
                        <a:buClrTx/>
                        <a:buSzTx/>
                        <a:buFontTx/>
                        <a:buNone/>
                        <a:tabLst>
                          <a:tab pos="1759585" algn="l"/>
                        </a:tabLst>
                      </a:pPr>
                      <a:endParaRPr lang="en-IN" altLang="en-US" sz="120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fontAlgn="ctr">
                        <a:buNone/>
                        <a:tabLst>
                          <a:tab pos="1759585" algn="l"/>
                        </a:tabLst>
                      </a:pPr>
                      <a:endParaRPr lang="en-IN" altLang="en-US"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37185">
                <a:tc rowSpan="2">
                  <a:txBody>
                    <a:bodyPr/>
                    <a:lstStyle/>
                    <a:p>
                      <a:pPr algn="ctr" fontAlgn="ctr">
                        <a:tabLst>
                          <a:tab pos="1759585" algn="l"/>
                        </a:tabLst>
                      </a:pPr>
                      <a:r>
                        <a:rPr lang="en-US" altLang="en-IN" sz="1200" b="1" i="0" u="none" strike="noStrike">
                          <a:effectLst/>
                          <a:latin typeface="Times New Roman Bold" panose="02020603050405020304" charset="0"/>
                          <a:cs typeface="Times New Roman Bold" panose="02020603050405020304" charset="0"/>
                        </a:rPr>
                        <a:t>Problem defination and solution startergy</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4">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04495">
                <a:tc vMerge="1">
                  <a:txBody>
                    <a:bodyPr/>
                    <a:lstStyle/>
                    <a:p>
                      <a:endParaRPr lang="en-US"/>
                    </a:p>
                  </a:txBody>
                  <a:tcPr>
                    <a:lnL w="12700" cap="flat" cmpd="sng" algn="ctr">
                      <a:solidFill>
                        <a:schemeClr val="tx1"/>
                      </a:solidFill>
                      <a:prstDash val="solid"/>
                      <a:round/>
                      <a:headEnd type="none" w="med" len="med"/>
                      <a:tailEnd type="none" w="med" len="med"/>
                    </a:lnL>
                  </a:tcPr>
                </a:tc>
                <a:tc gridSpan="2">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 </a:t>
                      </a:r>
                      <a:endParaRPr lang="en-IN" sz="1200" b="1" i="0" u="none" strike="noStrike">
                        <a:solidFill>
                          <a:srgbClr val="92D05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64490">
                <a:tc rowSpan="2">
                  <a:txBody>
                    <a:bodyPr/>
                    <a:lstStyle/>
                    <a:p>
                      <a:pPr algn="ctr" fontAlgn="ctr">
                        <a:tabLst>
                          <a:tab pos="1759585" algn="l"/>
                        </a:tabLst>
                      </a:pPr>
                      <a:r>
                        <a:rPr lang="en-US" altLang="en-IN" sz="1200" b="1" i="0" u="none" strike="noStrike" dirty="0">
                          <a:effectLst/>
                          <a:latin typeface="Times New Roman Bold" panose="02020603050405020304" charset="0"/>
                          <a:cs typeface="Times New Roman Bold" panose="02020603050405020304" charset="0"/>
                        </a:rPr>
                        <a:t>Data collection</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4">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01320">
                <a:tc v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fontAlgn="ctr">
                        <a:tabLst>
                          <a:tab pos="1759585" algn="l"/>
                        </a:tabLst>
                      </a:pPr>
                      <a:r>
                        <a:rPr lang="en-IN" sz="1200" b="1" i="0" u="none" strike="noStrike">
                          <a:effectLst/>
                          <a:latin typeface="Times New Roman" panose="02020603050405020304" pitchFamily="18" charset="0"/>
                          <a:ea typeface="Times New Roman" panose="02020603050405020304" pitchFamily="18" charset="0"/>
                        </a:rPr>
                        <a:t> </a:t>
                      </a:r>
                    </a:p>
                    <a:p>
                      <a:pPr algn="ctr" fontAlgn="ctr">
                        <a:buNone/>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401320">
                <a:tc rowSpan="2">
                  <a:txBody>
                    <a:bodyPr/>
                    <a:lstStyle/>
                    <a:p>
                      <a:pPr algn="ctr" fontAlgn="ctr">
                        <a:tabLst>
                          <a:tab pos="1759585" algn="l"/>
                        </a:tabLst>
                      </a:pPr>
                      <a:r>
                        <a:rPr lang="en-US" altLang="en-IN" sz="1200" b="1" i="0" u="none" strike="noStrike">
                          <a:effectLst/>
                          <a:latin typeface="Times New Roman Bold" panose="02020603050405020304" charset="0"/>
                          <a:cs typeface="Times New Roman Bold" panose="02020603050405020304" charset="0"/>
                        </a:rPr>
                        <a:t>Implementation</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tabLst>
                          <a:tab pos="1759585" algn="l"/>
                        </a:tabLst>
                      </a:pPr>
                      <a:r>
                        <a:rPr lang="en-IN" sz="1200" b="1" i="0" u="none" strike="noStrike" dirty="0">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p>
                      <a:pPr algn="ctr" fontAlgn="ctr">
                        <a:tabLst>
                          <a:tab pos="1759585" algn="l"/>
                        </a:tabLst>
                      </a:pPr>
                      <a:r>
                        <a:rPr lang="en-IN" altLang="en-GB" sz="1200" b="1" i="0" u="none" strike="noStrike" dirty="0">
                          <a:solidFill>
                            <a:srgbClr val="000000"/>
                          </a:solidFill>
                          <a:effectLst/>
                          <a:latin typeface="Times New Roman" panose="02020603050405020304" pitchFamily="18" charset="0"/>
                          <a:ea typeface="Times New Roman" panose="02020603050405020304" pitchFamily="18" charset="0"/>
                        </a:rPr>
                        <a:t> </a:t>
                      </a:r>
                      <a:endParaRPr lang="en-IN"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4">
                  <a:txBody>
                    <a:bodyPr/>
                    <a:lstStyle/>
                    <a:p>
                      <a:pPr algn="ctr" fontAlgn="ctr">
                        <a:buNone/>
                        <a:tabLst>
                          <a:tab pos="1759585" algn="l"/>
                        </a:tabLst>
                      </a:pPr>
                      <a:endParaRPr lang="en-IN"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sz="1200" b="1" i="0" u="none" strike="noStrike" dirty="0">
                        <a:solidFill>
                          <a:srgbClr val="000000"/>
                        </a:solidFill>
                        <a:effectLst/>
                        <a:latin typeface="Times New Roman" panose="02020603050405020304" pitchFamily="18" charset="0"/>
                        <a:ea typeface="Times New Roman" panose="02020603050405020304" pitchFamily="18"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321945">
                <a:tc v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fontAlgn="ctr">
                        <a:tabLst>
                          <a:tab pos="1759585" algn="l"/>
                        </a:tabLst>
                      </a:pPr>
                      <a:endParaRPr lang="en-IN" sz="1200" b="0" i="0" u="none" strike="noStrike" dirty="0">
                        <a:effectLst/>
                        <a:latin typeface="Arial" panose="020B0704020202020204" pitchFamily="34" charset="0"/>
                      </a:endParaRPr>
                    </a:p>
                  </a:txBody>
                  <a:tcPr marL="7846" marR="7846" marT="7846" marB="28247"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tabLst>
                          <a:tab pos="1759585" algn="l"/>
                        </a:tabLst>
                      </a:pPr>
                      <a:endParaRPr lang="en-IN" sz="1200" b="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2">
                  <a:txBody>
                    <a:bodyPr/>
                    <a:lstStyle/>
                    <a:p>
                      <a:pPr algn="ctr" fontAlgn="ctr">
                        <a:buNone/>
                        <a:tabLst>
                          <a:tab pos="1759585" algn="l"/>
                        </a:tabLst>
                      </a:pPr>
                      <a:endParaRPr lang="en-IN" altLang="en-US" sz="1200" b="0" i="0" u="none" strike="noStrike">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293370">
                <a:tc rowSpan="2">
                  <a:txBody>
                    <a:bodyPr/>
                    <a:lstStyle/>
                    <a:p>
                      <a:pPr algn="ctr" fontAlgn="ctr">
                        <a:tabLst>
                          <a:tab pos="1759585" algn="l"/>
                        </a:tabLst>
                      </a:pPr>
                      <a:r>
                        <a:rPr lang="en-IN" sz="1200" b="1" i="0" u="none" strike="noStrike" dirty="0">
                          <a:effectLst/>
                          <a:latin typeface="Times New Roman Bold" panose="02020603050405020304" charset="0"/>
                          <a:ea typeface="Times New Roman" panose="02020603050405020304" pitchFamily="18" charset="0"/>
                          <a:cs typeface="Times New Roman Bold" panose="02020603050405020304" charset="0"/>
                        </a:rPr>
                        <a:t>Testing and Validation</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3">
                  <a:txBody>
                    <a:bodyPr/>
                    <a:lstStyle/>
                    <a:p>
                      <a:pPr algn="ctr" fontAlgn="ctr">
                        <a:tabLst>
                          <a:tab pos="1759585" algn="l"/>
                        </a:tabLst>
                      </a:pPr>
                      <a:r>
                        <a:rPr lang="en-IN" sz="1200" b="1" i="0" u="none" strike="noStrike">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4">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91465">
                <a:tc vMerge="1">
                  <a:txBody>
                    <a:bodyPr/>
                    <a:lstStyle/>
                    <a:p>
                      <a:endParaRPr lang="en-US"/>
                    </a:p>
                  </a:txBody>
                  <a:tcPr>
                    <a:lnL w="12700" cap="flat" cmpd="sng" algn="ctr">
                      <a:solidFill>
                        <a:schemeClr val="tx1"/>
                      </a:solidFill>
                      <a:prstDash val="solid"/>
                      <a:round/>
                      <a:headEnd type="none" w="med" len="med"/>
                      <a:tailEnd type="none" w="med" len="med"/>
                    </a:ln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tabLst>
                          <a:tab pos="1759585" algn="l"/>
                        </a:tabLst>
                      </a:pPr>
                      <a:endParaRPr lang="en-IN"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91465">
                <a:tc rowSpan="2">
                  <a:txBody>
                    <a:bodyPr/>
                    <a:lstStyle/>
                    <a:p>
                      <a:pPr algn="ctr" fontAlgn="ctr">
                        <a:tabLst>
                          <a:tab pos="1759585" algn="l"/>
                        </a:tabLst>
                      </a:pPr>
                      <a:r>
                        <a:rPr lang="en-US" altLang="en-IN" sz="1200" b="1" i="0" u="none" strike="noStrike">
                          <a:effectLst/>
                          <a:latin typeface="Times New Roman Bold" panose="02020603050405020304" charset="0"/>
                          <a:cs typeface="Times New Roman Bold" panose="02020603050405020304" charset="0"/>
                        </a:rPr>
                        <a:t>Documentation</a:t>
                      </a:r>
                    </a:p>
                  </a:txBody>
                  <a:tcPr marL="56495" marR="56495" marT="28247" marB="28247" anchor="ctr" anchorCtr="1">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a:solidFill>
                        <a:schemeClr val="tx1"/>
                      </a:solidFill>
                      <a:prstDash val="solid"/>
                    </a:lnB>
                    <a:noFill/>
                  </a:tcPr>
                </a:tc>
                <a:tc>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gridSpan="4">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r>
              <a:tr h="293370">
                <a:tc vMerge="1">
                  <a:txBody>
                    <a:bodyPr/>
                    <a:lstStyle/>
                    <a:p>
                      <a:endParaRPr lang="en-US"/>
                    </a:p>
                  </a:txBody>
                  <a:tcPr>
                    <a:lnL w="12700" cap="flat" cmpd="sng" algn="ctr">
                      <a:solidFill>
                        <a:schemeClr val="tx1"/>
                      </a:solidFill>
                      <a:prstDash val="solid"/>
                      <a:round/>
                      <a:headEnd type="none" w="med" len="med"/>
                      <a:tailEnd type="none" w="med" len="med"/>
                    </a:lnL>
                    <a:lnB w="12700">
                      <a:solidFill>
                        <a:schemeClr val="tx1"/>
                      </a:solidFill>
                      <a:prstDash val="solid"/>
                    </a:lnB>
                  </a:tcPr>
                </a:tc>
                <a:tc>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gridSpan="2">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gridSpan="3">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gridSpan="4">
                  <a:txBody>
                    <a:bodyPr/>
                    <a:lstStyle/>
                    <a:p>
                      <a:pPr algn="ctr" fontAlgn="ctr">
                        <a:tabLst>
                          <a:tab pos="1759585" algn="l"/>
                        </a:tabLst>
                      </a:pPr>
                      <a:r>
                        <a:rPr lang="en-IN" sz="1200" b="1" i="0" u="none" strike="noStrike" dirty="0">
                          <a:solidFill>
                            <a:srgbClr val="000000"/>
                          </a:solidFill>
                          <a:effectLst/>
                          <a:latin typeface="Times New Roman" panose="02020603050405020304" pitchFamily="18" charset="0"/>
                          <a:ea typeface="Times New Roman" panose="02020603050405020304" pitchFamily="18" charset="0"/>
                        </a:rPr>
                        <a:t> </a:t>
                      </a: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hMerge="1">
                  <a:txBody>
                    <a:bodyPr/>
                    <a:lstStyle/>
                    <a:p>
                      <a:endParaRPr lang="en-US"/>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fontAlgn="ctr">
                        <a:buNone/>
                        <a:tabLst>
                          <a:tab pos="1759585" algn="l"/>
                        </a:tabLst>
                      </a:pPr>
                      <a:endParaRPr lang="en-IN" altLang="en-US" sz="1200" b="0" i="0" u="none" strike="noStrike" dirty="0">
                        <a:effectLst/>
                        <a:latin typeface="Arial" panose="020B0704020202020204" pitchFamily="34" charset="0"/>
                      </a:endParaRPr>
                    </a:p>
                  </a:txBody>
                  <a:tcPr marL="7846" marR="7846" marT="7846" marB="282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Rectangles 6"/>
          <p:cNvSpPr/>
          <p:nvPr/>
        </p:nvSpPr>
        <p:spPr>
          <a:xfrm>
            <a:off x="3679825" y="6055360"/>
            <a:ext cx="2674620" cy="591185"/>
          </a:xfrm>
          <a:prstGeom prst="rect">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solidFill>
                  <a:schemeClr val="tx1"/>
                </a:solidFill>
                <a:latin typeface="Times New Roman Bold" panose="02020603050405020304" charset="0"/>
                <a:cs typeface="Times New Roman Bold" panose="02020603050405020304" charset="0"/>
                <a:sym typeface="+mn-ea"/>
              </a:rPr>
              <a:t>Activity Proposed</a:t>
            </a:r>
          </a:p>
        </p:txBody>
      </p:sp>
      <p:sp>
        <p:nvSpPr>
          <p:cNvPr id="10" name="Rectangles 9"/>
          <p:cNvSpPr/>
          <p:nvPr/>
        </p:nvSpPr>
        <p:spPr>
          <a:xfrm>
            <a:off x="7213600" y="6049645"/>
            <a:ext cx="2674620" cy="591185"/>
          </a:xfrm>
          <a:prstGeom prst="rect">
            <a:avLst/>
          </a:prstGeom>
          <a:solidFill>
            <a:srgbClr val="92D05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12" name="Text Box 11"/>
          <p:cNvSpPr txBox="1"/>
          <p:nvPr/>
        </p:nvSpPr>
        <p:spPr>
          <a:xfrm>
            <a:off x="7466330" y="6120765"/>
            <a:ext cx="2421890" cy="368300"/>
          </a:xfrm>
          <a:prstGeom prst="rect">
            <a:avLst/>
          </a:prstGeom>
          <a:noFill/>
        </p:spPr>
        <p:txBody>
          <a:bodyPr wrap="square" rtlCol="0">
            <a:spAutoFit/>
          </a:bodyPr>
          <a:lstStyle/>
          <a:p>
            <a:r>
              <a:rPr lang="en-US" altLang="en-GB" b="1">
                <a:latin typeface="Times New Roman" panose="02020603050405020304" pitchFamily="18" charset="0"/>
                <a:cs typeface="Times New Roman" panose="02020603050405020304" pitchFamily="18" charset="0"/>
              </a:rPr>
              <a:t>Activity Completed</a:t>
            </a: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txBox="1">
            <a:spLocks noChangeArrowheads="1"/>
          </p:cNvSpPr>
          <p:nvPr/>
        </p:nvSpPr>
        <p:spPr bwMode="auto">
          <a:xfrm>
            <a:off x="336648" y="1014095"/>
            <a:ext cx="11451590" cy="5619115"/>
          </a:xfrm>
          <a:prstGeom prst="rect">
            <a:avLst/>
          </a:prstGeom>
          <a:noFill/>
          <a:ln>
            <a:noFill/>
          </a:ln>
        </p:spPr>
        <p:txBody>
          <a:bodyPr/>
          <a:lstStyle>
            <a:lvl1pPr marL="342900" indent="-342900">
              <a:lnSpc>
                <a:spcPct val="90000"/>
              </a:lnSpc>
              <a:spcBef>
                <a:spcPts val="750"/>
              </a:spcBef>
              <a:buFont typeface="Arial" panose="020B07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7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7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7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7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7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7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7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704020202020204" pitchFamily="34" charset="0"/>
              <a:buChar char="•"/>
              <a:defRPr sz="1300">
                <a:solidFill>
                  <a:schemeClr val="tx1"/>
                </a:solidFill>
                <a:latin typeface="Calibri" panose="020F0502020204030204" pitchFamily="34" charset="0"/>
              </a:defRPr>
            </a:lvl9pPr>
          </a:lstStyle>
          <a:p>
            <a:pPr marL="0" indent="0" algn="just">
              <a:lnSpc>
                <a:spcPct val="107000"/>
              </a:lnSpc>
              <a:spcAft>
                <a:spcPts val="800"/>
              </a:spcAft>
              <a:buNone/>
              <a:tabLst>
                <a:tab pos="180340" algn="l"/>
              </a:tabLst>
            </a:pPr>
            <a:r>
              <a:rPr lang="en-US" altLang="en-US" sz="2000" b="1" dirty="0">
                <a:effectLst/>
                <a:latin typeface="Times New Roman" panose="02020603050405020304" pitchFamily="18" charset="0"/>
                <a:ea typeface="Times New Roman" panose="02020603050405020304" pitchFamily="18" charset="0"/>
              </a:rPr>
              <a:t>[1] </a:t>
            </a:r>
            <a:r>
              <a:rPr lang="en-US" altLang="en-US" sz="2000" dirty="0">
                <a:effectLst/>
                <a:latin typeface="Times New Roman" panose="02020603050405020304" pitchFamily="18" charset="0"/>
                <a:ea typeface="Times New Roman" panose="02020603050405020304" pitchFamily="18" charset="0"/>
              </a:rPr>
              <a:t>S. R. Meena, L. P. Soares, C. H. Grohmann, C. van Westen, K. Bhuyan, R. P. Singh, M. Floris, and F. Catani, “Landslides,” Landslides, vol. 19, pp. 1209–1229, 2022, doi: 10.1007/s10346-022-01861-3.</a:t>
            </a:r>
          </a:p>
          <a:p>
            <a:pPr marL="0" indent="0" algn="just">
              <a:lnSpc>
                <a:spcPct val="107000"/>
              </a:lnSpc>
              <a:spcAft>
                <a:spcPts val="800"/>
              </a:spcAft>
              <a:buNone/>
              <a:tabLst>
                <a:tab pos="180340" algn="l"/>
              </a:tabLst>
            </a:pPr>
            <a:r>
              <a:rPr lang="en-US" altLang="en-US" sz="2000" b="1" dirty="0" smtClean="0">
                <a:effectLst/>
                <a:latin typeface="Times New Roman" panose="02020603050405020304" pitchFamily="18" charset="0"/>
                <a:ea typeface="Times New Roman" panose="02020603050405020304" pitchFamily="18" charset="0"/>
              </a:rPr>
              <a:t>[</a:t>
            </a:r>
            <a:r>
              <a:rPr lang="en-US" altLang="en-US" sz="2000" b="1" dirty="0">
                <a:effectLst/>
                <a:latin typeface="Times New Roman" panose="02020603050405020304" pitchFamily="18" charset="0"/>
                <a:ea typeface="Times New Roman" panose="02020603050405020304" pitchFamily="18" charset="0"/>
              </a:rPr>
              <a:t>2] </a:t>
            </a:r>
            <a:r>
              <a:rPr lang="en-US" altLang="en-US" sz="2000" dirty="0">
                <a:effectLst/>
                <a:latin typeface="Times New Roman" panose="02020603050405020304" pitchFamily="18" charset="0"/>
                <a:ea typeface="Times New Roman" panose="02020603050405020304" pitchFamily="18" charset="0"/>
              </a:rPr>
              <a:t>C. Fang et al., “Landslide detection using remote sensing techniques,” Remote Sensing, vol. 14, 2022, doi: 10.3390/su142416311.</a:t>
            </a:r>
          </a:p>
          <a:p>
            <a:pPr marL="0" indent="0">
              <a:buNone/>
            </a:pPr>
            <a:r>
              <a:rPr lang="en-US" altLang="en-US" sz="2000" b="1" dirty="0" smtClean="0">
                <a:effectLst/>
                <a:latin typeface="Times New Roman" panose="02020603050405020304" pitchFamily="18" charset="0"/>
                <a:ea typeface="Times New Roman" panose="02020603050405020304" pitchFamily="18" charset="0"/>
              </a:rPr>
              <a:t>[</a:t>
            </a:r>
            <a:r>
              <a:rPr lang="en-US" altLang="en-US" sz="2000" b="1" dirty="0">
                <a:effectLst/>
                <a:latin typeface="Times New Roman" panose="02020603050405020304" pitchFamily="18" charset="0"/>
                <a:ea typeface="Times New Roman" panose="02020603050405020304" pitchFamily="18" charset="0"/>
              </a:rPr>
              <a:t>3] </a:t>
            </a:r>
            <a:r>
              <a:rPr lang="en-US" altLang="en-US" sz="2000" dirty="0">
                <a:effectLst/>
                <a:latin typeface="Times New Roman" panose="02020603050405020304" pitchFamily="18" charset="0"/>
                <a:ea typeface="Times New Roman" panose="02020603050405020304" pitchFamily="18" charset="0"/>
              </a:rPr>
              <a:t>L. P. Soares, H. C. Dias, and C. H. Grohmann, “Deep-learning-based landslide mapping,” Multimedia Tools and Applications, 2024, doi: 10.1007/s11042-024-19454-8</a:t>
            </a:r>
            <a:r>
              <a:rPr lang="en-US" altLang="en-US" sz="2000" dirty="0" smtClean="0">
                <a:effectLst/>
                <a:latin typeface="Times New Roman" panose="02020603050405020304" pitchFamily="18" charset="0"/>
                <a:ea typeface="Times New Roman" panose="02020603050405020304" pitchFamily="18" charset="0"/>
              </a:rPr>
              <a:t>.</a:t>
            </a:r>
            <a:br>
              <a:rPr lang="en-US" altLang="en-US" sz="2000" dirty="0" smtClean="0">
                <a:effectLst/>
                <a:latin typeface="Times New Roman" panose="02020603050405020304" pitchFamily="18" charset="0"/>
                <a:ea typeface="Times New Roman" panose="02020603050405020304" pitchFamily="18" charset="0"/>
              </a:rPr>
            </a:br>
            <a:r>
              <a:rPr lang="en-US" altLang="en-US" sz="2000" dirty="0" smtClean="0">
                <a:effectLst/>
                <a:latin typeface="Times New Roman" panose="02020603050405020304" pitchFamily="18" charset="0"/>
                <a:ea typeface="Times New Roman" panose="02020603050405020304" pitchFamily="18" charset="0"/>
              </a:rPr>
              <a:t/>
            </a:r>
            <a:br>
              <a:rPr lang="en-US" altLang="en-US" sz="2000" dirty="0" smtClean="0">
                <a:effectLst/>
                <a:latin typeface="Times New Roman" panose="02020603050405020304" pitchFamily="18" charset="0"/>
                <a:ea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[4] </a:t>
            </a:r>
            <a:r>
              <a:rPr lang="en-IN" sz="2000" dirty="0">
                <a:latin typeface="Times New Roman" panose="02020603050405020304" pitchFamily="18" charset="0"/>
                <a:cs typeface="Times New Roman" panose="02020603050405020304" pitchFamily="18" charset="0"/>
              </a:rPr>
              <a:t>G. Li, K. Li, G. Zhang, K. Pan, Y. Ding, Z. Wang, C. Fu, and Z. Zhu, “A landslide area segmentation method based on an improved </a:t>
            </a:r>
            <a:r>
              <a:rPr lang="en-IN" sz="2000" dirty="0" err="1">
                <a:latin typeface="Times New Roman" panose="02020603050405020304" pitchFamily="18" charset="0"/>
                <a:cs typeface="Times New Roman" panose="02020603050405020304" pitchFamily="18" charset="0"/>
              </a:rPr>
              <a:t>UNet</a:t>
            </a:r>
            <a:r>
              <a:rPr lang="en-IN" sz="2000" dirty="0">
                <a:latin typeface="Times New Roman" panose="02020603050405020304" pitchFamily="18" charset="0"/>
                <a:cs typeface="Times New Roman" panose="02020603050405020304" pitchFamily="18" charset="0"/>
              </a:rPr>
              <a:t>,” </a:t>
            </a:r>
            <a:r>
              <a:rPr lang="en-IN" sz="2000" i="1" dirty="0">
                <a:latin typeface="Times New Roman" panose="02020603050405020304" pitchFamily="18" charset="0"/>
                <a:cs typeface="Times New Roman" panose="02020603050405020304" pitchFamily="18" charset="0"/>
              </a:rPr>
              <a:t>Scientific Reports</a:t>
            </a:r>
            <a:r>
              <a:rPr lang="en-IN" sz="2000" dirty="0">
                <a:latin typeface="Times New Roman" panose="02020603050405020304" pitchFamily="18" charset="0"/>
                <a:cs typeface="Times New Roman" panose="02020603050405020304" pitchFamily="18" charset="0"/>
              </a:rPr>
              <a:t>, vol. 15, p. 11852, 2025,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10.1038/s41598-025-94039-5.</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[5] </a:t>
            </a:r>
            <a:r>
              <a:rPr lang="en-IN" sz="2000" dirty="0">
                <a:latin typeface="Times New Roman" panose="02020603050405020304" pitchFamily="18" charset="0"/>
                <a:cs typeface="Times New Roman" panose="02020603050405020304" pitchFamily="18" charset="0"/>
              </a:rPr>
              <a:t>O. </a:t>
            </a:r>
            <a:r>
              <a:rPr lang="en-IN" sz="2000" dirty="0" err="1">
                <a:latin typeface="Times New Roman" panose="02020603050405020304" pitchFamily="18" charset="0"/>
                <a:cs typeface="Times New Roman" panose="02020603050405020304" pitchFamily="18" charset="0"/>
              </a:rPr>
              <a:t>Ghorbanzadeh</a:t>
            </a:r>
            <a:r>
              <a:rPr lang="en-IN" sz="2000" dirty="0">
                <a:latin typeface="Times New Roman" panose="02020603050405020304" pitchFamily="18" charset="0"/>
                <a:cs typeface="Times New Roman" panose="02020603050405020304" pitchFamily="18" charset="0"/>
              </a:rPr>
              <a:t>, T. </a:t>
            </a:r>
            <a:r>
              <a:rPr lang="en-IN" sz="2000" dirty="0" err="1">
                <a:latin typeface="Times New Roman" panose="02020603050405020304" pitchFamily="18" charset="0"/>
                <a:cs typeface="Times New Roman" panose="02020603050405020304" pitchFamily="18" charset="0"/>
              </a:rPr>
              <a:t>Blaschke</a:t>
            </a:r>
            <a:r>
              <a:rPr lang="en-IN" sz="2000" dirty="0">
                <a:latin typeface="Times New Roman" panose="02020603050405020304" pitchFamily="18" charset="0"/>
                <a:cs typeface="Times New Roman" panose="02020603050405020304" pitchFamily="18" charset="0"/>
              </a:rPr>
              <a:t>, K. </a:t>
            </a:r>
            <a:r>
              <a:rPr lang="en-IN" sz="2000" dirty="0" err="1">
                <a:latin typeface="Times New Roman" panose="02020603050405020304" pitchFamily="18" charset="0"/>
                <a:cs typeface="Times New Roman" panose="02020603050405020304" pitchFamily="18" charset="0"/>
              </a:rPr>
              <a:t>Gholamnia</a:t>
            </a:r>
            <a:r>
              <a:rPr lang="en-IN" sz="2000" dirty="0">
                <a:latin typeface="Times New Roman" panose="02020603050405020304" pitchFamily="18" charset="0"/>
                <a:cs typeface="Times New Roman" panose="02020603050405020304" pitchFamily="18" charset="0"/>
              </a:rPr>
              <a:t>, S. R. </a:t>
            </a:r>
            <a:r>
              <a:rPr lang="en-IN" sz="2000" dirty="0" err="1">
                <a:latin typeface="Times New Roman" panose="02020603050405020304" pitchFamily="18" charset="0"/>
                <a:cs typeface="Times New Roman" panose="02020603050405020304" pitchFamily="18" charset="0"/>
              </a:rPr>
              <a:t>Meena</a:t>
            </a:r>
            <a:r>
              <a:rPr lang="en-IN" sz="2000" dirty="0">
                <a:latin typeface="Times New Roman" panose="02020603050405020304" pitchFamily="18" charset="0"/>
                <a:cs typeface="Times New Roman" panose="02020603050405020304" pitchFamily="18" charset="0"/>
              </a:rPr>
              <a:t>, D. </a:t>
            </a:r>
            <a:r>
              <a:rPr lang="en-IN" sz="2000" dirty="0" err="1">
                <a:latin typeface="Times New Roman" panose="02020603050405020304" pitchFamily="18" charset="0"/>
                <a:cs typeface="Times New Roman" panose="02020603050405020304" pitchFamily="18" charset="0"/>
              </a:rPr>
              <a:t>Tiede</a:t>
            </a:r>
            <a:r>
              <a:rPr lang="en-IN" sz="2000" dirty="0">
                <a:latin typeface="Times New Roman" panose="02020603050405020304" pitchFamily="18" charset="0"/>
                <a:cs typeface="Times New Roman" panose="02020603050405020304" pitchFamily="18" charset="0"/>
              </a:rPr>
              <a:t>, and J. </a:t>
            </a:r>
            <a:r>
              <a:rPr lang="en-IN" sz="2000" dirty="0" err="1">
                <a:latin typeface="Times New Roman" panose="02020603050405020304" pitchFamily="18" charset="0"/>
                <a:cs typeface="Times New Roman" panose="02020603050405020304" pitchFamily="18" charset="0"/>
              </a:rPr>
              <a:t>Aryal</a:t>
            </a:r>
            <a:r>
              <a:rPr lang="en-IN" sz="2000" dirty="0">
                <a:latin typeface="Times New Roman" panose="02020603050405020304" pitchFamily="18" charset="0"/>
                <a:cs typeface="Times New Roman" panose="02020603050405020304" pitchFamily="18" charset="0"/>
              </a:rPr>
              <a:t>, “Evaluation of Different Machine Learning Methods and Deep-Learning Convolutional Neural Networks for Landslide Detection,” </a:t>
            </a:r>
            <a:r>
              <a:rPr lang="en-IN" sz="2000" i="1" dirty="0">
                <a:latin typeface="Times New Roman" panose="02020603050405020304" pitchFamily="18" charset="0"/>
                <a:cs typeface="Times New Roman" panose="02020603050405020304" pitchFamily="18" charset="0"/>
              </a:rPr>
              <a:t>Remote Sensing</a:t>
            </a:r>
            <a:r>
              <a:rPr lang="en-IN" sz="2000" dirty="0">
                <a:latin typeface="Times New Roman" panose="02020603050405020304" pitchFamily="18" charset="0"/>
                <a:cs typeface="Times New Roman" panose="02020603050405020304" pitchFamily="18" charset="0"/>
              </a:rPr>
              <a:t>, vol. 11, no. 196, pp. 1–21, 2019,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10.3390/rs11020196.</a:t>
            </a:r>
          </a:p>
          <a:p>
            <a:pPr marL="0" indent="0">
              <a:buNone/>
            </a:pPr>
            <a:r>
              <a:rPr lang="en-US" sz="2000" dirty="0"/>
              <a:t> </a:t>
            </a:r>
            <a:endParaRPr lang="en-IN" sz="2000" dirty="0"/>
          </a:p>
          <a:p>
            <a:r>
              <a:rPr lang="en-US" sz="2000" dirty="0"/>
              <a:t> </a:t>
            </a:r>
            <a:endParaRPr lang="en-IN" sz="2000" dirty="0"/>
          </a:p>
          <a:p>
            <a:pPr marL="0" indent="0" algn="just">
              <a:lnSpc>
                <a:spcPct val="107000"/>
              </a:lnSpc>
              <a:spcAft>
                <a:spcPts val="800"/>
              </a:spcAft>
              <a:buNone/>
              <a:tabLst>
                <a:tab pos="180340" algn="l"/>
              </a:tabLst>
            </a:pPr>
            <a:endParaRPr lang="en-US" altLang="en-US" sz="2000" dirty="0">
              <a:effectLst/>
              <a:latin typeface="Times New Roman" panose="02020603050405020304" pitchFamily="18" charset="0"/>
              <a:ea typeface="Times New Roman" panose="02020603050405020304" pitchFamily="18" charset="0"/>
            </a:endParaRPr>
          </a:p>
        </p:txBody>
      </p:sp>
      <p:sp>
        <p:nvSpPr>
          <p:cNvPr id="6" name="AutoShape 2"/>
          <p:cNvSpPr txBox="1">
            <a:spLocks noChangeArrowheads="1"/>
          </p:cNvSpPr>
          <p:nvPr/>
        </p:nvSpPr>
        <p:spPr bwMode="auto">
          <a:xfrm>
            <a:off x="1610713" y="126048"/>
            <a:ext cx="8903460" cy="685800"/>
          </a:xfrm>
          <a:prstGeom prst="rect">
            <a:avLst/>
          </a:prstGeom>
          <a:noFill/>
          <a:ln>
            <a:noFill/>
          </a:ln>
        </p:spPr>
        <p:txBody>
          <a:bodyPr anchor="ct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a:lstStyle>
          <a:p>
            <a:pPr algn="ctr" eaLnBrk="1" fontAlgn="auto" hangingPunct="1">
              <a:spcAft>
                <a:spcPts val="0"/>
              </a:spcAft>
              <a:defRPr/>
            </a:pPr>
            <a:r>
              <a:rPr lang="en-US" sz="2800" b="1" dirty="0" smtClean="0">
                <a:effectLst/>
                <a:latin typeface="Times New Roman Bold" panose="02020603050405020304" charset="0"/>
                <a:cs typeface="Times New Roman Bold" panose="02020603050405020304" charset="0"/>
              </a:rPr>
              <a:t>REFFERENCES</a:t>
            </a:r>
            <a:endParaRPr lang="en-US" sz="2800" b="1" dirty="0">
              <a:effectLst/>
              <a:latin typeface="Times New Roman Bold" panose="02020603050405020304" charset="0"/>
              <a:cs typeface="Times New Roman Bold" panose="02020603050405020304" charset="0"/>
            </a:endParaRPr>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 y="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AE58FF4D-9703-46B8-851C-DA8FCFE4D55D}"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28600"/>
            <a:ext cx="10972800" cy="1143000"/>
          </a:xfrm>
        </p:spPr>
        <p:txBody>
          <a:bodyPr/>
          <a:lstStyle/>
          <a:p>
            <a:r>
              <a:rPr lang="en-US" sz="2800" b="1" dirty="0" smtClean="0">
                <a:latin typeface="Times New Roman" panose="02020603050405020304" pitchFamily="18" charset="0"/>
                <a:cs typeface="Times New Roman" panose="02020603050405020304" pitchFamily="18" charset="0"/>
                <a:sym typeface="+mn-ea"/>
              </a:rPr>
              <a:t>ACKNOWLEDGEMENT</a:t>
            </a:r>
            <a:r>
              <a:rPr lang="en-US" b="1" dirty="0" smtClean="0">
                <a:latin typeface="Times New Roman" panose="02020603050405020304" pitchFamily="18" charset="0"/>
                <a:cs typeface="Times New Roman" panose="02020603050405020304" pitchFamily="18" charset="0"/>
                <a:sym typeface="+mn-ea"/>
              </a:rPr>
              <a:t> </a:t>
            </a:r>
            <a:endParaRPr lang="en-IN" dirty="0"/>
          </a:p>
        </p:txBody>
      </p:sp>
      <p:sp>
        <p:nvSpPr>
          <p:cNvPr id="3" name="Content Placeholder 2"/>
          <p:cNvSpPr>
            <a:spLocks noGrp="1"/>
          </p:cNvSpPr>
          <p:nvPr>
            <p:ph idx="1"/>
          </p:nvPr>
        </p:nvSpPr>
        <p:spPr>
          <a:xfrm>
            <a:off x="554736" y="832107"/>
            <a:ext cx="11332464" cy="4525963"/>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We sincerely thank everyone who supported us throughout our Major Project, </a:t>
            </a:r>
            <a:r>
              <a:rPr lang="en-US" sz="2000" b="1" dirty="0">
                <a:latin typeface="Times New Roman" panose="02020603050405020304" pitchFamily="18" charset="0"/>
                <a:cs typeface="Times New Roman" panose="02020603050405020304" pitchFamily="18" charset="0"/>
              </a:rPr>
              <a:t>“Landslide Detection using Deep Learning Models</a:t>
            </a:r>
            <a:r>
              <a:rPr lang="en-US" sz="2000" b="1" dirty="0" smtClean="0">
                <a:latin typeface="Times New Roman" panose="02020603050405020304" pitchFamily="18" charset="0"/>
                <a:cs typeface="Times New Roman" panose="02020603050405020304" pitchFamily="18" charset="0"/>
              </a:rPr>
              <a:t>.”</a:t>
            </a:r>
            <a:br>
              <a:rPr lang="en-US" sz="2000" b="1" dirty="0" smtClean="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Our heartfelt gratitude goes to </a:t>
            </a:r>
            <a:r>
              <a:rPr lang="en-US" sz="2000" b="1" dirty="0">
                <a:latin typeface="Times New Roman" panose="02020603050405020304" pitchFamily="18" charset="0"/>
                <a:cs typeface="Times New Roman" panose="02020603050405020304" pitchFamily="18" charset="0"/>
              </a:rPr>
              <a:t>Mrs. </a:t>
            </a:r>
            <a:r>
              <a:rPr lang="en-US" sz="2000" b="1" dirty="0" err="1">
                <a:latin typeface="Times New Roman" panose="02020603050405020304" pitchFamily="18" charset="0"/>
                <a:cs typeface="Times New Roman" panose="02020603050405020304" pitchFamily="18" charset="0"/>
              </a:rPr>
              <a:t>Sonam</a:t>
            </a:r>
            <a:r>
              <a:rPr lang="en-US" sz="2000" b="1" dirty="0">
                <a:latin typeface="Times New Roman" panose="02020603050405020304" pitchFamily="18" charset="0"/>
                <a:cs typeface="Times New Roman" panose="02020603050405020304" pitchFamily="18" charset="0"/>
              </a:rPr>
              <a:t> Lhamu </a:t>
            </a:r>
            <a:r>
              <a:rPr lang="en-US" sz="2000" b="1" dirty="0" err="1">
                <a:latin typeface="Times New Roman" panose="02020603050405020304" pitchFamily="18" charset="0"/>
                <a:cs typeface="Times New Roman" panose="02020603050405020304" pitchFamily="18" charset="0"/>
              </a:rPr>
              <a:t>Bhutia</a:t>
            </a:r>
            <a:r>
              <a:rPr lang="en-US" sz="2000" dirty="0">
                <a:latin typeface="Times New Roman" panose="02020603050405020304" pitchFamily="18" charset="0"/>
                <a:cs typeface="Times New Roman" panose="02020603050405020304" pitchFamily="18" charset="0"/>
              </a:rPr>
              <a:t> for her constant guidance, encouragement, and valuable suggestions, which shaped our work from start to finish</a:t>
            </a:r>
            <a:r>
              <a:rPr lang="en-US" sz="2000" dirty="0" smtClean="0">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We are deeply thankful to </a:t>
            </a:r>
            <a:r>
              <a:rPr lang="en-US" sz="2000" b="1" dirty="0">
                <a:latin typeface="Times New Roman" panose="02020603050405020304" pitchFamily="18" charset="0"/>
                <a:cs typeface="Times New Roman" panose="02020603050405020304" pitchFamily="18" charset="0"/>
              </a:rPr>
              <a:t>Dr. </a:t>
            </a:r>
            <a:r>
              <a:rPr lang="en-US" sz="2000" b="1" dirty="0" err="1">
                <a:latin typeface="Times New Roman" panose="02020603050405020304" pitchFamily="18" charset="0"/>
                <a:cs typeface="Times New Roman" panose="02020603050405020304" pitchFamily="18" charset="0"/>
              </a:rPr>
              <a:t>Biswaraj</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Sen</a:t>
            </a:r>
            <a:r>
              <a:rPr lang="en-US" sz="2000" dirty="0">
                <a:latin typeface="Times New Roman" panose="02020603050405020304" pitchFamily="18" charset="0"/>
                <a:cs typeface="Times New Roman" panose="02020603050405020304" pitchFamily="18" charset="0"/>
              </a:rPr>
              <a:t>, Head of the IT Department, </a:t>
            </a:r>
            <a:r>
              <a:rPr lang="en-US" sz="2000" b="1" dirty="0">
                <a:latin typeface="Times New Roman" panose="02020603050405020304" pitchFamily="18" charset="0"/>
                <a:cs typeface="Times New Roman" panose="02020603050405020304" pitchFamily="18" charset="0"/>
              </a:rPr>
              <a:t>SMIT</a:t>
            </a:r>
            <a:r>
              <a:rPr lang="en-US" sz="2000" dirty="0">
                <a:latin typeface="Times New Roman" panose="02020603050405020304" pitchFamily="18" charset="0"/>
                <a:cs typeface="Times New Roman" panose="02020603050405020304" pitchFamily="18" charset="0"/>
              </a:rPr>
              <a:t>, for providing a positive academic environment and continuous support. We also appreciate the Project Coordinators and all faculty and staff of the IT Department for their help, direction, and encouragement throughout the project</a:t>
            </a:r>
            <a:r>
              <a:rPr lang="en-US" sz="2000" dirty="0" smtClean="0">
                <a:latin typeface="Times New Roman" panose="02020603050405020304" pitchFamily="18" charset="0"/>
                <a:cs typeface="Times New Roman" panose="02020603050405020304" pitchFamily="18" charset="0"/>
              </a:rPr>
              <a:t>.</a:t>
            </a:r>
            <a:br>
              <a:rPr lang="en-US" sz="2000" dirty="0" smtClean="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We gratefully acknowledge the constructive feedback from both internal and external examiners, which helped us refine our work</a:t>
            </a:r>
            <a:r>
              <a:rPr lang="en-US" sz="2000" dirty="0" smtClean="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Finally, we thank everyone who directly or indirectly contributed to the successful completion of this project.</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E58FF4D-9703-46B8-851C-DA8FCFE4D55D}" type="slidenum">
              <a:rPr lang="en-US" smtClean="0"/>
              <a:t>38</a:t>
            </a:fld>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609600" y="787140"/>
            <a:ext cx="10972800" cy="5569213"/>
          </a:xfrm>
        </p:spPr>
        <p:txBody>
          <a:bodyPr/>
          <a:lstStyle/>
          <a:p>
            <a:pPr marL="0" indent="0">
              <a:buNone/>
            </a:pPr>
            <a:endParaRPr lang="en-US" dirty="0"/>
          </a:p>
          <a:p>
            <a:endParaRPr lang="en-US" dirty="0"/>
          </a:p>
        </p:txBody>
      </p:sp>
      <p:sp>
        <p:nvSpPr>
          <p:cNvPr id="5" name="Slide Number Placeholder 4"/>
          <p:cNvSpPr>
            <a:spLocks noGrp="1"/>
          </p:cNvSpPr>
          <p:nvPr>
            <p:ph type="sldNum" sz="quarter" idx="12"/>
          </p:nvPr>
        </p:nvSpPr>
        <p:spPr/>
        <p:txBody>
          <a:bodyPr/>
          <a:lstStyle/>
          <a:p>
            <a:fld id="{AE58FF4D-9703-46B8-851C-DA8FCFE4D55D}" type="slidenum">
              <a:rPr lang="en-US" smtClean="0"/>
              <a:t>39</a:t>
            </a:fld>
            <a:endParaRPr lang="en-US"/>
          </a:p>
        </p:txBody>
      </p:sp>
      <p:pic>
        <p:nvPicPr>
          <p:cNvPr id="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4" y="38100"/>
            <a:ext cx="2209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085590" y="2520950"/>
            <a:ext cx="3630930" cy="1137285"/>
          </a:xfrm>
          <a:prstGeom prst="rect">
            <a:avLst/>
          </a:prstGeom>
          <a:noFill/>
        </p:spPr>
        <p:txBody>
          <a:bodyPr wrap="square" rtlCol="0">
            <a:spAutoFit/>
            <a:scene3d>
              <a:camera prst="orthographicFront"/>
              <a:lightRig rig="threePt" dir="t"/>
            </a:scene3d>
          </a:bodyPr>
          <a:lstStyle/>
          <a:p>
            <a:endParaRPr lang="en-US" sz="2800" b="1" dirty="0"/>
          </a:p>
          <a:p>
            <a:pPr algn="ctr"/>
            <a:r>
              <a:rPr lang="en-US" sz="4000" b="1" dirty="0">
                <a:solidFill>
                  <a:schemeClr val="tx1"/>
                </a:solidFill>
                <a:effectLst>
                  <a:outerShdw blurRad="38100" dist="19050" dir="2700000" algn="tl" rotWithShape="0">
                    <a:schemeClr val="dk1">
                      <a:alpha val="40000"/>
                      <a:alpha val="40000"/>
                    </a:schemeClr>
                  </a:outerShdw>
                </a:effectLst>
                <a:latin typeface="Times New Roman Bold" panose="02020603050405020304" charset="0"/>
                <a:cs typeface="Times New Roman Bold" panose="0202060305040502030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3669</Words>
  <Application>Microsoft Office PowerPoint</Application>
  <PresentationFormat>Custom</PresentationFormat>
  <Paragraphs>535</Paragraphs>
  <Slides>39</Slides>
  <Notes>3</Notes>
  <HiddenSlides>0</HiddenSlides>
  <MMClips>0</MMClips>
  <ScaleCrop>false</ScaleCrop>
  <HeadingPairs>
    <vt:vector size="6" baseType="variant">
      <vt:variant>
        <vt:lpstr>Theme</vt:lpstr>
      </vt:variant>
      <vt:variant>
        <vt:i4>1</vt:i4>
      </vt:variant>
      <vt:variant>
        <vt:lpstr>Slide Titles</vt:lpstr>
      </vt:variant>
      <vt:variant>
        <vt:i4>39</vt:i4>
      </vt:variant>
      <vt:variant>
        <vt:lpstr>Custom Shows</vt:lpstr>
      </vt:variant>
      <vt:variant>
        <vt:i4>1</vt:i4>
      </vt:variant>
    </vt:vector>
  </HeadingPairs>
  <TitlesOfParts>
    <vt:vector size="41" baseType="lpstr">
      <vt:lpstr>Office Theme</vt:lpstr>
      <vt:lpstr>PowerPoint Presentation</vt:lpstr>
      <vt:lpstr>CONTENT</vt:lpstr>
      <vt:lpstr>ABSTRACT</vt:lpstr>
      <vt:lpstr>INTRODUCTION</vt:lpstr>
      <vt:lpstr>TYPES OF LANDSLIDE</vt:lpstr>
      <vt:lpstr>LITERATURE REVIEW</vt:lpstr>
      <vt:lpstr>LITERATURE REVIEW</vt:lpstr>
      <vt:lpstr>LITERATURE REVIEW</vt:lpstr>
      <vt:lpstr>LITERATURE REVIEW</vt:lpstr>
      <vt:lpstr>LITERATURE REVIEW</vt:lpstr>
      <vt:lpstr>SUMMARY OF RESEARCH GAP</vt:lpstr>
      <vt:lpstr> PROBLEM DEFINITION </vt:lpstr>
      <vt:lpstr>OBJECTIVE </vt:lpstr>
      <vt:lpstr>SOLUTION STRATEGY</vt:lpstr>
      <vt:lpstr>PowerPoint Presentation</vt:lpstr>
      <vt:lpstr>DATASET DESCRIPTION</vt:lpstr>
      <vt:lpstr>PowerPoint Presentation</vt:lpstr>
      <vt:lpstr>DESIGN &amp; DEVELOPMENT </vt:lpstr>
      <vt:lpstr>PSEUDOCODE/ALGORITHM </vt:lpstr>
      <vt:lpstr>FLOW DIAGRAM FOR PSEUDO CODE  </vt:lpstr>
      <vt:lpstr>FLOW DIAGRAM FOR PSEUDO CODE  </vt:lpstr>
      <vt:lpstr>FLOW DIAGRAM FOR PSEUDO CODE  </vt:lpstr>
      <vt:lpstr>FLOW DIAGRAM FOR PSEUDO CODE  </vt:lpstr>
      <vt:lpstr>U-NET ARCHITECTURE FOR THE MODEL</vt:lpstr>
      <vt:lpstr>DESCRIPTION OF THE GENERAL U-NET ARCHITECTURE</vt:lpstr>
      <vt:lpstr>ATTENTION U-NET ARCHITECTURE FOR THE MODEL</vt:lpstr>
      <vt:lpstr>DESCRIPTION OF ATTENTION U-NET ARCHITECTURE FOR THE MODEL</vt:lpstr>
      <vt:lpstr>DESCRIPTION OF ATTENTION U-NET ARCHITECTURE FOR THE MODEL</vt:lpstr>
      <vt:lpstr>RESULT &amp; OUTCOME</vt:lpstr>
      <vt:lpstr>GRAPHICAL REPRESENTATION</vt:lpstr>
      <vt:lpstr>PowerPoint Presentation</vt:lpstr>
      <vt:lpstr>PowerPoint Presentation</vt:lpstr>
      <vt:lpstr>DISCUSSION</vt:lpstr>
      <vt:lpstr>DISCUSSION</vt:lpstr>
      <vt:lpstr>LIMITATION &amp; FUTURE SCOPE</vt:lpstr>
      <vt:lpstr>GANTT CHART</vt:lpstr>
      <vt:lpstr>PowerPoint Presentation</vt:lpstr>
      <vt:lpstr>ACKNOWLEDGEMENT </vt:lpstr>
      <vt:lpstr>PowerPoint Presentation</vt:lpstr>
      <vt:lpstr>Custom Show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S.L.Bhutia</dc:creator>
  <cp:lastModifiedBy>HP</cp:lastModifiedBy>
  <cp:revision>845</cp:revision>
  <cp:lastPrinted>2025-12-07T14:00:22Z</cp:lastPrinted>
  <dcterms:created xsi:type="dcterms:W3CDTF">2025-12-07T14:00:22Z</dcterms:created>
  <dcterms:modified xsi:type="dcterms:W3CDTF">2025-12-07T18:18:24Z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1033-6.11.0.8608</vt:lpwstr>
  </property>
  <property fmtid="{D5CDD505-2E9C-101B-9397-08002B2CF9AE}" pid="3" name="ICV">
    <vt:lpwstr>6EC504F5CB47541FAA772E696383B3B7_43</vt:lpwstr>
  </property>
</Properties>
</file>