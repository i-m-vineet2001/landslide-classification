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72" r:id="rId3"/>
    <p:sldId id="256" r:id="rId5"/>
    <p:sldId id="488" r:id="rId6"/>
    <p:sldId id="489" r:id="rId7"/>
    <p:sldId id="502" r:id="rId8"/>
    <p:sldId id="503" r:id="rId9"/>
    <p:sldId id="450" r:id="rId10"/>
    <p:sldId id="492" r:id="rId11"/>
    <p:sldId id="398" r:id="rId12"/>
    <p:sldId id="490" r:id="rId13"/>
    <p:sldId id="491" r:id="rId14"/>
    <p:sldId id="364" r:id="rId15"/>
    <p:sldId id="428" r:id="rId16"/>
    <p:sldId id="501" r:id="rId17"/>
    <p:sldId id="515" r:id="rId18"/>
    <p:sldId id="494" r:id="rId19"/>
    <p:sldId id="362" r:id="rId20"/>
    <p:sldId id="377" r:id="rId21"/>
  </p:sldIdLst>
  <p:sldSz cx="12192000" cy="6858000"/>
  <p:notesSz cx="6858000" cy="9947275"/>
  <p:custShowLst>
    <p:custShow name="Custom Show 1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33CC33"/>
    <a:srgbClr val="365A9C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63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70" y="413"/>
      </p:cViewPr>
      <p:guideLst>
        <p:guide orient="horz" pos="2184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 GIS BASED QUANTITATIVE MODEL FOR LANDSLIDE   SUSCEPTIBILITY MAPPING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78DD4-F197-405B-8628-9A091ABC29A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Department of Computer Applications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8EB6A-3A72-4D49-9735-B65FFD47705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 GIS BASED QUANTITATIVE MODEL FOR LANDSLIDE   SUSCEPTIBILITY MAPPING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B4098-876C-4F98-B0E4-0355BF00D52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Department of Computer Applications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8245-C62A-4396-BD86-3344DB07831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18245-C62A-4396-BD86-3344DB07831F}" type="slidenum">
              <a:rPr lang="en-IN" smtClean="0"/>
            </a:fld>
            <a:endParaRPr lang="en-I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A GIS BASED QUANTITATIVE MODEL FOR LANDSLIDE   SUSCEPTIBILITY MAPPING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Department of Computer Applications</a:t>
            </a:r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  <a:lvl2pPr marL="742950" indent="-28575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2pPr>
            <a:lvl3pPr marL="1143000" indent="-22860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3pPr>
            <a:lvl4pPr marL="1600200" indent="-22860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4pPr>
            <a:lvl5pPr marL="2057400" indent="-22860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9pPr>
          </a:lstStyle>
          <a:p>
            <a:fld id="{14C3E06A-4B03-46BF-B531-BC7FC2155448}" type="slidenum">
              <a:rPr lang="en-US" altLang="en-US"/>
            </a:fld>
            <a:endParaRPr lang="en-US" altLang="en-US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704020202020204" pitchFamily="34" charset="0"/>
              </a:rPr>
              <a:t> </a:t>
            </a:r>
            <a:endParaRPr lang="en-US" altLang="en-US">
              <a:latin typeface="Arial" panose="020B07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  <a:lvl2pPr marL="742950" indent="-28575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2pPr>
            <a:lvl3pPr marL="1143000" indent="-22860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3pPr>
            <a:lvl4pPr marL="1600200" indent="-22860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4pPr>
            <a:lvl5pPr marL="2057400" indent="-228600" defTabSz="932180"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9pPr>
          </a:lstStyle>
          <a:p>
            <a:fld id="{53D18064-D12D-44C1-BFFF-7864F7914B46}" type="slidenum">
              <a:rPr lang="en-US" altLang="en-US"/>
            </a:fld>
            <a:endParaRPr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704020202020204" pitchFamily="34" charset="0"/>
              </a:rPr>
              <a:t> </a:t>
            </a:r>
            <a:endParaRPr lang="en-US" altLang="en-US">
              <a:latin typeface="Arial" panose="020B07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156EE-13C2-4226-AC85-9B762AACD6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8EA30-1ED1-4EA6-97E4-8E1A80DCA4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012BA-5703-4244-A711-3F7C8A640BF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2D891-9917-48A7-A4F9-602964EE91F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4B73-CEFC-44AC-8FC7-EC72E24E8CE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94485-3429-441D-8CAA-4A92471855C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54876-89BF-4C8D-9F05-CB86B446D48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11D7-3866-402C-82DD-23EBE41FD0D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0AE2-0199-44F1-B638-7B2349789F0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DD0D6-54FB-4009-9643-842A2F45A65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D3771-7A9F-45C4-B255-6C4B4B885A4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0923B-833B-476E-B4FE-D1F183B1F45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Applications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35232" y="158760"/>
            <a:ext cx="10831287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ajor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Synopsis Presentation on 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/>
              <a:t>“</a:t>
            </a:r>
            <a:r>
              <a:rPr lang="en-US" altLang="en-US" b="1" dirty="0"/>
              <a:t>Landslide Detection using Deep Learning Model</a:t>
            </a:r>
            <a:r>
              <a:rPr lang="en-US" b="1" dirty="0"/>
              <a:t>”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2160" y="1702314"/>
            <a:ext cx="11510683" cy="4947972"/>
          </a:xfrm>
        </p:spPr>
        <p:txBody>
          <a:bodyPr>
            <a:normAutofit/>
          </a:bodyPr>
          <a:lstStyle/>
          <a:p>
            <a:pPr marL="109855" indent="0" algn="ctr">
              <a:buNone/>
            </a:pPr>
            <a:r>
              <a:rPr lang="en-US" sz="2000" i="1" dirty="0">
                <a:solidFill>
                  <a:schemeClr val="tx1"/>
                </a:solidFill>
              </a:rPr>
              <a:t> </a:t>
            </a:r>
            <a:endParaRPr lang="en-US" sz="2000" i="1" dirty="0">
              <a:solidFill>
                <a:schemeClr val="tx1"/>
              </a:solidFill>
            </a:endParaRPr>
          </a:p>
          <a:p>
            <a:pPr marL="109855" indent="0" algn="ctr">
              <a:buNone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855" indent="0" algn="ctr">
              <a:buNone/>
            </a:pP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Vineet Patel (202200530)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Pratham Mir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Dutraj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(202200521)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Under the Supervision of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0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8255" marR="3175" algn="ctr">
              <a:lnSpc>
                <a:spcPct val="144000"/>
              </a:lnSpc>
              <a:spcBef>
                <a:spcPts val="65"/>
              </a:spcBef>
            </a:pPr>
            <a:r>
              <a:rPr lang="en-US" sz="1700" b="1" spc="-3" dirty="0">
                <a:latin typeface="Times New Roman" panose="02020603050405020304"/>
                <a:cs typeface="Times New Roman" panose="02020603050405020304"/>
                <a:sym typeface="+mn-ea"/>
              </a:rPr>
              <a:t>DEPARTMENT</a:t>
            </a:r>
            <a:r>
              <a:rPr lang="en-US" sz="17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7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lang="en-US" sz="1700" b="1" spc="13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3" dirty="0">
                <a:latin typeface="Times New Roman" panose="02020603050405020304"/>
                <a:cs typeface="Times New Roman" panose="02020603050405020304"/>
                <a:sym typeface="+mn-ea"/>
              </a:rPr>
              <a:t>INFORMATION</a:t>
            </a:r>
            <a:r>
              <a:rPr lang="en-US" sz="1700" b="1" spc="7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7" dirty="0">
                <a:latin typeface="Times New Roman" panose="02020603050405020304"/>
                <a:cs typeface="Times New Roman" panose="02020603050405020304"/>
                <a:sym typeface="+mn-ea"/>
              </a:rPr>
              <a:t>TECHNOLOGY </a:t>
            </a:r>
            <a:r>
              <a:rPr lang="en-US" sz="1700" b="1" spc="-223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7" dirty="0">
                <a:latin typeface="Times New Roman" panose="02020603050405020304"/>
                <a:cs typeface="Times New Roman" panose="02020603050405020304"/>
                <a:sym typeface="+mn-ea"/>
              </a:rPr>
              <a:t>SIKKIM</a:t>
            </a:r>
            <a:r>
              <a:rPr lang="en-US" sz="1700" b="1" spc="3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dirty="0">
                <a:latin typeface="Times New Roman" panose="02020603050405020304"/>
                <a:cs typeface="Times New Roman" panose="02020603050405020304"/>
                <a:sym typeface="+mn-ea"/>
              </a:rPr>
              <a:t>MANIPAL</a:t>
            </a:r>
            <a:r>
              <a:rPr lang="en-US" sz="1700" b="1" spc="-3" dirty="0">
                <a:latin typeface="Times New Roman" panose="02020603050405020304"/>
                <a:cs typeface="Times New Roman" panose="02020603050405020304"/>
                <a:sym typeface="+mn-ea"/>
              </a:rPr>
              <a:t> INSTITUTE</a:t>
            </a:r>
            <a:r>
              <a:rPr lang="en-US" sz="1700" b="1" spc="7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7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lang="en-US" sz="1700" b="1" spc="-3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7" dirty="0">
                <a:latin typeface="Times New Roman" panose="02020603050405020304"/>
                <a:cs typeface="Times New Roman" panose="02020603050405020304"/>
                <a:sym typeface="+mn-ea"/>
              </a:rPr>
              <a:t>TECHNOLOGY</a:t>
            </a:r>
            <a:endParaRPr lang="en-US" sz="1700" dirty="0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spcBef>
                <a:spcPts val="480"/>
              </a:spcBef>
            </a:pPr>
            <a:r>
              <a:rPr lang="en-US" sz="1700" b="1" spc="-3" dirty="0" err="1">
                <a:latin typeface="Times New Roman" panose="02020603050405020304"/>
                <a:cs typeface="Times New Roman" panose="02020603050405020304"/>
                <a:sym typeface="+mn-ea"/>
              </a:rPr>
              <a:t>Majitar</a:t>
            </a:r>
            <a:r>
              <a:rPr lang="en-US" sz="1700" b="1" spc="-3"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lang="en-US" sz="1700" b="1" spc="7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7" dirty="0">
                <a:latin typeface="Times New Roman" panose="02020603050405020304"/>
                <a:cs typeface="Times New Roman" panose="02020603050405020304"/>
                <a:sym typeface="+mn-ea"/>
              </a:rPr>
              <a:t>Rangpo,</a:t>
            </a:r>
            <a:r>
              <a:rPr lang="en-US" sz="1700" b="1" spc="17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1700" b="1" spc="-3" dirty="0">
                <a:solidFill>
                  <a:srgbClr val="485286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East </a:t>
            </a:r>
            <a:r>
              <a:rPr lang="en-US" sz="1700" b="1" spc="-3" dirty="0">
                <a:latin typeface="Times New Roman" panose="02020603050405020304"/>
                <a:cs typeface="Times New Roman" panose="02020603050405020304"/>
                <a:sym typeface="+mn-ea"/>
              </a:rPr>
              <a:t>Sikkim-737136</a:t>
            </a:r>
            <a:endParaRPr lang="en-US" sz="1700" dirty="0"/>
          </a:p>
          <a:p>
            <a:pPr marL="0" indent="0" algn="ctr">
              <a:buNone/>
            </a:pP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313941" y="8724901"/>
            <a:ext cx="2847975" cy="95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030" y="1252537"/>
            <a:ext cx="3522408" cy="7275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996055" y="4533900"/>
            <a:ext cx="3682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       Sonam </a:t>
            </a:r>
            <a:r>
              <a:rPr lang="en-US" dirty="0" err="1"/>
              <a:t>Lhamu</a:t>
            </a:r>
            <a:r>
              <a:rPr lang="en-US" dirty="0"/>
              <a:t> Bhutia</a:t>
            </a:r>
            <a:endParaRPr lang="en-US" dirty="0"/>
          </a:p>
          <a:p>
            <a:r>
              <a:rPr lang="en-US" dirty="0"/>
              <a:t>                 Assistant Professor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3668" y="-46917"/>
            <a:ext cx="4962860" cy="666974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CONTENT</a:t>
            </a:r>
            <a:endParaRPr 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45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07565" y="921385"/>
          <a:ext cx="7974965" cy="585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545"/>
                <a:gridCol w="7043420"/>
              </a:tblGrid>
              <a:tr h="430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sno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 Bold" panose="02020603050405020304" charset="0"/>
                        <a:cs typeface="Times New Roman Bold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Title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Times New Roman Bold" panose="02020603050405020304" charset="0"/>
                        <a:cs typeface="Times New Roman Bold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1.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mes New Roman Regular" panose="02020603050405020304" charset="0"/>
                          <a:ea typeface="+mn-ea"/>
                          <a:cs typeface="Times New Roman Regular" panose="02020603050405020304" charset="0"/>
                        </a:rPr>
                        <a:t>Abstract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+mn-ea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2.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Introduction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 Regular" panose="02020603050405020304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3.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Types Of Landslide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 Regular" panose="02020603050405020304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4.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Literature Survey</a:t>
                      </a:r>
                      <a:endParaRPr lang="en-US" altLang="en-IN" sz="2000" b="0" i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Calibri" panose="020F0502020204030204" pitchFamily="34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5.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en-IN" sz="2000" dirty="0">
                          <a:solidFill>
                            <a:srgbClr val="000000"/>
                          </a:solidFill>
                          <a:effectLst/>
                          <a:latin typeface="Times New Roman Regular" panose="02020603050405020304" charset="0"/>
                          <a:ea typeface="Calibri" panose="020F0502020204030204" pitchFamily="34" charset="0"/>
                          <a:cs typeface="Times New Roman Regular" panose="02020603050405020304" charset="0"/>
                          <a:sym typeface="+mn-ea"/>
                        </a:rPr>
                        <a:t>Problem Definition</a:t>
                      </a:r>
                      <a:endParaRPr lang="en-US" altLang="en-IN" sz="2000" b="0" dirty="0">
                        <a:solidFill>
                          <a:srgbClr val="000000"/>
                        </a:solidFill>
                        <a:effectLst/>
                        <a:latin typeface="Times New Roman Regular" panose="02020603050405020304" charset="0"/>
                        <a:ea typeface="Calibri" panose="020F0502020204030204" pitchFamily="34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6.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2000" dirty="0">
                          <a:effectLst/>
                          <a:latin typeface="Times New Roman Regular" panose="02020603050405020304" charset="0"/>
                          <a:ea typeface="Calibri" panose="020F0502020204030204" pitchFamily="34" charset="0"/>
                          <a:cs typeface="Times New Roman Regular" panose="02020603050405020304" charset="0"/>
                          <a:sym typeface="+mn-ea"/>
                        </a:rPr>
                        <a:t>Objective</a:t>
                      </a:r>
                      <a:endParaRPr lang="en-US" altLang="en-IN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Calibri" panose="020F0502020204030204" pitchFamily="34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7.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2000" dirty="0">
                          <a:effectLst/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Solution Strategy</a:t>
                      </a:r>
                      <a:endParaRPr lang="en-US" altLang="en-IN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+mn-ea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8.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IN" sz="2000" dirty="0">
                          <a:effectLst/>
                          <a:latin typeface="Times New Roman Regular" panose="02020603050405020304" charset="0"/>
                          <a:cs typeface="Times New Roman Regular" panose="02020603050405020304" charset="0"/>
                          <a:sym typeface="+mn-ea"/>
                        </a:rPr>
                        <a:t>Methodology</a:t>
                      </a:r>
                      <a:endParaRPr lang="en-US" altLang="en-IN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+mn-ea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9.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IN" sz="2000" b="0" kern="1200" dirty="0">
                          <a:solidFill>
                            <a:schemeClr val="dk1"/>
                          </a:solidFill>
                          <a:effectLst/>
                          <a:latin typeface="Times New Roman Regular" panose="02020603050405020304" charset="0"/>
                          <a:ea typeface="+mn-ea"/>
                          <a:cs typeface="Times New Roman Regular" panose="02020603050405020304" charset="0"/>
                          <a:sym typeface="+mn-ea"/>
                        </a:rPr>
                        <a:t>Dataset Description</a:t>
                      </a:r>
                      <a:endParaRPr lang="en-US" altLang="en-IN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+mn-ea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10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IN" sz="2000" b="0" kern="1200" dirty="0">
                          <a:solidFill>
                            <a:schemeClr val="dk1"/>
                          </a:solidFill>
                          <a:effectLst/>
                          <a:latin typeface="Times New Roman Regular" panose="02020603050405020304" charset="0"/>
                          <a:ea typeface="+mn-ea"/>
                          <a:cs typeface="Times New Roman Regular" panose="02020603050405020304" charset="0"/>
                          <a:sym typeface="+mn-ea"/>
                        </a:rPr>
                        <a:t>Hardware and Software Requirements</a:t>
                      </a:r>
                      <a:endParaRPr lang="en-US" altLang="en-IN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+mn-ea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11.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IN" sz="2000" b="0" kern="1200" dirty="0">
                          <a:solidFill>
                            <a:schemeClr val="dk1"/>
                          </a:solidFill>
                          <a:effectLst/>
                          <a:latin typeface="Times New Roman Regular" panose="02020603050405020304" charset="0"/>
                          <a:ea typeface="Calibri" panose="020F0502020204030204" pitchFamily="34" charset="0"/>
                          <a:cs typeface="Times New Roman Regular" panose="02020603050405020304" charset="0"/>
                          <a:sym typeface="+mn-ea"/>
                        </a:rPr>
                        <a:t>Gantt Chart</a:t>
                      </a:r>
                      <a:endParaRPr lang="en-US" altLang="en-IN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Calibri" panose="020F0502020204030204" pitchFamily="34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12.</a:t>
                      </a:r>
                      <a:endParaRPr lang="en-US" sz="2000" b="0" dirty="0">
                        <a:latin typeface="Times New Roman Regular" panose="02020603050405020304" charset="0"/>
                        <a:cs typeface="Times New Roman Regular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IN" sz="2000" b="0" kern="1200" dirty="0">
                          <a:solidFill>
                            <a:schemeClr val="dk1"/>
                          </a:solidFill>
                          <a:effectLst/>
                          <a:latin typeface="Times New Roman Regular" panose="02020603050405020304" charset="0"/>
                          <a:ea typeface="Calibri" panose="020F0502020204030204" pitchFamily="34" charset="0"/>
                          <a:cs typeface="Times New Roman Regular" panose="02020603050405020304" charset="0"/>
                          <a:sym typeface="+mn-ea"/>
                        </a:rPr>
                        <a:t>References</a:t>
                      </a:r>
                      <a:endParaRPr lang="en-US" altLang="en-IN" sz="2000" b="0" kern="1200" dirty="0">
                        <a:solidFill>
                          <a:schemeClr val="dk1"/>
                        </a:solidFill>
                        <a:effectLst/>
                        <a:latin typeface="Times New Roman Regular" panose="02020603050405020304" charset="0"/>
                        <a:ea typeface="Calibri" panose="020F0502020204030204" pitchFamily="34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Subtitle 4"/>
          <p:cNvSpPr/>
          <p:nvPr>
            <p:ph type="subTitle" idx="1"/>
          </p:nvPr>
        </p:nvSpPr>
        <p:spPr>
          <a:xfrm>
            <a:off x="9588500" y="4415155"/>
            <a:ext cx="774700" cy="1223645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09600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ABSTRACT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Landslides are highly destructive natural disasters that threaten lives, infrastructure, and the environment. This project implements a deep learning-based approach for landslide classification using a .noy format dataset containing remote sensing and terrain features. A Convolutional Neural Network (CNN) model was trained and evaluated, with performance measured through accuracy, precision, recall, and F1-score. The results highlight the effectiveness of deep learning in improving landslide classification and supporting early warning systems.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09600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INTRODUCTION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5550"/>
            <a:ext cx="10972800" cy="5130800"/>
          </a:xfrm>
        </p:spPr>
        <p:txBody>
          <a:bodyPr>
            <a:noAutofit/>
          </a:bodyPr>
          <a:lstStyle/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Landslides are destructive hazards causing loss of life, property damage, and environmental disruption.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include rainfall, earthquakes, deforestation, and urbanization in hilly regions.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survey methods are slow, labor-intensive, and unsuitable for large-scale analysis.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(CNN) with remote sensing &amp; terrain data provides scalable and accurate classification.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.npy geospatial data + CNN, evaluated with Accuracy, Precision, Recall, and F1-score.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609600"/>
          </a:xfrm>
        </p:spPr>
        <p:txBody>
          <a:bodyPr>
            <a:normAutofit/>
          </a:bodyPr>
          <a:p>
            <a:r>
              <a:rPr lang="en-US" sz="311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TYPES OF LANDSLIDE</a:t>
            </a:r>
            <a:endParaRPr 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5" name="Image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5925" y="1600200"/>
            <a:ext cx="2497455" cy="21678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925" y="4114800"/>
            <a:ext cx="2498090" cy="201168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091815" y="4538345"/>
            <a:ext cx="82740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Sudden free fall of rock/soil from steep slopes or cliffs.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Very fast &amp; destructive; accumulates as talus at slope base.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091815" y="2223135"/>
            <a:ext cx="8391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Forward tilting/rotation of rock or soil blocks.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Often caused by undercutting, water seepage, or overhangs.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922655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8" name="Image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9565" y="4272915"/>
            <a:ext cx="2744470" cy="2083435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600200"/>
            <a:ext cx="2743835" cy="1958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10"/>
          <p:cNvSpPr txBox="1"/>
          <p:nvPr/>
        </p:nvSpPr>
        <p:spPr>
          <a:xfrm>
            <a:off x="3074670" y="4853305"/>
            <a:ext cx="8507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Downslope movement along curved or planar slip surfaces.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Triggered by rainfall, earthquakes, or human activity.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75380" y="2118360"/>
            <a:ext cx="7907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Horizontal movement of ground over weak/liquefied layers.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Damages infrastructure in flat, waterlogged terrains.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250" y="135890"/>
            <a:ext cx="10972800" cy="525145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LITERATURE REVIEW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730250" y="767080"/>
          <a:ext cx="10852785" cy="59620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4815"/>
                <a:gridCol w="1855470"/>
                <a:gridCol w="2340610"/>
                <a:gridCol w="1938020"/>
                <a:gridCol w="1753870"/>
              </a:tblGrid>
              <a:tr h="7315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 Name, Vol, Page, Year </a:t>
                      </a:r>
                      <a:endParaRPr lang="en-US" sz="16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 of the Paper</a:t>
                      </a:r>
                      <a:endParaRPr 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Inference</a:t>
                      </a:r>
                      <a:endParaRPr lang="en-US" sz="16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with the present work /Motivation</a:t>
                      </a:r>
                      <a:endParaRPr lang="en-US" sz="16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Research Gap</a:t>
                      </a:r>
                      <a:endParaRPr lang="en-US" sz="16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0495">
                <a:tc>
                  <a:txBody>
                    <a:bodyPr/>
                    <a:lstStyle/>
                    <a:p>
                      <a:pPr indent="0" algn="just"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 Name, Vol, Page, Year :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(1) Payal Varangaonkar, S.V. Rode, Multimedia Tools and Applications, 2024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None/>
                      </a:pPr>
                      <a:r>
                        <a:rPr lang="en-US" altLang="en-US" sz="16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Landslide Prediction with Severity Analysis Using Efficient Computer Vision and Soft Computing Algorithms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endParaRPr lang="en-US"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Font typeface="Arial" panose="020B0704020202020204" pitchFamily="34" charset="0"/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proposes a novel framework integrating preprocessing, dynamic feature extraction, and classification methods (ANN, SVM) to predict landslides and analyze severity from hyperspectral RS data. A dataset of 2713 samples from Goa and Maharashtra was developed for evaluation.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0" algn="just">
                        <a:buFont typeface="Arial" panose="020B0704020202020204" pitchFamily="34" charset="0"/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Font typeface="Arial" panose="020B0704020202020204" pitchFamily="34" charset="0"/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as it emphasizes ML driven prediction and classification for real-time landslide monitoring, similar to our work’s focus on classification-based forecasting.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Font typeface="Arial" panose="020B0704020202020204" pitchFamily="34" charset="0"/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Font typeface="Arial" panose="020B0704020202020204" pitchFamily="34" charset="0"/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Font typeface="Arial" panose="020B0704020202020204" pitchFamily="34" charset="0"/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Indian landslide datasets remain scarce, limiting scalability. Existing methods still rely heavily on handcrafted features and lack robust deep learning–based classification approaches, which may restrict generalization across diverse terrains..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250" y="135890"/>
            <a:ext cx="10972800" cy="525145"/>
          </a:xfrm>
        </p:spPr>
        <p:txBody>
          <a:bodyPr>
            <a:noAutofit/>
          </a:bodyPr>
          <a:lstStyle/>
          <a:p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730250" y="767080"/>
          <a:ext cx="10852785" cy="59620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4815"/>
                <a:gridCol w="1855470"/>
                <a:gridCol w="2340610"/>
                <a:gridCol w="1938020"/>
                <a:gridCol w="1753870"/>
              </a:tblGrid>
              <a:tr h="7315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 Name, Vol, Page, Year </a:t>
                      </a:r>
                      <a:endParaRPr lang="en-US" sz="16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 of the Paper</a:t>
                      </a:r>
                      <a:endParaRPr 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Inference</a:t>
                      </a:r>
                      <a:endParaRPr 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with the present work /Motivation</a:t>
                      </a:r>
                      <a:endParaRPr lang="en-US" sz="16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Research Gap</a:t>
                      </a:r>
                      <a:endParaRPr lang="en-US" sz="16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0495"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 Name, Vol, Page, Year :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(2) Y. Alimohammadlou, Landslide Process and Impacts, Vol. ? Page ?, 2013 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just">
                        <a:buNone/>
                      </a:pP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Landslide process and impacts: A proposed classification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>
                        <a:buNone/>
                      </a:pPr>
                      <a:endParaRPr lang="en-US" altLang="en-US"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Landslide impacts can be grouped into general and particular categories.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this impact-based classification helps frame the importance of categorizing landslides not just by type, but also by the nature of their consequences. It motivates considering consequences in your own work.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l">
                        <a:buNone/>
                      </a:pP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What constitutes “general” vs. “particular” impacts isn’t fully detailed; lacks definitions and examples.</a:t>
                      </a:r>
                      <a:endParaRPr lang="en-US" altLang="en-US" sz="1600" b="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391" y="110464"/>
            <a:ext cx="7490173" cy="738628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000000"/>
                </a:solidFill>
                <a:latin typeface="+mn-lt"/>
              </a:rPr>
            </a:b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+mn-lt"/>
              </a:rPr>
            </a:br>
            <a:endParaRPr lang="en-US" sz="28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689" y="836169"/>
            <a:ext cx="11077575" cy="548513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automatically classify whether a given region (satellite image / geospatial data / soil data) is landslide-prone or not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probe if AI models predict the likelihood of landslide occurrence based on terrain, soil, rainfall, and vegetation features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check how accurate is manual classification, and how can AI improve on it in terms of speed and reliability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/>
          <p:cNvSpPr txBox="1"/>
          <p:nvPr/>
        </p:nvSpPr>
        <p:spPr>
          <a:xfrm>
            <a:off x="1257300" y="4490720"/>
            <a:ext cx="3546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OBJECTIVE 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1800" dirty="0">
                <a:latin typeface="Times New Roman" panose="02020603050405020304" pitchFamily="18" charset="0"/>
              </a:rPr>
              <a:t>To develop a deep learning-based binary classification model capable of distinguishing between landslide and non-landslide images.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</a:rPr>
              <a:t>To preprocess and prepare the landslide dataset by resizing, normalizing, and augmenting images for efficient training and testing.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</a:rPr>
              <a:t>To implement a suitable Convolutional Neural Network (CNN) architecture for automated feature extraction and classification of landslide imagery.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</a:rPr>
              <a:t>To evaluate the trained model using standard performance metrics such as accuracy, precision, recall, F1-score, and confusion matrix.</a:t>
            </a:r>
            <a:endParaRPr lang="en-US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1623"/>
            <a:ext cx="10972800" cy="6096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STRATEGY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Classification – Use labeled landslide &amp; non-landslide images with CNNs for binary classification.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– Resize, normalize, and augment images to improve model performance.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Multi-Feature Integration – Combine imagery with geospatial features (slope, soil, vegetation) for richer learning.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 – Evaluate with accuracy, precision, recall, F1; outperform manual methods in speed &amp; consistency.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2395219" y="186333"/>
            <a:ext cx="693420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METHODOLOGY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1978776" cy="54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871855"/>
            <a:ext cx="5304790" cy="545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1.Problem Definition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Detect landslides from satellite/ground images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Formulated as a binary classification problem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Arial" panose="020B0704020202020204" pitchFamily="34" charset="0"/>
              <a:buNone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Arial" panose="020B0704020202020204" pitchFamily="34" charset="0"/>
              <a:buNone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2. Dataset Collection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Gather labeled images (landslide / non-landslide)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3. Preprocessing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Resize images to fixed size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Normalize pixel values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Data augmentation (rotation, flipping, cropping)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Arial" panose="020B0704020202020204" pitchFamily="34" charset="0"/>
              <a:buNone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4. CNN Model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Pretrained CNN (ResNet50, EfficientNet)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ViT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277610" y="813435"/>
            <a:ext cx="5304790" cy="550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5. Training &amp; Validation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Steps: input image, Forward Pass, Loss Calculation, Backpropagation, Repeat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After every epoch, model is tested on validation set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endParaRPr lang="en-US" alt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6. Evaluation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Metrics: Accuracy, Precision, Recall, F1-Score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Ensures robustness of model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endParaRPr lang="en-US" alt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7. Outcome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Automated system for landslide detection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Supports hazard monitoring &amp; risk management</a:t>
            </a:r>
            <a:endParaRPr lang="en-US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805180"/>
          </a:xfrm>
        </p:spPr>
        <p:txBody>
          <a:bodyPr>
            <a:normAutofit/>
          </a:bodyPr>
          <a:lstStyle/>
          <a:p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655381" y="6172200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3"/>
          <p:cNvSpPr>
            <a:spLocks noGrp="1"/>
          </p:cNvSpPr>
          <p:nvPr/>
        </p:nvSpPr>
        <p:spPr>
          <a:xfrm>
            <a:off x="1950085" y="4650105"/>
            <a:ext cx="4809490" cy="104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5289550" y="6172200"/>
            <a:ext cx="344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 descr="Methodology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0450" y="795655"/>
            <a:ext cx="10521950" cy="5227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0970"/>
            <a:ext cx="10972800" cy="727075"/>
          </a:xfrm>
        </p:spPr>
        <p:txBody>
          <a:bodyPr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DATASET DESCRIPTION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232535"/>
            <a:ext cx="10972800" cy="43516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latin typeface="Times New Roman Bold" panose="02020603050405020304" charset="0"/>
                <a:cs typeface="Times New Roman Bold" panose="02020603050405020304" charset="0"/>
              </a:rPr>
              <a:t>DATASET LINK </a:t>
            </a:r>
            <a:r>
              <a:rPr lang="en-US" altLang="en-US" sz="1800" b="1">
                <a:latin typeface="Times New Roman Regular" panose="02020603050405020304" charset="0"/>
                <a:cs typeface="Times New Roman Regular" panose="02020603050405020304" charset="0"/>
              </a:rPr>
              <a:t>:</a:t>
            </a:r>
            <a:r>
              <a:rPr lang="en-US" altLang="en-US" sz="180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altLang="en-US" sz="1800">
                <a:solidFill>
                  <a:srgbClr val="00206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https://www.kaggle.com/datasets/gauravduttakiit/classification-for-landslide-detection</a:t>
            </a: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endParaRPr lang="en-US" altLang="en-US" sz="18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 Bold" panose="02020603050405020304" charset="0"/>
                <a:cs typeface="Times New Roman Bold" panose="02020603050405020304" charset="0"/>
              </a:rPr>
              <a:t>DATASET NAME :</a:t>
            </a:r>
            <a:r>
              <a:rPr lang="en-US" altLang="en-US" sz="1800">
                <a:latin typeface="Times New Roman Regular" panose="02020603050405020304" charset="0"/>
                <a:cs typeface="Times New Roman Regular" panose="02020603050405020304" charset="0"/>
              </a:rPr>
              <a:t> Classification for Landslide </a:t>
            </a: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 Regular" panose="02020603050405020304" charset="0"/>
                <a:cs typeface="Times New Roman Regular" panose="02020603050405020304" charset="0"/>
              </a:rPr>
              <a:t>(Total number of images present in this folder: 12,544)</a:t>
            </a: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 Regular" panose="02020603050405020304" charset="0"/>
                <a:cs typeface="Times New Roman Regular" panose="02020603050405020304" charset="0"/>
              </a:rPr>
              <a:t> Total Size 4.93 GB</a:t>
            </a: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endParaRPr lang="en-US" altLang="en-US" sz="18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 Bold" panose="02020603050405020304" charset="0"/>
                <a:cs typeface="Times New Roman Bold" panose="02020603050405020304" charset="0"/>
              </a:rPr>
              <a:t>IMAGE SIZE :</a:t>
            </a:r>
            <a:endParaRPr lang="en-US" altLang="en-US" sz="18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 Regular" panose="02020603050405020304" charset="0"/>
                <a:cs typeface="Times New Roman Regular" panose="02020603050405020304" charset="0"/>
              </a:rPr>
              <a:t>       Each image is standardized to 256 × 256      </a:t>
            </a: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 Regular" panose="02020603050405020304" charset="0"/>
                <a:cs typeface="Times New Roman Regular" panose="02020603050405020304" charset="0"/>
              </a:rPr>
              <a:t>      </a:t>
            </a: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endParaRPr lang="en-US" altLang="en-US" sz="18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1978776" cy="54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HARDWARE &amp; SOFTWARE REQUIREMENTS</a:t>
            </a:r>
            <a:endParaRPr lang="en-US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417955"/>
            <a:ext cx="10972800" cy="520636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 b="1"/>
              <a:t>Hardware Requirements</a:t>
            </a:r>
            <a:endParaRPr lang="en-US" altLang="en-US" b="1"/>
          </a:p>
          <a:p>
            <a:r>
              <a:rPr lang="en-US" altLang="en-US"/>
              <a:t> Processor (CPU): Intel/AMD , with support for GPU acceleration</a:t>
            </a:r>
            <a:endParaRPr lang="en-US" altLang="en-US"/>
          </a:p>
          <a:p>
            <a:r>
              <a:rPr lang="en-US" altLang="en-US"/>
              <a:t> GPU: High performance GPU (e.g., NVIDIA and RYZEN ); integrated GPU sufficient for basic tasks.</a:t>
            </a:r>
            <a:endParaRPr lang="en-US" altLang="en-US"/>
          </a:p>
          <a:p>
            <a:r>
              <a:rPr lang="en-US" altLang="en-US"/>
              <a:t> RAM: 8 GB (min), 16 GB or more (recommended for handling large HDF5 datasets smoothly).</a:t>
            </a:r>
            <a:endParaRPr lang="en-US" altLang="en-US"/>
          </a:p>
          <a:p>
            <a:r>
              <a:rPr lang="en-US" altLang="en-US"/>
              <a:t> Storage: 256 GB SSD (min), with cloud storage integration (e.g., Google Drive).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b="1"/>
              <a:t>Software Requirements</a:t>
            </a:r>
            <a:endParaRPr lang="en-US" altLang="en-US" b="1"/>
          </a:p>
          <a:p>
            <a:r>
              <a:rPr lang="en-US" altLang="en-US"/>
              <a:t> Operating System: Windows, Linux-based (e.g., Google Colab). Programming</a:t>
            </a:r>
            <a:endParaRPr lang="en-US" altLang="en-US"/>
          </a:p>
          <a:p>
            <a:r>
              <a:rPr lang="en-US" altLang="en-US"/>
              <a:t> Environment Libraries &amp; Frameworks: Python (installed via Colab).</a:t>
            </a:r>
            <a:endParaRPr lang="en-US" altLang="en-US"/>
          </a:p>
          <a:p>
            <a:r>
              <a:rPr lang="en-US" altLang="en-US"/>
              <a:t> Machine Learning: TensorFlow (for CNN models), architecture U-Net NumPy, Pandas, Matplotlib.</a:t>
            </a:r>
            <a:endParaRPr lang="en-US" altLang="en-US"/>
          </a:p>
          <a:p>
            <a:r>
              <a:rPr lang="en-US" altLang="en-US"/>
              <a:t> Image Processing: h5py (for HDF5 handling), glob (for file management). Data Handling &amp; Visualization: Matplotlib .</a:t>
            </a:r>
            <a:endParaRPr lang="en-US" altLang="en-US"/>
          </a:p>
          <a:p>
            <a:r>
              <a:rPr lang="en-US" altLang="en-US"/>
              <a:t> IDE / Tools: Google Colab, with Google Drive mounting for data access.</a:t>
            </a:r>
            <a:endParaRPr lang="en-US" altLang="en-US"/>
          </a:p>
          <a:p>
            <a:r>
              <a:rPr lang="en-US" altLang="en-US"/>
              <a:t> Package Manager: pip (for installing TensorFlow and Matplotlib).</a:t>
            </a:r>
            <a:endParaRPr lang="en-US" altLang="en-US"/>
          </a:p>
          <a:p>
            <a:r>
              <a:rPr lang="en-US" altLang="en-US"/>
              <a:t> Version Control: Git/Github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63905" y="3429000"/>
            <a:ext cx="1979295" cy="2697480"/>
          </a:xfrm>
        </p:spPr>
        <p:txBody>
          <a:bodyPr/>
          <a:p>
            <a:pPr marL="0" indent="0">
              <a:buNone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" y="0"/>
            <a:ext cx="1978776" cy="54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US" sz="2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895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marR="0" lvl="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>
                <a:tab pos="175895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704020202020204" pitchFamily="34" charset="0"/>
              <a:buChar char="•"/>
              <a:tabLst>
                <a:tab pos="175895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708150" y="1069975"/>
          <a:ext cx="9046211" cy="4339590"/>
        </p:xfrm>
        <a:graphic>
          <a:graphicData uri="http://schemas.openxmlformats.org/drawingml/2006/table">
            <a:tbl>
              <a:tblPr firstRow="1" firstCol="1" bandRow="1"/>
              <a:tblGrid>
                <a:gridCol w="2038985"/>
                <a:gridCol w="1985010"/>
                <a:gridCol w="912813"/>
                <a:gridCol w="912813"/>
                <a:gridCol w="1598295"/>
                <a:gridCol w="1598295"/>
              </a:tblGrid>
              <a:tr h="334645">
                <a:tc row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ACTIVITY</a:t>
                      </a:r>
                      <a:endParaRPr lang="en-IN" sz="1100" b="0" i="0" u="none" strike="noStrike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t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TIMEFRAME</a:t>
                      </a:r>
                      <a:endParaRPr lang="en-IN" sz="1100" b="0" i="0" u="none" strike="noStrike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7975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Aug 202</a:t>
                      </a:r>
                      <a:r>
                        <a:rPr lang="en-US" alt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altLang="en-IN" sz="1100" b="1" i="0" u="none" strike="noStrik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Sep 202</a:t>
                      </a:r>
                      <a:r>
                        <a:rPr lang="en-US" alt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altLang="en-IN" sz="1100" b="1" i="0" u="none" strike="noStrik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Oct 202</a:t>
                      </a:r>
                      <a:r>
                        <a:rPr lang="en-US" alt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altLang="en-IN" sz="1100" b="1" i="0" u="none" strike="noStrik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Nov-Dec 202</a:t>
                      </a:r>
                      <a:r>
                        <a:rPr lang="en-US" alt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altLang="en-IN" sz="1100" b="1" i="0" u="none" strike="noStrik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7975">
                <a:tc row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 Bold" panose="02020603050405020304" charset="0"/>
                          <a:ea typeface="Times New Roman" panose="02020603050405020304" pitchFamily="18" charset="0"/>
                          <a:cs typeface="Times New Roman Bold" panose="02020603050405020304" charset="0"/>
                        </a:rPr>
                        <a:t>Literature Survey</a:t>
                      </a:r>
                      <a:endParaRPr lang="en-IN" sz="1100" b="1" i="0" u="none" strike="noStrike">
                        <a:effectLst/>
                        <a:latin typeface="Times New Roman Bold" panose="02020603050405020304" charset="0"/>
                        <a:ea typeface="Times New Roman" panose="02020603050405020304" pitchFamily="18" charset="0"/>
                        <a:cs typeface="Times New Roman Bold" panose="0202060305040502030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25755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tabLst>
                          <a:tab pos="1759585" algn="l"/>
                        </a:tabLst>
                      </a:pPr>
                      <a:r>
                        <a:rPr lang="en-IN" sz="1100" i="0" u="none" strike="noStrike">
                          <a:effectLst/>
                          <a:latin typeface="Arial" panose="020B0704020202020204" pitchFamily="34" charset="0"/>
                        </a:rPr>
                        <a:t> </a:t>
                      </a:r>
                      <a:endParaRPr lang="en-IN" sz="1100" b="0" i="0" u="none" strike="noStrike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  <a:tabLst>
                          <a:tab pos="1759585" algn="l"/>
                        </a:tabLst>
                      </a:pP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7340">
                <a:tc row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US" altLang="en-IN" sz="1100" b="1" i="0" u="none" strike="noStrike">
                          <a:effectLst/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Problem defination and solution startergy</a:t>
                      </a:r>
                      <a:endParaRPr lang="en-US" altLang="en-IN" sz="1100" b="1" i="0" u="none" strike="noStrike">
                        <a:effectLst/>
                        <a:latin typeface="Times New Roman Bold" panose="02020603050405020304" charset="0"/>
                        <a:cs typeface="Times New Roman Bold" panose="0202060305040502030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94335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92D050"/>
                        </a:solidFill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  <a:tabLst>
                          <a:tab pos="1759585" algn="l"/>
                        </a:tabLst>
                      </a:pP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905">
                <a:tc row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US" altLang="en-IN" sz="1100" b="1" i="0" u="none" strike="noStrike" dirty="0">
                          <a:effectLst/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Data collection and preprocessing</a:t>
                      </a:r>
                      <a:endParaRPr lang="en-US" altLang="en-IN" sz="1100" b="1" i="0" u="none" strike="noStrike" dirty="0">
                        <a:effectLst/>
                        <a:latin typeface="Times New Roman Bold" panose="02020603050405020304" charset="0"/>
                        <a:cs typeface="Times New Roman Bold" panose="0202060305040502030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07340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0350">
                <a:tc row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US" altLang="en-IN" sz="1100" b="1" i="0" u="none" strike="noStrike">
                          <a:effectLst/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Devlopment of Model</a:t>
                      </a:r>
                      <a:endParaRPr lang="en-US" altLang="en-IN" sz="1100" b="1" i="0" u="none" strike="noStrike">
                        <a:effectLst/>
                        <a:latin typeface="Times New Roman Bold" panose="02020603050405020304" charset="0"/>
                        <a:cs typeface="Times New Roman Bold" panose="0202060305040502030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06705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endParaRPr lang="en-IN" sz="1100" b="0" i="0" u="none" strike="noStrike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8610">
                <a:tc row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effectLst/>
                          <a:latin typeface="Times New Roman Bold" panose="02020603050405020304" charset="0"/>
                          <a:ea typeface="Times New Roman" panose="02020603050405020304" pitchFamily="18" charset="0"/>
                          <a:cs typeface="Times New Roman Bold" panose="02020603050405020304" charset="0"/>
                        </a:rPr>
                        <a:t>Testing and Validation</a:t>
                      </a:r>
                      <a:endParaRPr lang="en-IN" sz="1100" b="1" i="0" u="none" strike="noStrike" dirty="0">
                        <a:effectLst/>
                        <a:latin typeface="Times New Roman Bold" panose="02020603050405020304" charset="0"/>
                        <a:ea typeface="Times New Roman" panose="02020603050405020304" pitchFamily="18" charset="0"/>
                        <a:cs typeface="Times New Roman Bold" panose="0202060305040502030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07340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705">
                <a:tc row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US" altLang="en-IN" sz="1100" b="1" i="0" u="none" strike="noStrike">
                          <a:effectLst/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Documentation</a:t>
                      </a:r>
                      <a:endParaRPr lang="en-US" altLang="en-IN" sz="1100" b="1" i="0" u="none" strike="noStrike">
                        <a:effectLst/>
                        <a:latin typeface="Times New Roman Bold" panose="02020603050405020304" charset="0"/>
                        <a:cs typeface="Times New Roman Bold" panose="02020603050405020304" charset="0"/>
                      </a:endParaRPr>
                    </a:p>
                  </a:txBody>
                  <a:tcPr marL="56495" marR="56495" marT="28247" marB="2824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08610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  <a:tabLst>
                          <a:tab pos="1759585" algn="l"/>
                        </a:tabLst>
                      </a:pP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tabLst>
                          <a:tab pos="1759585" algn="l"/>
                        </a:tabLs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100" b="0" i="0" u="none" strike="noStrike" dirty="0">
                        <a:effectLst/>
                        <a:latin typeface="Arial" panose="020B0704020202020204" pitchFamily="34" charset="0"/>
                      </a:endParaRPr>
                    </a:p>
                  </a:txBody>
                  <a:tcPr marL="7846" marR="7846" marT="7846" marB="2824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968963" y="6132259"/>
            <a:ext cx="134361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3589655" y="5644515"/>
            <a:ext cx="2674620" cy="59118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Not Completed</a:t>
            </a:r>
            <a:endParaRPr lang="en-US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157720" y="5644515"/>
            <a:ext cx="2674620" cy="59118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7839075" y="5746750"/>
            <a:ext cx="1311910" cy="488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Completed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 txBox="1">
            <a:spLocks noChangeArrowheads="1"/>
          </p:cNvSpPr>
          <p:nvPr/>
        </p:nvSpPr>
        <p:spPr bwMode="auto">
          <a:xfrm>
            <a:off x="336648" y="1014095"/>
            <a:ext cx="11451590" cy="561911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750"/>
              </a:spcBef>
              <a:buFont typeface="Arial" panose="020B07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80340" algn="l"/>
              </a:tabLst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(1)Varangaonkar, P., &amp; Rode, S. V. (2024). Landslide prediction with severity analysis using efficient computer vision and soft computing algorithms. Multimedia Tools and Applications. DOI: 10.1007/s11042-024-19454-8</a:t>
            </a:r>
            <a:endParaRPr lang="en-US" alt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endParaRPr lang="en-US" alt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180340" algn="l"/>
              </a:tabLst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(2)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Y. Alimohammadlou, Landslide Process and Impacts, (2013 ).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Landslide process and impacts: A proposed classification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DOI: 10.3390/su142416311</a:t>
            </a:r>
            <a:endParaRPr lang="en-US" alt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endParaRPr lang="en-US" alt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180340" algn="l"/>
              </a:tabLst>
            </a:pPr>
            <a:endParaRPr lang="en-US" alt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1485841" y="126048"/>
            <a:ext cx="890346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REFERENCES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" y="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787140"/>
            <a:ext cx="10972800" cy="556921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</a:fld>
            <a:endParaRPr lang="en-US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" y="38100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085590" y="2520950"/>
            <a:ext cx="3630930" cy="11372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endParaRPr lang="en-US" sz="2800" b="1" dirty="0"/>
          </a:p>
          <a:p>
            <a:pPr algn="ctr"/>
            <a:r>
              <a:rPr 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THANK YOU</a:t>
            </a:r>
            <a:endParaRPr 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8069</Words>
  <Application>WPS Presentation</Application>
  <PresentationFormat>Widescreen</PresentationFormat>
  <Paragraphs>472</Paragraphs>
  <Slides>18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  <vt:variant>
        <vt:lpstr>自定义放映</vt:lpstr>
      </vt:variant>
      <vt:variant>
        <vt:i4>1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Calibri</vt:lpstr>
      <vt:lpstr>Helvetica Neue</vt:lpstr>
      <vt:lpstr>Times New Roman</vt:lpstr>
      <vt:lpstr>Times New Roman Bold</vt:lpstr>
      <vt:lpstr>Times New Roman Regular</vt:lpstr>
      <vt:lpstr>Calibri Light</vt:lpstr>
      <vt:lpstr>Microsoft YaHei</vt:lpstr>
      <vt:lpstr>汉仪旗黑</vt:lpstr>
      <vt:lpstr>Arial Unicode MS</vt:lpstr>
      <vt:lpstr>Office Theme</vt:lpstr>
      <vt:lpstr>PowerPoint 演示文稿</vt:lpstr>
      <vt:lpstr>CONTENT</vt:lpstr>
      <vt:lpstr>ABSTRACT</vt:lpstr>
      <vt:lpstr>INTRODUCTION</vt:lpstr>
      <vt:lpstr>TYPES OF LANDSLIDE</vt:lpstr>
      <vt:lpstr>PowerPoint 演示文稿</vt:lpstr>
      <vt:lpstr>LITERATURE REVIEW</vt:lpstr>
      <vt:lpstr>PowerPoint 演示文稿</vt:lpstr>
      <vt:lpstr> PROBLEM DEFINITION </vt:lpstr>
      <vt:lpstr>OBJECTIVE </vt:lpstr>
      <vt:lpstr>SOLUTION STRATEGY</vt:lpstr>
      <vt:lpstr>PowerPoint 演示文稿</vt:lpstr>
      <vt:lpstr> </vt:lpstr>
      <vt:lpstr>DATASET DESCRIPTION</vt:lpstr>
      <vt:lpstr>HARDWARE &amp; SOFTWARE REQUIREMENTS</vt:lpstr>
      <vt:lpstr>GANTT CHART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S.L.Bhutia</dc:creator>
  <cp:lastModifiedBy>vineetpatel</cp:lastModifiedBy>
  <cp:revision>798</cp:revision>
  <cp:lastPrinted>2025-09-18T05:10:20Z</cp:lastPrinted>
  <dcterms:created xsi:type="dcterms:W3CDTF">2025-09-18T05:10:20Z</dcterms:created>
  <dcterms:modified xsi:type="dcterms:W3CDTF">2025-09-18T05:10:20Z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1033-6.11.0.8608</vt:lpwstr>
  </property>
  <property fmtid="{D5CDD505-2E9C-101B-9397-08002B2CF9AE}" pid="3" name="ICV">
    <vt:lpwstr>95645AB31DBCF44000FDCA684CDCD8F4_43</vt:lpwstr>
  </property>
</Properties>
</file>